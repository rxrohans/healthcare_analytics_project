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2" r:id="rId4"/>
    <p:sldId id="258" r:id="rId5"/>
    <p:sldId id="257" r:id="rId6"/>
    <p:sldId id="261" r:id="rId7"/>
    <p:sldId id="262" r:id="rId8"/>
    <p:sldId id="264" r:id="rId9"/>
    <p:sldId id="263" r:id="rId10"/>
    <p:sldId id="265" r:id="rId11"/>
    <p:sldId id="271" r:id="rId12"/>
    <p:sldId id="266" r:id="rId13"/>
    <p:sldId id="267" r:id="rId14"/>
    <p:sldId id="273" r:id="rId15"/>
    <p:sldId id="275" r:id="rId16"/>
    <p:sldId id="276" r:id="rId17"/>
    <p:sldId id="277" r:id="rId18"/>
    <p:sldId id="26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3F5F12-DE00-46F1-89C2-CF2C8D3CBDB7}" v="1177" dt="2025-04-18T19:37:04.6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sv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sv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0762DF-B767-467F-AB35-3D85C31DAE19}" type="doc">
      <dgm:prSet loTypeId="urn:microsoft.com/office/officeart/2005/8/layout/bProcess3" loCatId="process" qsTypeId="urn:microsoft.com/office/officeart/2005/8/quickstyle/simple3" qsCatId="simple" csTypeId="urn:microsoft.com/office/officeart/2005/8/colors/colorful2" csCatId="colorful" phldr="1"/>
      <dgm:spPr/>
      <dgm:t>
        <a:bodyPr/>
        <a:lstStyle/>
        <a:p>
          <a:endParaRPr lang="en-IN"/>
        </a:p>
      </dgm:t>
    </dgm:pt>
    <dgm:pt modelId="{8B200790-8E45-4655-8C94-4B3EDC027DE0}">
      <dgm:prSet phldrT="[Text]"/>
      <dgm:spPr/>
      <dgm:t>
        <a:bodyPr/>
        <a:lstStyle/>
        <a:p>
          <a:r>
            <a:rPr lang="en-IN" dirty="0"/>
            <a:t>Problem Identification Via Academic Clinical Exposure </a:t>
          </a:r>
        </a:p>
      </dgm:t>
    </dgm:pt>
    <dgm:pt modelId="{D4FDE3EB-76BA-4915-818E-1AF7E98F25EF}" type="parTrans" cxnId="{CBF8310E-A967-4832-AF16-F45BFC228A9C}">
      <dgm:prSet/>
      <dgm:spPr/>
      <dgm:t>
        <a:bodyPr/>
        <a:lstStyle/>
        <a:p>
          <a:endParaRPr lang="en-IN"/>
        </a:p>
      </dgm:t>
    </dgm:pt>
    <dgm:pt modelId="{1B80A866-E326-4E2C-8B66-4FA4EB87F2FE}" type="sibTrans" cxnId="{CBF8310E-A967-4832-AF16-F45BFC228A9C}">
      <dgm:prSet/>
      <dgm:spPr/>
      <dgm:t>
        <a:bodyPr/>
        <a:lstStyle/>
        <a:p>
          <a:endParaRPr lang="en-IN"/>
        </a:p>
      </dgm:t>
    </dgm:pt>
    <dgm:pt modelId="{13D4557E-8E0B-4607-8EE9-71CE66F4D92F}">
      <dgm:prSet phldrT="[Text]"/>
      <dgm:spPr/>
      <dgm:t>
        <a:bodyPr/>
        <a:lstStyle/>
        <a:p>
          <a:r>
            <a:rPr lang="en-IN" dirty="0"/>
            <a:t>Requirements &amp; scope definition</a:t>
          </a:r>
        </a:p>
      </dgm:t>
    </dgm:pt>
    <dgm:pt modelId="{76E4134B-4D9F-4BB8-A21F-463052B8F5EB}" type="parTrans" cxnId="{D929C52D-5E60-4355-ACA4-6A833D22C278}">
      <dgm:prSet/>
      <dgm:spPr/>
      <dgm:t>
        <a:bodyPr/>
        <a:lstStyle/>
        <a:p>
          <a:endParaRPr lang="en-IN"/>
        </a:p>
      </dgm:t>
    </dgm:pt>
    <dgm:pt modelId="{C986FC3D-6311-4D04-AABE-19362AB6E929}" type="sibTrans" cxnId="{D929C52D-5E60-4355-ACA4-6A833D22C278}">
      <dgm:prSet/>
      <dgm:spPr/>
      <dgm:t>
        <a:bodyPr/>
        <a:lstStyle/>
        <a:p>
          <a:endParaRPr lang="en-IN"/>
        </a:p>
      </dgm:t>
    </dgm:pt>
    <dgm:pt modelId="{73F0300D-4460-42DE-A837-8129A5C76841}">
      <dgm:prSet phldrT="[Text]"/>
      <dgm:spPr/>
      <dgm:t>
        <a:bodyPr/>
        <a:lstStyle/>
        <a:p>
          <a:r>
            <a:rPr lang="en-IN" dirty="0"/>
            <a:t>UI Designs &amp; Wireframes </a:t>
          </a:r>
        </a:p>
      </dgm:t>
    </dgm:pt>
    <dgm:pt modelId="{357879AE-EA28-491C-B2DC-B656854E3075}" type="parTrans" cxnId="{1034426E-66A8-43FD-A725-9ECB24E7C217}">
      <dgm:prSet/>
      <dgm:spPr/>
      <dgm:t>
        <a:bodyPr/>
        <a:lstStyle/>
        <a:p>
          <a:endParaRPr lang="en-IN"/>
        </a:p>
      </dgm:t>
    </dgm:pt>
    <dgm:pt modelId="{8D9B3F47-DCB9-422C-B1A8-EE6C14C158A1}" type="sibTrans" cxnId="{1034426E-66A8-43FD-A725-9ECB24E7C217}">
      <dgm:prSet/>
      <dgm:spPr/>
      <dgm:t>
        <a:bodyPr/>
        <a:lstStyle/>
        <a:p>
          <a:endParaRPr lang="en-IN"/>
        </a:p>
      </dgm:t>
    </dgm:pt>
    <dgm:pt modelId="{A2EDD91A-2F7D-425F-9A70-BDC7706E220D}">
      <dgm:prSet phldrT="[Text]"/>
      <dgm:spPr/>
      <dgm:t>
        <a:bodyPr/>
        <a:lstStyle/>
        <a:p>
          <a:r>
            <a:rPr lang="en-IN" dirty="0"/>
            <a:t>Data Simulation &amp; Preparation</a:t>
          </a:r>
        </a:p>
      </dgm:t>
    </dgm:pt>
    <dgm:pt modelId="{39BAEE5B-F54A-453A-A627-0EFEFA617610}" type="parTrans" cxnId="{4A7A20E7-BB33-4EAF-AB3C-1DA1B8F6B2FB}">
      <dgm:prSet/>
      <dgm:spPr/>
      <dgm:t>
        <a:bodyPr/>
        <a:lstStyle/>
        <a:p>
          <a:endParaRPr lang="en-IN"/>
        </a:p>
      </dgm:t>
    </dgm:pt>
    <dgm:pt modelId="{E34A7C38-6945-4F3A-B8A5-820ABB2E77A0}" type="sibTrans" cxnId="{4A7A20E7-BB33-4EAF-AB3C-1DA1B8F6B2FB}">
      <dgm:prSet/>
      <dgm:spPr/>
      <dgm:t>
        <a:bodyPr/>
        <a:lstStyle/>
        <a:p>
          <a:endParaRPr lang="en-IN"/>
        </a:p>
      </dgm:t>
    </dgm:pt>
    <dgm:pt modelId="{0D06BDFE-4155-4414-BC4F-9CC3C4130737}">
      <dgm:prSet phldrT="[Text]"/>
      <dgm:spPr/>
      <dgm:t>
        <a:bodyPr/>
        <a:lstStyle/>
        <a:p>
          <a:r>
            <a:rPr lang="en-IN" dirty="0"/>
            <a:t>Dashboard development &amp; KPI Visualisation</a:t>
          </a:r>
        </a:p>
      </dgm:t>
    </dgm:pt>
    <dgm:pt modelId="{5149EB31-D5F6-441C-9C92-E7025AE28555}" type="parTrans" cxnId="{21E76FA8-BD1F-47E5-A184-5B8551462DDA}">
      <dgm:prSet/>
      <dgm:spPr/>
      <dgm:t>
        <a:bodyPr/>
        <a:lstStyle/>
        <a:p>
          <a:endParaRPr lang="en-IN"/>
        </a:p>
      </dgm:t>
    </dgm:pt>
    <dgm:pt modelId="{5A55E1F2-50A2-4870-9622-BEB9B2E752BA}" type="sibTrans" cxnId="{21E76FA8-BD1F-47E5-A184-5B8551462DDA}">
      <dgm:prSet/>
      <dgm:spPr/>
      <dgm:t>
        <a:bodyPr/>
        <a:lstStyle/>
        <a:p>
          <a:endParaRPr lang="en-IN"/>
        </a:p>
      </dgm:t>
    </dgm:pt>
    <dgm:pt modelId="{80571CE9-9966-4BDD-89F6-0301EE8A403E}">
      <dgm:prSet/>
      <dgm:spPr/>
      <dgm:t>
        <a:bodyPr/>
        <a:lstStyle/>
        <a:p>
          <a:r>
            <a:rPr lang="en-IN" dirty="0"/>
            <a:t>Observed Workflows , and staff reviews</a:t>
          </a:r>
        </a:p>
      </dgm:t>
    </dgm:pt>
    <dgm:pt modelId="{B7C912B0-2204-4046-8B28-B0EC878A7F1A}" type="parTrans" cxnId="{F7134443-B210-4F9F-84DE-FA3D8BBDE10A}">
      <dgm:prSet/>
      <dgm:spPr/>
      <dgm:t>
        <a:bodyPr/>
        <a:lstStyle/>
        <a:p>
          <a:endParaRPr lang="en-IN"/>
        </a:p>
      </dgm:t>
    </dgm:pt>
    <dgm:pt modelId="{3789F2BC-2165-4DE3-AD55-F7C26A04F3A0}" type="sibTrans" cxnId="{F7134443-B210-4F9F-84DE-FA3D8BBDE10A}">
      <dgm:prSet/>
      <dgm:spPr/>
      <dgm:t>
        <a:bodyPr/>
        <a:lstStyle/>
        <a:p>
          <a:endParaRPr lang="en-IN"/>
        </a:p>
      </dgm:t>
    </dgm:pt>
    <dgm:pt modelId="{A91D7474-EBE3-453E-8E6A-F0F78285E73B}">
      <dgm:prSet/>
      <dgm:spPr/>
      <dgm:t>
        <a:bodyPr/>
        <a:lstStyle/>
        <a:p>
          <a:r>
            <a:rPr lang="en-IN" dirty="0"/>
            <a:t>Stakeholder mapping, needs &amp; MVP</a:t>
          </a:r>
        </a:p>
      </dgm:t>
    </dgm:pt>
    <dgm:pt modelId="{E76BA13F-D348-48F2-AF53-BB5DAEED311D}" type="parTrans" cxnId="{2C78AA14-40F3-4234-9863-6C2CEF22C5C3}">
      <dgm:prSet/>
      <dgm:spPr/>
      <dgm:t>
        <a:bodyPr/>
        <a:lstStyle/>
        <a:p>
          <a:endParaRPr lang="en-IN"/>
        </a:p>
      </dgm:t>
    </dgm:pt>
    <dgm:pt modelId="{40D07845-8A22-487B-A6B5-DB3281141D19}" type="sibTrans" cxnId="{2C78AA14-40F3-4234-9863-6C2CEF22C5C3}">
      <dgm:prSet/>
      <dgm:spPr/>
      <dgm:t>
        <a:bodyPr/>
        <a:lstStyle/>
        <a:p>
          <a:endParaRPr lang="en-IN"/>
        </a:p>
      </dgm:t>
    </dgm:pt>
    <dgm:pt modelId="{03D1D273-DFD2-4A6C-B351-F061FC7FF0A1}">
      <dgm:prSet/>
      <dgm:spPr/>
      <dgm:t>
        <a:bodyPr/>
        <a:lstStyle/>
        <a:p>
          <a:r>
            <a:rPr lang="en-IN" dirty="0"/>
            <a:t>Tools - Figma </a:t>
          </a:r>
        </a:p>
      </dgm:t>
    </dgm:pt>
    <dgm:pt modelId="{85487C85-876B-47A3-9C91-225F78324674}" type="parTrans" cxnId="{0CA93ECA-2C48-44A3-9F92-2E61D3C25E13}">
      <dgm:prSet/>
      <dgm:spPr/>
      <dgm:t>
        <a:bodyPr/>
        <a:lstStyle/>
        <a:p>
          <a:endParaRPr lang="en-IN"/>
        </a:p>
      </dgm:t>
    </dgm:pt>
    <dgm:pt modelId="{521148A2-DEC6-4A94-B636-7ED9EE30A007}" type="sibTrans" cxnId="{0CA93ECA-2C48-44A3-9F92-2E61D3C25E13}">
      <dgm:prSet/>
      <dgm:spPr/>
      <dgm:t>
        <a:bodyPr/>
        <a:lstStyle/>
        <a:p>
          <a:endParaRPr lang="en-IN"/>
        </a:p>
      </dgm:t>
    </dgm:pt>
    <dgm:pt modelId="{A4A91D3C-7F20-43A6-9485-18C9D8A6E278}">
      <dgm:prSet/>
      <dgm:spPr/>
      <dgm:t>
        <a:bodyPr/>
        <a:lstStyle/>
        <a:p>
          <a:r>
            <a:rPr lang="en-IN" dirty="0"/>
            <a:t>Tools - Mock data – clinical visits, web source, Excel</a:t>
          </a:r>
        </a:p>
      </dgm:t>
    </dgm:pt>
    <dgm:pt modelId="{7206B2D6-6FE9-4772-8B38-CDD12B9348F9}" type="parTrans" cxnId="{55348724-DBBA-4593-A8AB-873ED008656C}">
      <dgm:prSet/>
      <dgm:spPr/>
      <dgm:t>
        <a:bodyPr/>
        <a:lstStyle/>
        <a:p>
          <a:endParaRPr lang="en-IN"/>
        </a:p>
      </dgm:t>
    </dgm:pt>
    <dgm:pt modelId="{7ABA003A-6B0E-4C98-B822-D25E8E3B7978}" type="sibTrans" cxnId="{55348724-DBBA-4593-A8AB-873ED008656C}">
      <dgm:prSet/>
      <dgm:spPr/>
      <dgm:t>
        <a:bodyPr/>
        <a:lstStyle/>
        <a:p>
          <a:endParaRPr lang="en-IN"/>
        </a:p>
      </dgm:t>
    </dgm:pt>
    <dgm:pt modelId="{CAD7F9DF-C4EA-404C-ABBE-77C0B035EE78}">
      <dgm:prSet/>
      <dgm:spPr/>
      <dgm:t>
        <a:bodyPr/>
        <a:lstStyle/>
        <a:p>
          <a:r>
            <a:rPr lang="en-IN" dirty="0"/>
            <a:t>Tools – </a:t>
          </a:r>
          <a:r>
            <a:rPr lang="en-IN" dirty="0" err="1"/>
            <a:t>PowerBI</a:t>
          </a:r>
          <a:endParaRPr lang="en-IN" dirty="0"/>
        </a:p>
      </dgm:t>
    </dgm:pt>
    <dgm:pt modelId="{79980A37-0DB9-4BDC-985F-80C96B5685DF}" type="parTrans" cxnId="{0B8ABEE6-4582-4EDF-A71F-B62DBC9A7AD4}">
      <dgm:prSet/>
      <dgm:spPr/>
      <dgm:t>
        <a:bodyPr/>
        <a:lstStyle/>
        <a:p>
          <a:endParaRPr lang="en-IN"/>
        </a:p>
      </dgm:t>
    </dgm:pt>
    <dgm:pt modelId="{F2F9A51E-DB5B-40BD-B53E-7C16EB3B4C90}" type="sibTrans" cxnId="{0B8ABEE6-4582-4EDF-A71F-B62DBC9A7AD4}">
      <dgm:prSet/>
      <dgm:spPr/>
      <dgm:t>
        <a:bodyPr/>
        <a:lstStyle/>
        <a:p>
          <a:endParaRPr lang="en-IN"/>
        </a:p>
      </dgm:t>
    </dgm:pt>
    <dgm:pt modelId="{B5CFFB8D-21C7-46A7-9D05-1C3FF3D37803}">
      <dgm:prSet/>
      <dgm:spPr/>
      <dgm:t>
        <a:bodyPr/>
        <a:lstStyle/>
        <a:p>
          <a:r>
            <a:rPr lang="en-IN" dirty="0"/>
            <a:t>Reporting &amp; documentation</a:t>
          </a:r>
        </a:p>
      </dgm:t>
    </dgm:pt>
    <dgm:pt modelId="{7774DECC-1EB0-43E6-9444-BF6A3A4922C5}" type="parTrans" cxnId="{57EE744A-C149-4CE9-B94D-F69F6554C137}">
      <dgm:prSet/>
      <dgm:spPr/>
      <dgm:t>
        <a:bodyPr/>
        <a:lstStyle/>
        <a:p>
          <a:endParaRPr lang="en-IN"/>
        </a:p>
      </dgm:t>
    </dgm:pt>
    <dgm:pt modelId="{C5408A15-B115-45F6-BAF3-D882AEB9B446}" type="sibTrans" cxnId="{57EE744A-C149-4CE9-B94D-F69F6554C137}">
      <dgm:prSet/>
      <dgm:spPr/>
      <dgm:t>
        <a:bodyPr/>
        <a:lstStyle/>
        <a:p>
          <a:endParaRPr lang="en-IN"/>
        </a:p>
      </dgm:t>
    </dgm:pt>
    <dgm:pt modelId="{988DC26F-8215-4B2C-A092-E171BC7A66D3}">
      <dgm:prSet/>
      <dgm:spPr/>
      <dgm:t>
        <a:bodyPr/>
        <a:lstStyle/>
        <a:p>
          <a:r>
            <a:rPr lang="en-IN" dirty="0"/>
            <a:t>Tools – MS </a:t>
          </a:r>
          <a:r>
            <a:rPr lang="en-IN" dirty="0" err="1"/>
            <a:t>Powerpoint</a:t>
          </a:r>
          <a:r>
            <a:rPr lang="en-IN" dirty="0"/>
            <a:t>, </a:t>
          </a:r>
          <a:r>
            <a:rPr lang="en-IN" dirty="0" err="1"/>
            <a:t>Github</a:t>
          </a:r>
          <a:endParaRPr lang="en-IN" dirty="0"/>
        </a:p>
      </dgm:t>
    </dgm:pt>
    <dgm:pt modelId="{C21B7A06-9CDB-4C8A-BA14-58AC4AE43F4C}" type="parTrans" cxnId="{E01D4990-22FB-4A9B-B303-1BB27DB4BEF2}">
      <dgm:prSet/>
      <dgm:spPr/>
      <dgm:t>
        <a:bodyPr/>
        <a:lstStyle/>
        <a:p>
          <a:endParaRPr lang="en-IN"/>
        </a:p>
      </dgm:t>
    </dgm:pt>
    <dgm:pt modelId="{EDE12BBF-7497-46D8-B9C1-6EE740069F3F}" type="sibTrans" cxnId="{E01D4990-22FB-4A9B-B303-1BB27DB4BEF2}">
      <dgm:prSet/>
      <dgm:spPr/>
      <dgm:t>
        <a:bodyPr/>
        <a:lstStyle/>
        <a:p>
          <a:endParaRPr lang="en-IN"/>
        </a:p>
      </dgm:t>
    </dgm:pt>
    <dgm:pt modelId="{F89F0C55-1303-4753-92B7-F5B86B18185B}" type="pres">
      <dgm:prSet presAssocID="{500762DF-B767-467F-AB35-3D85C31DAE19}" presName="Name0" presStyleCnt="0">
        <dgm:presLayoutVars>
          <dgm:dir/>
          <dgm:resizeHandles val="exact"/>
        </dgm:presLayoutVars>
      </dgm:prSet>
      <dgm:spPr/>
    </dgm:pt>
    <dgm:pt modelId="{87D3A87D-CDE2-4E44-AA76-C3EDE930A7F7}" type="pres">
      <dgm:prSet presAssocID="{8B200790-8E45-4655-8C94-4B3EDC027DE0}" presName="node" presStyleLbl="node1" presStyleIdx="0" presStyleCnt="6">
        <dgm:presLayoutVars>
          <dgm:bulletEnabled val="1"/>
        </dgm:presLayoutVars>
      </dgm:prSet>
      <dgm:spPr/>
    </dgm:pt>
    <dgm:pt modelId="{A36EB2BE-2F0D-404F-B81A-92074AC7AAD8}" type="pres">
      <dgm:prSet presAssocID="{1B80A866-E326-4E2C-8B66-4FA4EB87F2FE}" presName="sibTrans" presStyleLbl="sibTrans1D1" presStyleIdx="0" presStyleCnt="5"/>
      <dgm:spPr/>
    </dgm:pt>
    <dgm:pt modelId="{A8ADC11F-3CBF-4859-9FA2-D549209DE854}" type="pres">
      <dgm:prSet presAssocID="{1B80A866-E326-4E2C-8B66-4FA4EB87F2FE}" presName="connectorText" presStyleLbl="sibTrans1D1" presStyleIdx="0" presStyleCnt="5"/>
      <dgm:spPr/>
    </dgm:pt>
    <dgm:pt modelId="{9B0A87F0-CCFF-4B79-A2B4-19974423E18F}" type="pres">
      <dgm:prSet presAssocID="{13D4557E-8E0B-4607-8EE9-71CE66F4D92F}" presName="node" presStyleLbl="node1" presStyleIdx="1" presStyleCnt="6">
        <dgm:presLayoutVars>
          <dgm:bulletEnabled val="1"/>
        </dgm:presLayoutVars>
      </dgm:prSet>
      <dgm:spPr/>
    </dgm:pt>
    <dgm:pt modelId="{30D32C34-8652-465D-8C99-5A34B9FF8016}" type="pres">
      <dgm:prSet presAssocID="{C986FC3D-6311-4D04-AABE-19362AB6E929}" presName="sibTrans" presStyleLbl="sibTrans1D1" presStyleIdx="1" presStyleCnt="5"/>
      <dgm:spPr/>
    </dgm:pt>
    <dgm:pt modelId="{E4E3FD34-CBD5-4B66-B8FF-37FB16E8F452}" type="pres">
      <dgm:prSet presAssocID="{C986FC3D-6311-4D04-AABE-19362AB6E929}" presName="connectorText" presStyleLbl="sibTrans1D1" presStyleIdx="1" presStyleCnt="5"/>
      <dgm:spPr/>
    </dgm:pt>
    <dgm:pt modelId="{48C20963-9704-4906-A11C-8E2B147D344A}" type="pres">
      <dgm:prSet presAssocID="{73F0300D-4460-42DE-A837-8129A5C76841}" presName="node" presStyleLbl="node1" presStyleIdx="2" presStyleCnt="6">
        <dgm:presLayoutVars>
          <dgm:bulletEnabled val="1"/>
        </dgm:presLayoutVars>
      </dgm:prSet>
      <dgm:spPr/>
    </dgm:pt>
    <dgm:pt modelId="{9E7615C4-E0EA-48E1-87ED-BA27109CCD26}" type="pres">
      <dgm:prSet presAssocID="{8D9B3F47-DCB9-422C-B1A8-EE6C14C158A1}" presName="sibTrans" presStyleLbl="sibTrans1D1" presStyleIdx="2" presStyleCnt="5"/>
      <dgm:spPr/>
    </dgm:pt>
    <dgm:pt modelId="{67AE58DC-D8C0-4F17-A045-3DF387347671}" type="pres">
      <dgm:prSet presAssocID="{8D9B3F47-DCB9-422C-B1A8-EE6C14C158A1}" presName="connectorText" presStyleLbl="sibTrans1D1" presStyleIdx="2" presStyleCnt="5"/>
      <dgm:spPr/>
    </dgm:pt>
    <dgm:pt modelId="{5E62F485-66D5-46BF-AD4B-218DF03D9057}" type="pres">
      <dgm:prSet presAssocID="{A2EDD91A-2F7D-425F-9A70-BDC7706E220D}" presName="node" presStyleLbl="node1" presStyleIdx="3" presStyleCnt="6">
        <dgm:presLayoutVars>
          <dgm:bulletEnabled val="1"/>
        </dgm:presLayoutVars>
      </dgm:prSet>
      <dgm:spPr/>
    </dgm:pt>
    <dgm:pt modelId="{4EB23928-612C-43DC-A968-3EE243E97033}" type="pres">
      <dgm:prSet presAssocID="{E34A7C38-6945-4F3A-B8A5-820ABB2E77A0}" presName="sibTrans" presStyleLbl="sibTrans1D1" presStyleIdx="3" presStyleCnt="5"/>
      <dgm:spPr/>
    </dgm:pt>
    <dgm:pt modelId="{986F5A28-F806-4953-BDA4-3F1377BA3D85}" type="pres">
      <dgm:prSet presAssocID="{E34A7C38-6945-4F3A-B8A5-820ABB2E77A0}" presName="connectorText" presStyleLbl="sibTrans1D1" presStyleIdx="3" presStyleCnt="5"/>
      <dgm:spPr/>
    </dgm:pt>
    <dgm:pt modelId="{612F05B9-4688-4A8B-A733-A2C69FDA903B}" type="pres">
      <dgm:prSet presAssocID="{0D06BDFE-4155-4414-BC4F-9CC3C4130737}" presName="node" presStyleLbl="node1" presStyleIdx="4" presStyleCnt="6">
        <dgm:presLayoutVars>
          <dgm:bulletEnabled val="1"/>
        </dgm:presLayoutVars>
      </dgm:prSet>
      <dgm:spPr/>
    </dgm:pt>
    <dgm:pt modelId="{067C8338-C844-40E7-8B26-2B93D78C0773}" type="pres">
      <dgm:prSet presAssocID="{5A55E1F2-50A2-4870-9622-BEB9B2E752BA}" presName="sibTrans" presStyleLbl="sibTrans1D1" presStyleIdx="4" presStyleCnt="5"/>
      <dgm:spPr/>
    </dgm:pt>
    <dgm:pt modelId="{3701CE7E-9D61-4E7C-8A9F-9627CF0CC6CD}" type="pres">
      <dgm:prSet presAssocID="{5A55E1F2-50A2-4870-9622-BEB9B2E752BA}" presName="connectorText" presStyleLbl="sibTrans1D1" presStyleIdx="4" presStyleCnt="5"/>
      <dgm:spPr/>
    </dgm:pt>
    <dgm:pt modelId="{6F6ACED6-1BC4-4A3E-8C2B-249DE54B7524}" type="pres">
      <dgm:prSet presAssocID="{B5CFFB8D-21C7-46A7-9D05-1C3FF3D37803}" presName="node" presStyleLbl="node1" presStyleIdx="5" presStyleCnt="6">
        <dgm:presLayoutVars>
          <dgm:bulletEnabled val="1"/>
        </dgm:presLayoutVars>
      </dgm:prSet>
      <dgm:spPr/>
    </dgm:pt>
  </dgm:ptLst>
  <dgm:cxnLst>
    <dgm:cxn modelId="{EFACED03-55C2-49ED-A33B-DF26DE276B47}" type="presOf" srcId="{5A55E1F2-50A2-4870-9622-BEB9B2E752BA}" destId="{3701CE7E-9D61-4E7C-8A9F-9627CF0CC6CD}" srcOrd="1" destOrd="0" presId="urn:microsoft.com/office/officeart/2005/8/layout/bProcess3"/>
    <dgm:cxn modelId="{CBF8310E-A967-4832-AF16-F45BFC228A9C}" srcId="{500762DF-B767-467F-AB35-3D85C31DAE19}" destId="{8B200790-8E45-4655-8C94-4B3EDC027DE0}" srcOrd="0" destOrd="0" parTransId="{D4FDE3EB-76BA-4915-818E-1AF7E98F25EF}" sibTransId="{1B80A866-E326-4E2C-8B66-4FA4EB87F2FE}"/>
    <dgm:cxn modelId="{4A8BFE0E-CAA2-49EE-8DE8-89040B7A5323}" type="presOf" srcId="{E34A7C38-6945-4F3A-B8A5-820ABB2E77A0}" destId="{986F5A28-F806-4953-BDA4-3F1377BA3D85}" srcOrd="1" destOrd="0" presId="urn:microsoft.com/office/officeart/2005/8/layout/bProcess3"/>
    <dgm:cxn modelId="{2C78AA14-40F3-4234-9863-6C2CEF22C5C3}" srcId="{13D4557E-8E0B-4607-8EE9-71CE66F4D92F}" destId="{A91D7474-EBE3-453E-8E6A-F0F78285E73B}" srcOrd="0" destOrd="0" parTransId="{E76BA13F-D348-48F2-AF53-BB5DAEED311D}" sibTransId="{40D07845-8A22-487B-A6B5-DB3281141D19}"/>
    <dgm:cxn modelId="{55348724-DBBA-4593-A8AB-873ED008656C}" srcId="{A2EDD91A-2F7D-425F-9A70-BDC7706E220D}" destId="{A4A91D3C-7F20-43A6-9485-18C9D8A6E278}" srcOrd="0" destOrd="0" parTransId="{7206B2D6-6FE9-4772-8B38-CDD12B9348F9}" sibTransId="{7ABA003A-6B0E-4C98-B822-D25E8E3B7978}"/>
    <dgm:cxn modelId="{75F8CC2A-75B7-435D-A6DD-13678F6CFF04}" type="presOf" srcId="{1B80A866-E326-4E2C-8B66-4FA4EB87F2FE}" destId="{A36EB2BE-2F0D-404F-B81A-92074AC7AAD8}" srcOrd="0" destOrd="0" presId="urn:microsoft.com/office/officeart/2005/8/layout/bProcess3"/>
    <dgm:cxn modelId="{92B6502C-0F29-4A7E-8967-00F13BC0058C}" type="presOf" srcId="{73F0300D-4460-42DE-A837-8129A5C76841}" destId="{48C20963-9704-4906-A11C-8E2B147D344A}" srcOrd="0" destOrd="0" presId="urn:microsoft.com/office/officeart/2005/8/layout/bProcess3"/>
    <dgm:cxn modelId="{D929C52D-5E60-4355-ACA4-6A833D22C278}" srcId="{500762DF-B767-467F-AB35-3D85C31DAE19}" destId="{13D4557E-8E0B-4607-8EE9-71CE66F4D92F}" srcOrd="1" destOrd="0" parTransId="{76E4134B-4D9F-4BB8-A21F-463052B8F5EB}" sibTransId="{C986FC3D-6311-4D04-AABE-19362AB6E929}"/>
    <dgm:cxn modelId="{2518F235-DC27-444B-8E57-0028B5F6CAA7}" type="presOf" srcId="{CAD7F9DF-C4EA-404C-ABBE-77C0B035EE78}" destId="{612F05B9-4688-4A8B-A733-A2C69FDA903B}" srcOrd="0" destOrd="1" presId="urn:microsoft.com/office/officeart/2005/8/layout/bProcess3"/>
    <dgm:cxn modelId="{CD55BF3C-E478-4BDB-9573-D19E7FBF29AD}" type="presOf" srcId="{03D1D273-DFD2-4A6C-B351-F061FC7FF0A1}" destId="{48C20963-9704-4906-A11C-8E2B147D344A}" srcOrd="0" destOrd="1" presId="urn:microsoft.com/office/officeart/2005/8/layout/bProcess3"/>
    <dgm:cxn modelId="{F7134443-B210-4F9F-84DE-FA3D8BBDE10A}" srcId="{8B200790-8E45-4655-8C94-4B3EDC027DE0}" destId="{80571CE9-9966-4BDD-89F6-0301EE8A403E}" srcOrd="0" destOrd="0" parTransId="{B7C912B0-2204-4046-8B28-B0EC878A7F1A}" sibTransId="{3789F2BC-2165-4DE3-AD55-F7C26A04F3A0}"/>
    <dgm:cxn modelId="{24258568-3D5C-44D0-9DD8-4F910378494E}" type="presOf" srcId="{B5CFFB8D-21C7-46A7-9D05-1C3FF3D37803}" destId="{6F6ACED6-1BC4-4A3E-8C2B-249DE54B7524}" srcOrd="0" destOrd="0" presId="urn:microsoft.com/office/officeart/2005/8/layout/bProcess3"/>
    <dgm:cxn modelId="{57EE744A-C149-4CE9-B94D-F69F6554C137}" srcId="{500762DF-B767-467F-AB35-3D85C31DAE19}" destId="{B5CFFB8D-21C7-46A7-9D05-1C3FF3D37803}" srcOrd="5" destOrd="0" parTransId="{7774DECC-1EB0-43E6-9444-BF6A3A4922C5}" sibTransId="{C5408A15-B115-45F6-BAF3-D882AEB9B446}"/>
    <dgm:cxn modelId="{9B700C6C-09FD-4A73-B224-D75AED6847DF}" type="presOf" srcId="{13D4557E-8E0B-4607-8EE9-71CE66F4D92F}" destId="{9B0A87F0-CCFF-4B79-A2B4-19974423E18F}" srcOrd="0" destOrd="0" presId="urn:microsoft.com/office/officeart/2005/8/layout/bProcess3"/>
    <dgm:cxn modelId="{F3C3516D-8808-45DA-A604-7D07ABC941C8}" type="presOf" srcId="{8D9B3F47-DCB9-422C-B1A8-EE6C14C158A1}" destId="{67AE58DC-D8C0-4F17-A045-3DF387347671}" srcOrd="1" destOrd="0" presId="urn:microsoft.com/office/officeart/2005/8/layout/bProcess3"/>
    <dgm:cxn modelId="{1034426E-66A8-43FD-A725-9ECB24E7C217}" srcId="{500762DF-B767-467F-AB35-3D85C31DAE19}" destId="{73F0300D-4460-42DE-A837-8129A5C76841}" srcOrd="2" destOrd="0" parTransId="{357879AE-EA28-491C-B2DC-B656854E3075}" sibTransId="{8D9B3F47-DCB9-422C-B1A8-EE6C14C158A1}"/>
    <dgm:cxn modelId="{B0C96B72-F720-4302-80CC-93A8EC7CC6B5}" type="presOf" srcId="{E34A7C38-6945-4F3A-B8A5-820ABB2E77A0}" destId="{4EB23928-612C-43DC-A968-3EE243E97033}" srcOrd="0" destOrd="0" presId="urn:microsoft.com/office/officeart/2005/8/layout/bProcess3"/>
    <dgm:cxn modelId="{2AA69D57-A484-444D-8C0F-146F4C216823}" type="presOf" srcId="{1B80A866-E326-4E2C-8B66-4FA4EB87F2FE}" destId="{A8ADC11F-3CBF-4859-9FA2-D549209DE854}" srcOrd="1" destOrd="0" presId="urn:microsoft.com/office/officeart/2005/8/layout/bProcess3"/>
    <dgm:cxn modelId="{F4B38979-8520-448A-81CD-B83026A5E3B0}" type="presOf" srcId="{A91D7474-EBE3-453E-8E6A-F0F78285E73B}" destId="{9B0A87F0-CCFF-4B79-A2B4-19974423E18F}" srcOrd="0" destOrd="1" presId="urn:microsoft.com/office/officeart/2005/8/layout/bProcess3"/>
    <dgm:cxn modelId="{71833F7A-267E-4A49-840C-BEA61C1157AE}" type="presOf" srcId="{A4A91D3C-7F20-43A6-9485-18C9D8A6E278}" destId="{5E62F485-66D5-46BF-AD4B-218DF03D9057}" srcOrd="0" destOrd="1" presId="urn:microsoft.com/office/officeart/2005/8/layout/bProcess3"/>
    <dgm:cxn modelId="{1614C78E-A245-4D7F-A713-BA36DFD0A79F}" type="presOf" srcId="{5A55E1F2-50A2-4870-9622-BEB9B2E752BA}" destId="{067C8338-C844-40E7-8B26-2B93D78C0773}" srcOrd="0" destOrd="0" presId="urn:microsoft.com/office/officeart/2005/8/layout/bProcess3"/>
    <dgm:cxn modelId="{E01D4990-22FB-4A9B-B303-1BB27DB4BEF2}" srcId="{B5CFFB8D-21C7-46A7-9D05-1C3FF3D37803}" destId="{988DC26F-8215-4B2C-A092-E171BC7A66D3}" srcOrd="0" destOrd="0" parTransId="{C21B7A06-9CDB-4C8A-BA14-58AC4AE43F4C}" sibTransId="{EDE12BBF-7497-46D8-B9C1-6EE740069F3F}"/>
    <dgm:cxn modelId="{76390B97-08E8-4746-A311-28100990C7F1}" type="presOf" srcId="{8B200790-8E45-4655-8C94-4B3EDC027DE0}" destId="{87D3A87D-CDE2-4E44-AA76-C3EDE930A7F7}" srcOrd="0" destOrd="0" presId="urn:microsoft.com/office/officeart/2005/8/layout/bProcess3"/>
    <dgm:cxn modelId="{CE03C49E-B3AB-42DE-8C4D-E60739E0E050}" type="presOf" srcId="{500762DF-B767-467F-AB35-3D85C31DAE19}" destId="{F89F0C55-1303-4753-92B7-F5B86B18185B}" srcOrd="0" destOrd="0" presId="urn:microsoft.com/office/officeart/2005/8/layout/bProcess3"/>
    <dgm:cxn modelId="{C34CCEA0-69D5-4C28-BD3D-162A413D84A4}" type="presOf" srcId="{A2EDD91A-2F7D-425F-9A70-BDC7706E220D}" destId="{5E62F485-66D5-46BF-AD4B-218DF03D9057}" srcOrd="0" destOrd="0" presId="urn:microsoft.com/office/officeart/2005/8/layout/bProcess3"/>
    <dgm:cxn modelId="{21E76FA8-BD1F-47E5-A184-5B8551462DDA}" srcId="{500762DF-B767-467F-AB35-3D85C31DAE19}" destId="{0D06BDFE-4155-4414-BC4F-9CC3C4130737}" srcOrd="4" destOrd="0" parTransId="{5149EB31-D5F6-441C-9C92-E7025AE28555}" sibTransId="{5A55E1F2-50A2-4870-9622-BEB9B2E752BA}"/>
    <dgm:cxn modelId="{693FD9C5-8F8D-42A6-8CD1-8B7AD5892970}" type="presOf" srcId="{C986FC3D-6311-4D04-AABE-19362AB6E929}" destId="{30D32C34-8652-465D-8C99-5A34B9FF8016}" srcOrd="0" destOrd="0" presId="urn:microsoft.com/office/officeart/2005/8/layout/bProcess3"/>
    <dgm:cxn modelId="{0CA93ECA-2C48-44A3-9F92-2E61D3C25E13}" srcId="{73F0300D-4460-42DE-A837-8129A5C76841}" destId="{03D1D273-DFD2-4A6C-B351-F061FC7FF0A1}" srcOrd="0" destOrd="0" parTransId="{85487C85-876B-47A3-9C91-225F78324674}" sibTransId="{521148A2-DEC6-4A94-B636-7ED9EE30A007}"/>
    <dgm:cxn modelId="{9293F8CA-3EE8-4F48-BEAF-A18406448F12}" type="presOf" srcId="{0D06BDFE-4155-4414-BC4F-9CC3C4130737}" destId="{612F05B9-4688-4A8B-A733-A2C69FDA903B}" srcOrd="0" destOrd="0" presId="urn:microsoft.com/office/officeart/2005/8/layout/bProcess3"/>
    <dgm:cxn modelId="{3EE684CB-690A-43E1-9280-A09F0150A2C9}" type="presOf" srcId="{8D9B3F47-DCB9-422C-B1A8-EE6C14C158A1}" destId="{9E7615C4-E0EA-48E1-87ED-BA27109CCD26}" srcOrd="0" destOrd="0" presId="urn:microsoft.com/office/officeart/2005/8/layout/bProcess3"/>
    <dgm:cxn modelId="{DAEDA1D0-F6C9-4413-AD92-41CE6B58486A}" type="presOf" srcId="{80571CE9-9966-4BDD-89F6-0301EE8A403E}" destId="{87D3A87D-CDE2-4E44-AA76-C3EDE930A7F7}" srcOrd="0" destOrd="1" presId="urn:microsoft.com/office/officeart/2005/8/layout/bProcess3"/>
    <dgm:cxn modelId="{A7F82ED5-DE23-4F47-83DD-FF997C9517F9}" type="presOf" srcId="{988DC26F-8215-4B2C-A092-E171BC7A66D3}" destId="{6F6ACED6-1BC4-4A3E-8C2B-249DE54B7524}" srcOrd="0" destOrd="1" presId="urn:microsoft.com/office/officeart/2005/8/layout/bProcess3"/>
    <dgm:cxn modelId="{0B8ABEE6-4582-4EDF-A71F-B62DBC9A7AD4}" srcId="{0D06BDFE-4155-4414-BC4F-9CC3C4130737}" destId="{CAD7F9DF-C4EA-404C-ABBE-77C0B035EE78}" srcOrd="0" destOrd="0" parTransId="{79980A37-0DB9-4BDC-985F-80C96B5685DF}" sibTransId="{F2F9A51E-DB5B-40BD-B53E-7C16EB3B4C90}"/>
    <dgm:cxn modelId="{4A7A20E7-BB33-4EAF-AB3C-1DA1B8F6B2FB}" srcId="{500762DF-B767-467F-AB35-3D85C31DAE19}" destId="{A2EDD91A-2F7D-425F-9A70-BDC7706E220D}" srcOrd="3" destOrd="0" parTransId="{39BAEE5B-F54A-453A-A627-0EFEFA617610}" sibTransId="{E34A7C38-6945-4F3A-B8A5-820ABB2E77A0}"/>
    <dgm:cxn modelId="{602D5BE8-DD4C-4A3E-90E3-D3259BC61A2A}" type="presOf" srcId="{C986FC3D-6311-4D04-AABE-19362AB6E929}" destId="{E4E3FD34-CBD5-4B66-B8FF-37FB16E8F452}" srcOrd="1" destOrd="0" presId="urn:microsoft.com/office/officeart/2005/8/layout/bProcess3"/>
    <dgm:cxn modelId="{53C94C16-A90E-4DD2-8709-1E6C5F1C6AFD}" type="presParOf" srcId="{F89F0C55-1303-4753-92B7-F5B86B18185B}" destId="{87D3A87D-CDE2-4E44-AA76-C3EDE930A7F7}" srcOrd="0" destOrd="0" presId="urn:microsoft.com/office/officeart/2005/8/layout/bProcess3"/>
    <dgm:cxn modelId="{3A030CD9-C916-45CB-8C6D-746AA9338543}" type="presParOf" srcId="{F89F0C55-1303-4753-92B7-F5B86B18185B}" destId="{A36EB2BE-2F0D-404F-B81A-92074AC7AAD8}" srcOrd="1" destOrd="0" presId="urn:microsoft.com/office/officeart/2005/8/layout/bProcess3"/>
    <dgm:cxn modelId="{CFE050AA-0472-4171-A58B-A9096D9E16F3}" type="presParOf" srcId="{A36EB2BE-2F0D-404F-B81A-92074AC7AAD8}" destId="{A8ADC11F-3CBF-4859-9FA2-D549209DE854}" srcOrd="0" destOrd="0" presId="urn:microsoft.com/office/officeart/2005/8/layout/bProcess3"/>
    <dgm:cxn modelId="{B8E563A4-15E8-4674-A956-3427C9A1F00B}" type="presParOf" srcId="{F89F0C55-1303-4753-92B7-F5B86B18185B}" destId="{9B0A87F0-CCFF-4B79-A2B4-19974423E18F}" srcOrd="2" destOrd="0" presId="urn:microsoft.com/office/officeart/2005/8/layout/bProcess3"/>
    <dgm:cxn modelId="{C32E7D32-7B74-4F71-B7B1-E9473B77E3E9}" type="presParOf" srcId="{F89F0C55-1303-4753-92B7-F5B86B18185B}" destId="{30D32C34-8652-465D-8C99-5A34B9FF8016}" srcOrd="3" destOrd="0" presId="urn:microsoft.com/office/officeart/2005/8/layout/bProcess3"/>
    <dgm:cxn modelId="{2FE4E5A0-B98E-4199-9292-8A4F117AD573}" type="presParOf" srcId="{30D32C34-8652-465D-8C99-5A34B9FF8016}" destId="{E4E3FD34-CBD5-4B66-B8FF-37FB16E8F452}" srcOrd="0" destOrd="0" presId="urn:microsoft.com/office/officeart/2005/8/layout/bProcess3"/>
    <dgm:cxn modelId="{5127554E-AA64-4E06-966D-9CCAE8AD3A00}" type="presParOf" srcId="{F89F0C55-1303-4753-92B7-F5B86B18185B}" destId="{48C20963-9704-4906-A11C-8E2B147D344A}" srcOrd="4" destOrd="0" presId="urn:microsoft.com/office/officeart/2005/8/layout/bProcess3"/>
    <dgm:cxn modelId="{4613E142-1C29-490E-B6FB-112C0421D5E3}" type="presParOf" srcId="{F89F0C55-1303-4753-92B7-F5B86B18185B}" destId="{9E7615C4-E0EA-48E1-87ED-BA27109CCD26}" srcOrd="5" destOrd="0" presId="urn:microsoft.com/office/officeart/2005/8/layout/bProcess3"/>
    <dgm:cxn modelId="{2E28D2DA-718D-4575-B3BD-952884603A3C}" type="presParOf" srcId="{9E7615C4-E0EA-48E1-87ED-BA27109CCD26}" destId="{67AE58DC-D8C0-4F17-A045-3DF387347671}" srcOrd="0" destOrd="0" presId="urn:microsoft.com/office/officeart/2005/8/layout/bProcess3"/>
    <dgm:cxn modelId="{1E0F9268-67DF-4BAC-A218-94D1A893A86A}" type="presParOf" srcId="{F89F0C55-1303-4753-92B7-F5B86B18185B}" destId="{5E62F485-66D5-46BF-AD4B-218DF03D9057}" srcOrd="6" destOrd="0" presId="urn:microsoft.com/office/officeart/2005/8/layout/bProcess3"/>
    <dgm:cxn modelId="{05B8B299-5E17-4C3F-A29A-2AC97E8E4752}" type="presParOf" srcId="{F89F0C55-1303-4753-92B7-F5B86B18185B}" destId="{4EB23928-612C-43DC-A968-3EE243E97033}" srcOrd="7" destOrd="0" presId="urn:microsoft.com/office/officeart/2005/8/layout/bProcess3"/>
    <dgm:cxn modelId="{2C0746E1-23BD-4924-BE86-6AE169FC0EEA}" type="presParOf" srcId="{4EB23928-612C-43DC-A968-3EE243E97033}" destId="{986F5A28-F806-4953-BDA4-3F1377BA3D85}" srcOrd="0" destOrd="0" presId="urn:microsoft.com/office/officeart/2005/8/layout/bProcess3"/>
    <dgm:cxn modelId="{EAFB9294-3703-47A2-8CF9-0E8E280DF356}" type="presParOf" srcId="{F89F0C55-1303-4753-92B7-F5B86B18185B}" destId="{612F05B9-4688-4A8B-A733-A2C69FDA903B}" srcOrd="8" destOrd="0" presId="urn:microsoft.com/office/officeart/2005/8/layout/bProcess3"/>
    <dgm:cxn modelId="{CF75E99D-6D08-41B1-B30C-69E686B97D28}" type="presParOf" srcId="{F89F0C55-1303-4753-92B7-F5B86B18185B}" destId="{067C8338-C844-40E7-8B26-2B93D78C0773}" srcOrd="9" destOrd="0" presId="urn:microsoft.com/office/officeart/2005/8/layout/bProcess3"/>
    <dgm:cxn modelId="{0AD4ADBE-7ECE-4EEC-8C77-3D151F6CCBF8}" type="presParOf" srcId="{067C8338-C844-40E7-8B26-2B93D78C0773}" destId="{3701CE7E-9D61-4E7C-8A9F-9627CF0CC6CD}" srcOrd="0" destOrd="0" presId="urn:microsoft.com/office/officeart/2005/8/layout/bProcess3"/>
    <dgm:cxn modelId="{A1F7FD28-F688-40AE-8972-E2DA2B18ECBE}" type="presParOf" srcId="{F89F0C55-1303-4753-92B7-F5B86B18185B}" destId="{6F6ACED6-1BC4-4A3E-8C2B-249DE54B7524}" srcOrd="10"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26CB8F-4902-4659-B92F-16673DF8D50E}" type="doc">
      <dgm:prSet loTypeId="urn:microsoft.com/office/officeart/2005/8/layout/radial6" loCatId="relationship" qsTypeId="urn:microsoft.com/office/officeart/2005/8/quickstyle/simple3" qsCatId="simple" csTypeId="urn:microsoft.com/office/officeart/2005/8/colors/colorful2" csCatId="colorful" phldr="1"/>
      <dgm:spPr/>
      <dgm:t>
        <a:bodyPr/>
        <a:lstStyle/>
        <a:p>
          <a:endParaRPr lang="en-IN"/>
        </a:p>
      </dgm:t>
    </dgm:pt>
    <dgm:pt modelId="{F7FAAD68-0405-4F14-9B23-B32B94322610}">
      <dgm:prSet phldrT="[Text]" custT="1"/>
      <dgm:spPr/>
      <dgm:t>
        <a:bodyPr/>
        <a:lstStyle/>
        <a:p>
          <a:r>
            <a:rPr lang="en-IN" sz="1600" b="1" dirty="0"/>
            <a:t>Dashboard solution</a:t>
          </a:r>
        </a:p>
      </dgm:t>
    </dgm:pt>
    <dgm:pt modelId="{544FCA1B-86B1-4E15-9F6F-F0FB6C6E1F01}" type="parTrans" cxnId="{EBA61D79-00A7-4524-9CB5-B9776B96994F}">
      <dgm:prSet/>
      <dgm:spPr/>
      <dgm:t>
        <a:bodyPr/>
        <a:lstStyle/>
        <a:p>
          <a:endParaRPr lang="en-IN" sz="2400" b="0"/>
        </a:p>
      </dgm:t>
    </dgm:pt>
    <dgm:pt modelId="{480D4A62-5C28-437B-82F2-6FB80EF08E43}" type="sibTrans" cxnId="{EBA61D79-00A7-4524-9CB5-B9776B96994F}">
      <dgm:prSet/>
      <dgm:spPr/>
      <dgm:t>
        <a:bodyPr/>
        <a:lstStyle/>
        <a:p>
          <a:endParaRPr lang="en-IN" sz="2400" b="0"/>
        </a:p>
      </dgm:t>
    </dgm:pt>
    <dgm:pt modelId="{1DC5CEF6-3F6F-42D6-8AA2-F79D79880B94}">
      <dgm:prSet phldrT="[Text]" custT="1"/>
      <dgm:spPr/>
      <dgm:t>
        <a:bodyPr/>
        <a:lstStyle/>
        <a:p>
          <a:r>
            <a:rPr lang="en-IN" sz="1400" b="0" dirty="0"/>
            <a:t>Schedule tasks based on device status</a:t>
          </a:r>
        </a:p>
      </dgm:t>
    </dgm:pt>
    <dgm:pt modelId="{498B9DBB-115E-4612-95F2-44DAAAE47A7A}" type="parTrans" cxnId="{D99A5625-E221-4915-929E-199ACCE83C4A}">
      <dgm:prSet custT="1"/>
      <dgm:spPr/>
      <dgm:t>
        <a:bodyPr/>
        <a:lstStyle/>
        <a:p>
          <a:endParaRPr lang="en-IN" sz="1050" b="0"/>
        </a:p>
      </dgm:t>
    </dgm:pt>
    <dgm:pt modelId="{6B6F6D70-631C-4374-BE3A-9F95BF63EEDD}" type="sibTrans" cxnId="{D99A5625-E221-4915-929E-199ACCE83C4A}">
      <dgm:prSet/>
      <dgm:spPr/>
      <dgm:t>
        <a:bodyPr/>
        <a:lstStyle/>
        <a:p>
          <a:endParaRPr lang="en-IN" sz="2400" b="0"/>
        </a:p>
      </dgm:t>
    </dgm:pt>
    <dgm:pt modelId="{D710CF1C-75A7-4FA8-A903-4A11E91EEB0D}">
      <dgm:prSet phldrT="[Text]" custT="1"/>
      <dgm:spPr/>
      <dgm:t>
        <a:bodyPr/>
        <a:lstStyle/>
        <a:p>
          <a:r>
            <a:rPr lang="en-IN" sz="1400" b="0" dirty="0"/>
            <a:t>Tracks operational status, raise alerts </a:t>
          </a:r>
        </a:p>
      </dgm:t>
    </dgm:pt>
    <dgm:pt modelId="{F345633A-0518-41F3-BFCB-FE93A1AB9AEE}" type="parTrans" cxnId="{C810F82C-1B4A-43BB-BD76-560E5E97EFC0}">
      <dgm:prSet custT="1"/>
      <dgm:spPr/>
      <dgm:t>
        <a:bodyPr/>
        <a:lstStyle/>
        <a:p>
          <a:endParaRPr lang="en-IN" sz="1050" b="0"/>
        </a:p>
      </dgm:t>
    </dgm:pt>
    <dgm:pt modelId="{1CD706BA-F5DC-46D4-8A46-3F280041DEC7}" type="sibTrans" cxnId="{C810F82C-1B4A-43BB-BD76-560E5E97EFC0}">
      <dgm:prSet/>
      <dgm:spPr/>
      <dgm:t>
        <a:bodyPr/>
        <a:lstStyle/>
        <a:p>
          <a:endParaRPr lang="en-IN" sz="2400" b="0"/>
        </a:p>
      </dgm:t>
    </dgm:pt>
    <dgm:pt modelId="{BAB5631D-346D-48A4-9EAF-4157B8D15160}">
      <dgm:prSet phldrT="[Text]" custT="1"/>
      <dgm:spPr/>
      <dgm:t>
        <a:bodyPr/>
        <a:lstStyle/>
        <a:p>
          <a:r>
            <a:rPr lang="en-IN" sz="1400" b="0" dirty="0"/>
            <a:t>Issue logs</a:t>
          </a:r>
        </a:p>
      </dgm:t>
    </dgm:pt>
    <dgm:pt modelId="{707C399C-9A43-4A37-8349-A517C9CC08B4}" type="parTrans" cxnId="{20FC0B97-5CB7-4C61-87C6-FC0D8721375A}">
      <dgm:prSet custT="1"/>
      <dgm:spPr/>
      <dgm:t>
        <a:bodyPr/>
        <a:lstStyle/>
        <a:p>
          <a:endParaRPr lang="en-IN" sz="1050" b="0"/>
        </a:p>
      </dgm:t>
    </dgm:pt>
    <dgm:pt modelId="{44309969-75D2-4DA9-9A0B-CAC082027872}" type="sibTrans" cxnId="{20FC0B97-5CB7-4C61-87C6-FC0D8721375A}">
      <dgm:prSet/>
      <dgm:spPr/>
      <dgm:t>
        <a:bodyPr/>
        <a:lstStyle/>
        <a:p>
          <a:endParaRPr lang="en-IN" sz="2400" b="0"/>
        </a:p>
      </dgm:t>
    </dgm:pt>
    <dgm:pt modelId="{E6A7F1FC-5E4C-410D-A58C-77B7D2EE3CDE}">
      <dgm:prSet phldrT="[Text]" custT="1"/>
      <dgm:spPr/>
      <dgm:t>
        <a:bodyPr/>
        <a:lstStyle/>
        <a:p>
          <a:r>
            <a:rPr lang="en-IN" sz="1400" b="0" dirty="0"/>
            <a:t>Review KPI, Downtime, workload</a:t>
          </a:r>
        </a:p>
      </dgm:t>
    </dgm:pt>
    <dgm:pt modelId="{07E8EB59-65FE-47D5-B553-8DD9CE46769F}" type="parTrans" cxnId="{FDBC17D2-2E3D-46DD-98CC-C95F867F2745}">
      <dgm:prSet custT="1"/>
      <dgm:spPr/>
      <dgm:t>
        <a:bodyPr/>
        <a:lstStyle/>
        <a:p>
          <a:endParaRPr lang="en-IN" sz="1050" b="0"/>
        </a:p>
      </dgm:t>
    </dgm:pt>
    <dgm:pt modelId="{8E62E54F-EE35-4523-B663-1FE5754F594F}" type="sibTrans" cxnId="{FDBC17D2-2E3D-46DD-98CC-C95F867F2745}">
      <dgm:prSet/>
      <dgm:spPr/>
      <dgm:t>
        <a:bodyPr/>
        <a:lstStyle/>
        <a:p>
          <a:endParaRPr lang="en-IN" sz="2400" b="0"/>
        </a:p>
      </dgm:t>
    </dgm:pt>
    <dgm:pt modelId="{63C96D45-E6B4-4F74-95D0-E999EF1F5BF3}" type="pres">
      <dgm:prSet presAssocID="{1926CB8F-4902-4659-B92F-16673DF8D50E}" presName="Name0" presStyleCnt="0">
        <dgm:presLayoutVars>
          <dgm:chMax val="1"/>
          <dgm:dir/>
          <dgm:animLvl val="ctr"/>
          <dgm:resizeHandles val="exact"/>
        </dgm:presLayoutVars>
      </dgm:prSet>
      <dgm:spPr/>
    </dgm:pt>
    <dgm:pt modelId="{60D2FE72-F9C1-4506-9CDF-77EB96347BB6}" type="pres">
      <dgm:prSet presAssocID="{F7FAAD68-0405-4F14-9B23-B32B94322610}" presName="centerShape" presStyleLbl="node0" presStyleIdx="0" presStyleCnt="1"/>
      <dgm:spPr/>
    </dgm:pt>
    <dgm:pt modelId="{49B06F5D-F428-4262-A1E5-80164B7D0302}" type="pres">
      <dgm:prSet presAssocID="{1DC5CEF6-3F6F-42D6-8AA2-F79D79880B94}" presName="node" presStyleLbl="node1" presStyleIdx="0" presStyleCnt="4">
        <dgm:presLayoutVars>
          <dgm:bulletEnabled val="1"/>
        </dgm:presLayoutVars>
      </dgm:prSet>
      <dgm:spPr/>
    </dgm:pt>
    <dgm:pt modelId="{11AD8F45-3A00-4143-AF81-1AE214293036}" type="pres">
      <dgm:prSet presAssocID="{1DC5CEF6-3F6F-42D6-8AA2-F79D79880B94}" presName="dummy" presStyleCnt="0"/>
      <dgm:spPr/>
    </dgm:pt>
    <dgm:pt modelId="{636DF7C9-D053-401E-BF6C-DA74E9B048E8}" type="pres">
      <dgm:prSet presAssocID="{6B6F6D70-631C-4374-BE3A-9F95BF63EEDD}" presName="sibTrans" presStyleLbl="sibTrans2D1" presStyleIdx="0" presStyleCnt="4"/>
      <dgm:spPr/>
    </dgm:pt>
    <dgm:pt modelId="{CDFA1573-B7BA-4446-B9F6-F9008EAACA2B}" type="pres">
      <dgm:prSet presAssocID="{BAB5631D-346D-48A4-9EAF-4157B8D15160}" presName="node" presStyleLbl="node1" presStyleIdx="1" presStyleCnt="4">
        <dgm:presLayoutVars>
          <dgm:bulletEnabled val="1"/>
        </dgm:presLayoutVars>
      </dgm:prSet>
      <dgm:spPr/>
    </dgm:pt>
    <dgm:pt modelId="{BAFAD73B-D38E-4862-B11E-0AEBE54ADE40}" type="pres">
      <dgm:prSet presAssocID="{BAB5631D-346D-48A4-9EAF-4157B8D15160}" presName="dummy" presStyleCnt="0"/>
      <dgm:spPr/>
    </dgm:pt>
    <dgm:pt modelId="{0112CA93-54B7-45D8-8C38-92AEFBF9576C}" type="pres">
      <dgm:prSet presAssocID="{44309969-75D2-4DA9-9A0B-CAC082027872}" presName="sibTrans" presStyleLbl="sibTrans2D1" presStyleIdx="1" presStyleCnt="4"/>
      <dgm:spPr/>
    </dgm:pt>
    <dgm:pt modelId="{CBF45158-91F2-4D21-BCCB-160C1F2933E0}" type="pres">
      <dgm:prSet presAssocID="{E6A7F1FC-5E4C-410D-A58C-77B7D2EE3CDE}" presName="node" presStyleLbl="node1" presStyleIdx="2" presStyleCnt="4">
        <dgm:presLayoutVars>
          <dgm:bulletEnabled val="1"/>
        </dgm:presLayoutVars>
      </dgm:prSet>
      <dgm:spPr/>
    </dgm:pt>
    <dgm:pt modelId="{F1996ABF-87DC-4423-8FAF-88C67243FFF8}" type="pres">
      <dgm:prSet presAssocID="{E6A7F1FC-5E4C-410D-A58C-77B7D2EE3CDE}" presName="dummy" presStyleCnt="0"/>
      <dgm:spPr/>
    </dgm:pt>
    <dgm:pt modelId="{AA1C5590-4F18-4BF3-9BDB-A89F09B8D732}" type="pres">
      <dgm:prSet presAssocID="{8E62E54F-EE35-4523-B663-1FE5754F594F}" presName="sibTrans" presStyleLbl="sibTrans2D1" presStyleIdx="2" presStyleCnt="4"/>
      <dgm:spPr/>
    </dgm:pt>
    <dgm:pt modelId="{4D091234-F139-42B2-B6A2-666E47FA61F8}" type="pres">
      <dgm:prSet presAssocID="{D710CF1C-75A7-4FA8-A903-4A11E91EEB0D}" presName="node" presStyleLbl="node1" presStyleIdx="3" presStyleCnt="4">
        <dgm:presLayoutVars>
          <dgm:bulletEnabled val="1"/>
        </dgm:presLayoutVars>
      </dgm:prSet>
      <dgm:spPr/>
    </dgm:pt>
    <dgm:pt modelId="{D7364358-0413-4C83-B390-696C50D4594C}" type="pres">
      <dgm:prSet presAssocID="{D710CF1C-75A7-4FA8-A903-4A11E91EEB0D}" presName="dummy" presStyleCnt="0"/>
      <dgm:spPr/>
    </dgm:pt>
    <dgm:pt modelId="{9D716C40-E796-4658-99B1-C06CA886833B}" type="pres">
      <dgm:prSet presAssocID="{1CD706BA-F5DC-46D4-8A46-3F280041DEC7}" presName="sibTrans" presStyleLbl="sibTrans2D1" presStyleIdx="3" presStyleCnt="4"/>
      <dgm:spPr/>
    </dgm:pt>
  </dgm:ptLst>
  <dgm:cxnLst>
    <dgm:cxn modelId="{DC83A601-3A08-4C33-A356-D35F80EDE697}" type="presOf" srcId="{1926CB8F-4902-4659-B92F-16673DF8D50E}" destId="{63C96D45-E6B4-4F74-95D0-E999EF1F5BF3}" srcOrd="0" destOrd="0" presId="urn:microsoft.com/office/officeart/2005/8/layout/radial6"/>
    <dgm:cxn modelId="{D99A5625-E221-4915-929E-199ACCE83C4A}" srcId="{F7FAAD68-0405-4F14-9B23-B32B94322610}" destId="{1DC5CEF6-3F6F-42D6-8AA2-F79D79880B94}" srcOrd="0" destOrd="0" parTransId="{498B9DBB-115E-4612-95F2-44DAAAE47A7A}" sibTransId="{6B6F6D70-631C-4374-BE3A-9F95BF63EEDD}"/>
    <dgm:cxn modelId="{C810F82C-1B4A-43BB-BD76-560E5E97EFC0}" srcId="{F7FAAD68-0405-4F14-9B23-B32B94322610}" destId="{D710CF1C-75A7-4FA8-A903-4A11E91EEB0D}" srcOrd="3" destOrd="0" parTransId="{F345633A-0518-41F3-BFCB-FE93A1AB9AEE}" sibTransId="{1CD706BA-F5DC-46D4-8A46-3F280041DEC7}"/>
    <dgm:cxn modelId="{19185069-F099-49CD-A1F1-BF7FBC48E250}" type="presOf" srcId="{D710CF1C-75A7-4FA8-A903-4A11E91EEB0D}" destId="{4D091234-F139-42B2-B6A2-666E47FA61F8}" srcOrd="0" destOrd="0" presId="urn:microsoft.com/office/officeart/2005/8/layout/radial6"/>
    <dgm:cxn modelId="{EBA61D79-00A7-4524-9CB5-B9776B96994F}" srcId="{1926CB8F-4902-4659-B92F-16673DF8D50E}" destId="{F7FAAD68-0405-4F14-9B23-B32B94322610}" srcOrd="0" destOrd="0" parTransId="{544FCA1B-86B1-4E15-9F6F-F0FB6C6E1F01}" sibTransId="{480D4A62-5C28-437B-82F2-6FB80EF08E43}"/>
    <dgm:cxn modelId="{9CC39559-08CB-4311-B635-012E5730F8D1}" type="presOf" srcId="{44309969-75D2-4DA9-9A0B-CAC082027872}" destId="{0112CA93-54B7-45D8-8C38-92AEFBF9576C}" srcOrd="0" destOrd="0" presId="urn:microsoft.com/office/officeart/2005/8/layout/radial6"/>
    <dgm:cxn modelId="{AD334A7A-2AE2-4B85-9079-B1395D912C96}" type="presOf" srcId="{1CD706BA-F5DC-46D4-8A46-3F280041DEC7}" destId="{9D716C40-E796-4658-99B1-C06CA886833B}" srcOrd="0" destOrd="0" presId="urn:microsoft.com/office/officeart/2005/8/layout/radial6"/>
    <dgm:cxn modelId="{1DA7548D-6D8D-4FCA-8435-83FBB94F8603}" type="presOf" srcId="{E6A7F1FC-5E4C-410D-A58C-77B7D2EE3CDE}" destId="{CBF45158-91F2-4D21-BCCB-160C1F2933E0}" srcOrd="0" destOrd="0" presId="urn:microsoft.com/office/officeart/2005/8/layout/radial6"/>
    <dgm:cxn modelId="{20FC0B97-5CB7-4C61-87C6-FC0D8721375A}" srcId="{F7FAAD68-0405-4F14-9B23-B32B94322610}" destId="{BAB5631D-346D-48A4-9EAF-4157B8D15160}" srcOrd="1" destOrd="0" parTransId="{707C399C-9A43-4A37-8349-A517C9CC08B4}" sibTransId="{44309969-75D2-4DA9-9A0B-CAC082027872}"/>
    <dgm:cxn modelId="{F816339D-C55C-47F3-9557-245033C42D33}" type="presOf" srcId="{8E62E54F-EE35-4523-B663-1FE5754F594F}" destId="{AA1C5590-4F18-4BF3-9BDB-A89F09B8D732}" srcOrd="0" destOrd="0" presId="urn:microsoft.com/office/officeart/2005/8/layout/radial6"/>
    <dgm:cxn modelId="{676D22A8-F097-4FC3-99A2-130770F46B09}" type="presOf" srcId="{1DC5CEF6-3F6F-42D6-8AA2-F79D79880B94}" destId="{49B06F5D-F428-4262-A1E5-80164B7D0302}" srcOrd="0" destOrd="0" presId="urn:microsoft.com/office/officeart/2005/8/layout/radial6"/>
    <dgm:cxn modelId="{399516C4-07C1-4B08-B319-ED9D02EFC2F1}" type="presOf" srcId="{6B6F6D70-631C-4374-BE3A-9F95BF63EEDD}" destId="{636DF7C9-D053-401E-BF6C-DA74E9B048E8}" srcOrd="0" destOrd="0" presId="urn:microsoft.com/office/officeart/2005/8/layout/radial6"/>
    <dgm:cxn modelId="{35445CC8-5577-484D-A379-08524699BFB9}" type="presOf" srcId="{BAB5631D-346D-48A4-9EAF-4157B8D15160}" destId="{CDFA1573-B7BA-4446-B9F6-F9008EAACA2B}" srcOrd="0" destOrd="0" presId="urn:microsoft.com/office/officeart/2005/8/layout/radial6"/>
    <dgm:cxn modelId="{FDBC17D2-2E3D-46DD-98CC-C95F867F2745}" srcId="{F7FAAD68-0405-4F14-9B23-B32B94322610}" destId="{E6A7F1FC-5E4C-410D-A58C-77B7D2EE3CDE}" srcOrd="2" destOrd="0" parTransId="{07E8EB59-65FE-47D5-B553-8DD9CE46769F}" sibTransId="{8E62E54F-EE35-4523-B663-1FE5754F594F}"/>
    <dgm:cxn modelId="{96CFF6ED-AEE7-45EA-9F64-4BFE20A35E8E}" type="presOf" srcId="{F7FAAD68-0405-4F14-9B23-B32B94322610}" destId="{60D2FE72-F9C1-4506-9CDF-77EB96347BB6}" srcOrd="0" destOrd="0" presId="urn:microsoft.com/office/officeart/2005/8/layout/radial6"/>
    <dgm:cxn modelId="{883C6875-1D09-4E2C-98D0-E3C93D50C6E4}" type="presParOf" srcId="{63C96D45-E6B4-4F74-95D0-E999EF1F5BF3}" destId="{60D2FE72-F9C1-4506-9CDF-77EB96347BB6}" srcOrd="0" destOrd="0" presId="urn:microsoft.com/office/officeart/2005/8/layout/radial6"/>
    <dgm:cxn modelId="{90C0168B-D42B-4379-AA37-07260D49C5F5}" type="presParOf" srcId="{63C96D45-E6B4-4F74-95D0-E999EF1F5BF3}" destId="{49B06F5D-F428-4262-A1E5-80164B7D0302}" srcOrd="1" destOrd="0" presId="urn:microsoft.com/office/officeart/2005/8/layout/radial6"/>
    <dgm:cxn modelId="{FC1FC72B-7223-44F0-B5E6-4138405242A4}" type="presParOf" srcId="{63C96D45-E6B4-4F74-95D0-E999EF1F5BF3}" destId="{11AD8F45-3A00-4143-AF81-1AE214293036}" srcOrd="2" destOrd="0" presId="urn:microsoft.com/office/officeart/2005/8/layout/radial6"/>
    <dgm:cxn modelId="{AB2E054B-F4DB-4F9F-BBEC-5384509DEBD6}" type="presParOf" srcId="{63C96D45-E6B4-4F74-95D0-E999EF1F5BF3}" destId="{636DF7C9-D053-401E-BF6C-DA74E9B048E8}" srcOrd="3" destOrd="0" presId="urn:microsoft.com/office/officeart/2005/8/layout/radial6"/>
    <dgm:cxn modelId="{6AB7C67C-BD0F-49B0-9333-E7407D4336C9}" type="presParOf" srcId="{63C96D45-E6B4-4F74-95D0-E999EF1F5BF3}" destId="{CDFA1573-B7BA-4446-B9F6-F9008EAACA2B}" srcOrd="4" destOrd="0" presId="urn:microsoft.com/office/officeart/2005/8/layout/radial6"/>
    <dgm:cxn modelId="{9122F1CD-62D6-43A9-AA60-4709CBE8EEA7}" type="presParOf" srcId="{63C96D45-E6B4-4F74-95D0-E999EF1F5BF3}" destId="{BAFAD73B-D38E-4862-B11E-0AEBE54ADE40}" srcOrd="5" destOrd="0" presId="urn:microsoft.com/office/officeart/2005/8/layout/radial6"/>
    <dgm:cxn modelId="{157E4609-0582-4BE4-B397-F19B9280CFFD}" type="presParOf" srcId="{63C96D45-E6B4-4F74-95D0-E999EF1F5BF3}" destId="{0112CA93-54B7-45D8-8C38-92AEFBF9576C}" srcOrd="6" destOrd="0" presId="urn:microsoft.com/office/officeart/2005/8/layout/radial6"/>
    <dgm:cxn modelId="{49F65E9A-3233-4932-9639-D9D1E7A5217C}" type="presParOf" srcId="{63C96D45-E6B4-4F74-95D0-E999EF1F5BF3}" destId="{CBF45158-91F2-4D21-BCCB-160C1F2933E0}" srcOrd="7" destOrd="0" presId="urn:microsoft.com/office/officeart/2005/8/layout/radial6"/>
    <dgm:cxn modelId="{FEB88957-BE58-4012-82DF-1F691DAA8B36}" type="presParOf" srcId="{63C96D45-E6B4-4F74-95D0-E999EF1F5BF3}" destId="{F1996ABF-87DC-4423-8FAF-88C67243FFF8}" srcOrd="8" destOrd="0" presId="urn:microsoft.com/office/officeart/2005/8/layout/radial6"/>
    <dgm:cxn modelId="{36A838CA-2BB6-46CB-BCCC-986863D5E220}" type="presParOf" srcId="{63C96D45-E6B4-4F74-95D0-E999EF1F5BF3}" destId="{AA1C5590-4F18-4BF3-9BDB-A89F09B8D732}" srcOrd="9" destOrd="0" presId="urn:microsoft.com/office/officeart/2005/8/layout/radial6"/>
    <dgm:cxn modelId="{441533D7-8F69-4682-9FD5-0450528A4129}" type="presParOf" srcId="{63C96D45-E6B4-4F74-95D0-E999EF1F5BF3}" destId="{4D091234-F139-42B2-B6A2-666E47FA61F8}" srcOrd="10" destOrd="0" presId="urn:microsoft.com/office/officeart/2005/8/layout/radial6"/>
    <dgm:cxn modelId="{A746C9F4-68DE-49AA-8CDD-2170CC665F0F}" type="presParOf" srcId="{63C96D45-E6B4-4F74-95D0-E999EF1F5BF3}" destId="{D7364358-0413-4C83-B390-696C50D4594C}" srcOrd="11" destOrd="0" presId="urn:microsoft.com/office/officeart/2005/8/layout/radial6"/>
    <dgm:cxn modelId="{C6776202-0FC6-4CE0-917C-1E9AEED2E647}" type="presParOf" srcId="{63C96D45-E6B4-4F74-95D0-E999EF1F5BF3}" destId="{9D716C40-E796-4658-99B1-C06CA886833B}" srcOrd="12"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B265C0C-63D6-4BB2-9A12-0FCC94282FAA}" type="doc">
      <dgm:prSet loTypeId="urn:microsoft.com/office/officeart/2008/layout/AlternatingPictureBlocks" loCatId="list" qsTypeId="urn:microsoft.com/office/officeart/2005/8/quickstyle/simple3" qsCatId="simple" csTypeId="urn:microsoft.com/office/officeart/2005/8/colors/colorful2" csCatId="colorful" phldr="1"/>
      <dgm:spPr/>
      <dgm:t>
        <a:bodyPr/>
        <a:lstStyle/>
        <a:p>
          <a:endParaRPr lang="en-IN"/>
        </a:p>
      </dgm:t>
    </dgm:pt>
    <dgm:pt modelId="{13430C91-C0BF-441C-940E-0BDC6ABD3C62}">
      <dgm:prSet phldrT="[Text]"/>
      <dgm:spPr/>
      <dgm:t>
        <a:bodyPr/>
        <a:lstStyle/>
        <a:p>
          <a:r>
            <a:rPr lang="en-IN" dirty="0"/>
            <a:t>Device Risk &amp; Maintenance</a:t>
          </a:r>
        </a:p>
      </dgm:t>
    </dgm:pt>
    <dgm:pt modelId="{5E5F4D24-B260-4A94-A2AF-AFE5D3204A6C}" type="parTrans" cxnId="{BF11C144-E087-42CF-B4A5-261BA04024D3}">
      <dgm:prSet/>
      <dgm:spPr/>
      <dgm:t>
        <a:bodyPr/>
        <a:lstStyle/>
        <a:p>
          <a:endParaRPr lang="en-IN"/>
        </a:p>
      </dgm:t>
    </dgm:pt>
    <dgm:pt modelId="{6705C1F4-AC3D-447D-90DB-D041B53D50FE}" type="sibTrans" cxnId="{BF11C144-E087-42CF-B4A5-261BA04024D3}">
      <dgm:prSet/>
      <dgm:spPr/>
      <dgm:t>
        <a:bodyPr/>
        <a:lstStyle/>
        <a:p>
          <a:endParaRPr lang="en-IN"/>
        </a:p>
      </dgm:t>
    </dgm:pt>
    <dgm:pt modelId="{E27BE210-C1CF-4ADD-9B36-CDE3C8BF73F0}">
      <dgm:prSet phldrT="[Text]"/>
      <dgm:spPr/>
      <dgm:t>
        <a:bodyPr/>
        <a:lstStyle/>
        <a:p>
          <a:r>
            <a:rPr lang="en-IN" dirty="0"/>
            <a:t>Technician Overload</a:t>
          </a:r>
        </a:p>
      </dgm:t>
    </dgm:pt>
    <dgm:pt modelId="{6E1C524A-43FC-4F5C-A1B9-7E2DB7DF961B}" type="parTrans" cxnId="{7E0ABADC-954F-4B7B-82AD-F2155D8D37D8}">
      <dgm:prSet/>
      <dgm:spPr/>
      <dgm:t>
        <a:bodyPr/>
        <a:lstStyle/>
        <a:p>
          <a:endParaRPr lang="en-IN"/>
        </a:p>
      </dgm:t>
    </dgm:pt>
    <dgm:pt modelId="{8BD0ABF9-2B63-4553-AE99-300981CBA140}" type="sibTrans" cxnId="{7E0ABADC-954F-4B7B-82AD-F2155D8D37D8}">
      <dgm:prSet/>
      <dgm:spPr/>
      <dgm:t>
        <a:bodyPr/>
        <a:lstStyle/>
        <a:p>
          <a:endParaRPr lang="en-IN"/>
        </a:p>
      </dgm:t>
    </dgm:pt>
    <dgm:pt modelId="{099E1483-99B8-4C47-9B3A-8BCD39B96DFD}">
      <dgm:prSet phldrT="[Text]"/>
      <dgm:spPr/>
      <dgm:t>
        <a:bodyPr/>
        <a:lstStyle/>
        <a:p>
          <a:r>
            <a:rPr lang="en-IN" dirty="0"/>
            <a:t>Location Based Status</a:t>
          </a:r>
        </a:p>
      </dgm:t>
    </dgm:pt>
    <dgm:pt modelId="{77FE986B-987C-41CB-A715-D82D62A80132}" type="parTrans" cxnId="{3A895FC3-FD26-43C9-8FC0-EEFEFA408C5E}">
      <dgm:prSet/>
      <dgm:spPr/>
      <dgm:t>
        <a:bodyPr/>
        <a:lstStyle/>
        <a:p>
          <a:endParaRPr lang="en-IN"/>
        </a:p>
      </dgm:t>
    </dgm:pt>
    <dgm:pt modelId="{DB2020AD-6D5D-4323-9E1D-68F43BDA93E8}" type="sibTrans" cxnId="{3A895FC3-FD26-43C9-8FC0-EEFEFA408C5E}">
      <dgm:prSet/>
      <dgm:spPr/>
      <dgm:t>
        <a:bodyPr/>
        <a:lstStyle/>
        <a:p>
          <a:endParaRPr lang="en-IN"/>
        </a:p>
      </dgm:t>
    </dgm:pt>
    <dgm:pt modelId="{E47359E1-AC00-4F5E-B3D3-B9D29B5BF6C4}">
      <dgm:prSet phldrT="[Text]"/>
      <dgm:spPr/>
      <dgm:t>
        <a:bodyPr/>
        <a:lstStyle/>
        <a:p>
          <a:r>
            <a:rPr lang="en-IN" dirty="0"/>
            <a:t>Equipment Distribution</a:t>
          </a:r>
        </a:p>
      </dgm:t>
    </dgm:pt>
    <dgm:pt modelId="{FA28CE09-E041-499E-939F-17769346C86D}" type="parTrans" cxnId="{5918F155-782B-4D82-B982-0AD9A5FA69BD}">
      <dgm:prSet/>
      <dgm:spPr/>
      <dgm:t>
        <a:bodyPr/>
        <a:lstStyle/>
        <a:p>
          <a:endParaRPr lang="en-IN"/>
        </a:p>
      </dgm:t>
    </dgm:pt>
    <dgm:pt modelId="{DFB03838-DB86-42D2-922F-339289ECCFFD}" type="sibTrans" cxnId="{5918F155-782B-4D82-B982-0AD9A5FA69BD}">
      <dgm:prSet/>
      <dgm:spPr/>
      <dgm:t>
        <a:bodyPr/>
        <a:lstStyle/>
        <a:p>
          <a:endParaRPr lang="en-IN"/>
        </a:p>
      </dgm:t>
    </dgm:pt>
    <dgm:pt modelId="{FBE0556C-A124-4916-8B37-174A0746E844}">
      <dgm:prSet phldrT="[Text]"/>
      <dgm:spPr/>
      <dgm:t>
        <a:bodyPr/>
        <a:lstStyle/>
        <a:p>
          <a:r>
            <a:rPr lang="en-IN" dirty="0"/>
            <a:t>Trend Analysis</a:t>
          </a:r>
        </a:p>
      </dgm:t>
    </dgm:pt>
    <dgm:pt modelId="{D8D90151-4030-42BD-B3D5-7C6EF7C318AB}" type="parTrans" cxnId="{B65DEEF8-4E72-43FA-BB73-FFAD06195727}">
      <dgm:prSet/>
      <dgm:spPr/>
      <dgm:t>
        <a:bodyPr/>
        <a:lstStyle/>
        <a:p>
          <a:endParaRPr lang="en-IN"/>
        </a:p>
      </dgm:t>
    </dgm:pt>
    <dgm:pt modelId="{77BB0F8D-14E0-4BBF-AC16-AD48E832B918}" type="sibTrans" cxnId="{B65DEEF8-4E72-43FA-BB73-FFAD06195727}">
      <dgm:prSet/>
      <dgm:spPr/>
      <dgm:t>
        <a:bodyPr/>
        <a:lstStyle/>
        <a:p>
          <a:endParaRPr lang="en-IN"/>
        </a:p>
      </dgm:t>
    </dgm:pt>
    <dgm:pt modelId="{2D0C5769-FE40-4604-83F6-6F131B437556}">
      <dgm:prSet phldrT="[Text]"/>
      <dgm:spPr/>
      <dgm:t>
        <a:bodyPr/>
        <a:lstStyle/>
        <a:p>
          <a:r>
            <a:rPr lang="en-IN" dirty="0"/>
            <a:t>Audit Readiness</a:t>
          </a:r>
        </a:p>
      </dgm:t>
    </dgm:pt>
    <dgm:pt modelId="{D9F3760C-40D5-45BF-B36D-05251A18D52B}" type="parTrans" cxnId="{CF237D02-B9A3-452E-8DB9-094F8FC1DAB4}">
      <dgm:prSet/>
      <dgm:spPr/>
      <dgm:t>
        <a:bodyPr/>
        <a:lstStyle/>
        <a:p>
          <a:endParaRPr lang="en-IN"/>
        </a:p>
      </dgm:t>
    </dgm:pt>
    <dgm:pt modelId="{16CE95F7-7DBB-47D0-A507-9D75FA8828F5}" type="sibTrans" cxnId="{CF237D02-B9A3-452E-8DB9-094F8FC1DAB4}">
      <dgm:prSet/>
      <dgm:spPr/>
      <dgm:t>
        <a:bodyPr/>
        <a:lstStyle/>
        <a:p>
          <a:endParaRPr lang="en-IN"/>
        </a:p>
      </dgm:t>
    </dgm:pt>
    <dgm:pt modelId="{499CC948-82D0-4D23-8B10-CF42911E9436}" type="pres">
      <dgm:prSet presAssocID="{6B265C0C-63D6-4BB2-9A12-0FCC94282FAA}" presName="linearFlow" presStyleCnt="0">
        <dgm:presLayoutVars>
          <dgm:dir/>
          <dgm:resizeHandles val="exact"/>
        </dgm:presLayoutVars>
      </dgm:prSet>
      <dgm:spPr/>
    </dgm:pt>
    <dgm:pt modelId="{4B96FA36-3CBB-4D45-AADB-4ED809B368AB}" type="pres">
      <dgm:prSet presAssocID="{13430C91-C0BF-441C-940E-0BDC6ABD3C62}" presName="comp" presStyleCnt="0"/>
      <dgm:spPr/>
    </dgm:pt>
    <dgm:pt modelId="{EDFE7A92-1A9E-45C1-89DE-F8CDA04299D9}" type="pres">
      <dgm:prSet presAssocID="{13430C91-C0BF-441C-940E-0BDC6ABD3C62}" presName="rect2" presStyleLbl="node1" presStyleIdx="0" presStyleCnt="6">
        <dgm:presLayoutVars>
          <dgm:bulletEnabled val="1"/>
        </dgm:presLayoutVars>
      </dgm:prSet>
      <dgm:spPr/>
    </dgm:pt>
    <dgm:pt modelId="{48174DBB-1F7D-46D4-80EB-CCF8F30D7536}" type="pres">
      <dgm:prSet presAssocID="{13430C91-C0BF-441C-940E-0BDC6ABD3C62}" presName="rect1" presStyleLbl="lnNode1" presStyleIdx="0" presStyleCnt="6"/>
      <dgm:spPr>
        <a:blipFill>
          <a:blip xmlns:r="http://schemas.openxmlformats.org/officeDocument/2006/relationships" r:embed="rId1">
            <a:extLst>
              <a:ext uri="{96DAC541-7B7A-43D3-8B79-37D633B846F1}">
                <asvg:svgBlip xmlns:asvg="http://schemas.microsoft.com/office/drawing/2016/SVG/main" r:embed="rId2"/>
              </a:ext>
            </a:extLst>
          </a:blip>
          <a:srcRect/>
          <a:stretch>
            <a:fillRect l="-1000" r="-1000"/>
          </a:stretch>
        </a:blipFill>
      </dgm:spPr>
      <dgm:extLst>
        <a:ext uri="{E40237B7-FDA0-4F09-8148-C483321AD2D9}">
          <dgm14:cNvPr xmlns:dgm14="http://schemas.microsoft.com/office/drawing/2010/diagram" id="0" name="" descr="Heart organ outline"/>
        </a:ext>
      </dgm:extLst>
    </dgm:pt>
    <dgm:pt modelId="{BDB8172E-E318-43D6-9549-7B1FBB0E09F8}" type="pres">
      <dgm:prSet presAssocID="{6705C1F4-AC3D-447D-90DB-D041B53D50FE}" presName="sibTrans" presStyleCnt="0"/>
      <dgm:spPr/>
    </dgm:pt>
    <dgm:pt modelId="{9BC6CCA6-714A-4003-A326-AF29CD390D50}" type="pres">
      <dgm:prSet presAssocID="{099E1483-99B8-4C47-9B3A-8BCD39B96DFD}" presName="comp" presStyleCnt="0"/>
      <dgm:spPr/>
    </dgm:pt>
    <dgm:pt modelId="{64D94E16-4FD9-4EA2-A120-A8206A34CAED}" type="pres">
      <dgm:prSet presAssocID="{099E1483-99B8-4C47-9B3A-8BCD39B96DFD}" presName="rect2" presStyleLbl="node1" presStyleIdx="1" presStyleCnt="6">
        <dgm:presLayoutVars>
          <dgm:bulletEnabled val="1"/>
        </dgm:presLayoutVars>
      </dgm:prSet>
      <dgm:spPr/>
    </dgm:pt>
    <dgm:pt modelId="{DADBE647-CC4E-4D35-9D2B-4C1D71037414}" type="pres">
      <dgm:prSet presAssocID="{099E1483-99B8-4C47-9B3A-8BCD39B96DFD}" presName="rect1" presStyleLbl="lnNode1" presStyleIdx="1" presStyleCnt="6"/>
      <dgm:spPr>
        <a:blipFill>
          <a:blip xmlns:r="http://schemas.openxmlformats.org/officeDocument/2006/relationships" r:embed="rId3">
            <a:extLst>
              <a:ext uri="{96DAC541-7B7A-43D3-8B79-37D633B846F1}">
                <asvg:svgBlip xmlns:asvg="http://schemas.microsoft.com/office/drawing/2016/SVG/main" r:embed="rId4"/>
              </a:ext>
            </a:extLst>
          </a:blip>
          <a:srcRect/>
          <a:stretch>
            <a:fillRect l="-1000" r="-1000"/>
          </a:stretch>
        </a:blipFill>
      </dgm:spPr>
      <dgm:extLst>
        <a:ext uri="{E40237B7-FDA0-4F09-8148-C483321AD2D9}">
          <dgm14:cNvPr xmlns:dgm14="http://schemas.microsoft.com/office/drawing/2010/diagram" id="0" name="" descr="Route (Two Pins With A Path) with solid fill"/>
        </a:ext>
      </dgm:extLst>
    </dgm:pt>
    <dgm:pt modelId="{87110A0B-DB1C-4829-91C0-17F203CEAB05}" type="pres">
      <dgm:prSet presAssocID="{DB2020AD-6D5D-4323-9E1D-68F43BDA93E8}" presName="sibTrans" presStyleCnt="0"/>
      <dgm:spPr/>
    </dgm:pt>
    <dgm:pt modelId="{7D9FA95D-8BBF-4A3E-A838-D73C4A9F4940}" type="pres">
      <dgm:prSet presAssocID="{E27BE210-C1CF-4ADD-9B36-CDE3C8BF73F0}" presName="comp" presStyleCnt="0"/>
      <dgm:spPr/>
    </dgm:pt>
    <dgm:pt modelId="{E8BD5889-4F83-4F3B-A765-3504495A6C32}" type="pres">
      <dgm:prSet presAssocID="{E27BE210-C1CF-4ADD-9B36-CDE3C8BF73F0}" presName="rect2" presStyleLbl="node1" presStyleIdx="2" presStyleCnt="6">
        <dgm:presLayoutVars>
          <dgm:bulletEnabled val="1"/>
        </dgm:presLayoutVars>
      </dgm:prSet>
      <dgm:spPr/>
    </dgm:pt>
    <dgm:pt modelId="{85D7EFF5-CD1D-4A12-A91A-B3CA2D09413E}" type="pres">
      <dgm:prSet presAssocID="{E27BE210-C1CF-4ADD-9B36-CDE3C8BF73F0}" presName="rect1" presStyleLbl="lnNode1" presStyleIdx="2" presStyleCnt="6"/>
      <dgm:spPr>
        <a:blipFill>
          <a:blip xmlns:r="http://schemas.openxmlformats.org/officeDocument/2006/relationships" r:embed="rId5">
            <a:extLst>
              <a:ext uri="{96DAC541-7B7A-43D3-8B79-37D633B846F1}">
                <asvg:svgBlip xmlns:asvg="http://schemas.microsoft.com/office/drawing/2016/SVG/main" r:embed="rId6"/>
              </a:ext>
            </a:extLst>
          </a:blip>
          <a:srcRect/>
          <a:stretch>
            <a:fillRect l="-1000" r="-1000"/>
          </a:stretch>
        </a:blipFill>
      </dgm:spPr>
      <dgm:extLst>
        <a:ext uri="{E40237B7-FDA0-4F09-8148-C483321AD2D9}">
          <dgm14:cNvPr xmlns:dgm14="http://schemas.microsoft.com/office/drawing/2010/diagram" id="0" name="" descr="Spinning Plates with solid fill"/>
        </a:ext>
      </dgm:extLst>
    </dgm:pt>
    <dgm:pt modelId="{546C3B9F-E00F-42DE-ADFA-EF99E059441F}" type="pres">
      <dgm:prSet presAssocID="{8BD0ABF9-2B63-4553-AE99-300981CBA140}" presName="sibTrans" presStyleCnt="0"/>
      <dgm:spPr/>
    </dgm:pt>
    <dgm:pt modelId="{F92DE9C1-9418-45FD-B4C1-26D90034BA4D}" type="pres">
      <dgm:prSet presAssocID="{E47359E1-AC00-4F5E-B3D3-B9D29B5BF6C4}" presName="comp" presStyleCnt="0"/>
      <dgm:spPr/>
    </dgm:pt>
    <dgm:pt modelId="{5234BE81-654C-4206-99C0-B197E11B908F}" type="pres">
      <dgm:prSet presAssocID="{E47359E1-AC00-4F5E-B3D3-B9D29B5BF6C4}" presName="rect2" presStyleLbl="node1" presStyleIdx="3" presStyleCnt="6">
        <dgm:presLayoutVars>
          <dgm:bulletEnabled val="1"/>
        </dgm:presLayoutVars>
      </dgm:prSet>
      <dgm:spPr/>
    </dgm:pt>
    <dgm:pt modelId="{6AA12CDF-8FC2-4B20-A1AA-FABF20D43F82}" type="pres">
      <dgm:prSet presAssocID="{E47359E1-AC00-4F5E-B3D3-B9D29B5BF6C4}" presName="rect1" presStyleLbl="lnNode1" presStyleIdx="3" presStyleCnt="6"/>
      <dgm:spPr>
        <a:blipFill>
          <a:blip xmlns:r="http://schemas.openxmlformats.org/officeDocument/2006/relationships" r:embed="rId7">
            <a:extLst>
              <a:ext uri="{96DAC541-7B7A-43D3-8B79-37D633B846F1}">
                <asvg:svgBlip xmlns:asvg="http://schemas.microsoft.com/office/drawing/2016/SVG/main" r:embed="rId8"/>
              </a:ext>
            </a:extLst>
          </a:blip>
          <a:srcRect/>
          <a:stretch>
            <a:fillRect l="-1000" r="-1000"/>
          </a:stretch>
        </a:blipFill>
      </dgm:spPr>
      <dgm:extLst>
        <a:ext uri="{E40237B7-FDA0-4F09-8148-C483321AD2D9}">
          <dgm14:cNvPr xmlns:dgm14="http://schemas.microsoft.com/office/drawing/2010/diagram" id="0" name="" descr="Share outline"/>
        </a:ext>
      </dgm:extLst>
    </dgm:pt>
    <dgm:pt modelId="{3E6B528C-033B-47D2-8E1A-150FBC4AC00E}" type="pres">
      <dgm:prSet presAssocID="{DFB03838-DB86-42D2-922F-339289ECCFFD}" presName="sibTrans" presStyleCnt="0"/>
      <dgm:spPr/>
    </dgm:pt>
    <dgm:pt modelId="{6AB868C7-77E8-4C03-9761-FC773EA9DD83}" type="pres">
      <dgm:prSet presAssocID="{FBE0556C-A124-4916-8B37-174A0746E844}" presName="comp" presStyleCnt="0"/>
      <dgm:spPr/>
    </dgm:pt>
    <dgm:pt modelId="{CE24FEE5-60EF-48FD-B606-CE0FD4B1F52F}" type="pres">
      <dgm:prSet presAssocID="{FBE0556C-A124-4916-8B37-174A0746E844}" presName="rect2" presStyleLbl="node1" presStyleIdx="4" presStyleCnt="6">
        <dgm:presLayoutVars>
          <dgm:bulletEnabled val="1"/>
        </dgm:presLayoutVars>
      </dgm:prSet>
      <dgm:spPr/>
    </dgm:pt>
    <dgm:pt modelId="{2B5CC604-B2B4-4776-826D-46F7F76E172D}" type="pres">
      <dgm:prSet presAssocID="{FBE0556C-A124-4916-8B37-174A0746E844}" presName="rect1" presStyleLbl="lnNode1" presStyleIdx="4" presStyleCnt="6"/>
      <dgm:spPr>
        <a:blipFill>
          <a:blip xmlns:r="http://schemas.openxmlformats.org/officeDocument/2006/relationships" r:embed="rId9">
            <a:extLst>
              <a:ext uri="{96DAC541-7B7A-43D3-8B79-37D633B846F1}">
                <asvg:svgBlip xmlns:asvg="http://schemas.microsoft.com/office/drawing/2016/SVG/main" r:embed="rId10"/>
              </a:ext>
            </a:extLst>
          </a:blip>
          <a:srcRect/>
          <a:stretch>
            <a:fillRect l="-1000" r="-1000"/>
          </a:stretch>
        </a:blipFill>
      </dgm:spPr>
      <dgm:extLst>
        <a:ext uri="{E40237B7-FDA0-4F09-8148-C483321AD2D9}">
          <dgm14:cNvPr xmlns:dgm14="http://schemas.microsoft.com/office/drawing/2010/diagram" id="0" name="" descr="Upward trend with solid fill"/>
        </a:ext>
      </dgm:extLst>
    </dgm:pt>
    <dgm:pt modelId="{01788FA6-D6CA-4052-9553-7172A79A53E7}" type="pres">
      <dgm:prSet presAssocID="{77BB0F8D-14E0-4BBF-AC16-AD48E832B918}" presName="sibTrans" presStyleCnt="0"/>
      <dgm:spPr/>
    </dgm:pt>
    <dgm:pt modelId="{B6625577-56FF-4947-B65D-EB17D54BC1AD}" type="pres">
      <dgm:prSet presAssocID="{2D0C5769-FE40-4604-83F6-6F131B437556}" presName="comp" presStyleCnt="0"/>
      <dgm:spPr/>
    </dgm:pt>
    <dgm:pt modelId="{5E2093B6-CC43-4816-A89C-1DD066C71563}" type="pres">
      <dgm:prSet presAssocID="{2D0C5769-FE40-4604-83F6-6F131B437556}" presName="rect2" presStyleLbl="node1" presStyleIdx="5" presStyleCnt="6">
        <dgm:presLayoutVars>
          <dgm:bulletEnabled val="1"/>
        </dgm:presLayoutVars>
      </dgm:prSet>
      <dgm:spPr/>
    </dgm:pt>
    <dgm:pt modelId="{C73F51F3-FD5E-44F2-919A-A4F89361D81E}" type="pres">
      <dgm:prSet presAssocID="{2D0C5769-FE40-4604-83F6-6F131B437556}" presName="rect1" presStyleLbl="lnNode1" presStyleIdx="5" presStyleCnt="6"/>
      <dgm:spPr>
        <a:blipFill>
          <a:blip xmlns:r="http://schemas.openxmlformats.org/officeDocument/2006/relationships" r:embed="rId11">
            <a:extLst>
              <a:ext uri="{96DAC541-7B7A-43D3-8B79-37D633B846F1}">
                <asvg:svgBlip xmlns:asvg="http://schemas.microsoft.com/office/drawing/2016/SVG/main" r:embed="rId12"/>
              </a:ext>
            </a:extLst>
          </a:blip>
          <a:srcRect/>
          <a:stretch>
            <a:fillRect l="-1000" r="-1000"/>
          </a:stretch>
        </a:blipFill>
      </dgm:spPr>
      <dgm:extLst>
        <a:ext uri="{E40237B7-FDA0-4F09-8148-C483321AD2D9}">
          <dgm14:cNvPr xmlns:dgm14="http://schemas.microsoft.com/office/drawing/2010/diagram" id="0" name="" descr="Clipboard with solid fill"/>
        </a:ext>
      </dgm:extLst>
    </dgm:pt>
  </dgm:ptLst>
  <dgm:cxnLst>
    <dgm:cxn modelId="{CF237D02-B9A3-452E-8DB9-094F8FC1DAB4}" srcId="{6B265C0C-63D6-4BB2-9A12-0FCC94282FAA}" destId="{2D0C5769-FE40-4604-83F6-6F131B437556}" srcOrd="5" destOrd="0" parTransId="{D9F3760C-40D5-45BF-B36D-05251A18D52B}" sibTransId="{16CE95F7-7DBB-47D0-A507-9D75FA8828F5}"/>
    <dgm:cxn modelId="{3BD16006-DA2D-4970-B09A-FF30BF950547}" type="presOf" srcId="{2D0C5769-FE40-4604-83F6-6F131B437556}" destId="{5E2093B6-CC43-4816-A89C-1DD066C71563}" srcOrd="0" destOrd="0" presId="urn:microsoft.com/office/officeart/2008/layout/AlternatingPictureBlocks"/>
    <dgm:cxn modelId="{C1879E1A-83D8-4DBF-9A3D-B26C72494160}" type="presOf" srcId="{099E1483-99B8-4C47-9B3A-8BCD39B96DFD}" destId="{64D94E16-4FD9-4EA2-A120-A8206A34CAED}" srcOrd="0" destOrd="0" presId="urn:microsoft.com/office/officeart/2008/layout/AlternatingPictureBlocks"/>
    <dgm:cxn modelId="{BF11C144-E087-42CF-B4A5-261BA04024D3}" srcId="{6B265C0C-63D6-4BB2-9A12-0FCC94282FAA}" destId="{13430C91-C0BF-441C-940E-0BDC6ABD3C62}" srcOrd="0" destOrd="0" parTransId="{5E5F4D24-B260-4A94-A2AF-AFE5D3204A6C}" sibTransId="{6705C1F4-AC3D-447D-90DB-D041B53D50FE}"/>
    <dgm:cxn modelId="{F304F371-D194-4198-B93F-F5C09754549E}" type="presOf" srcId="{13430C91-C0BF-441C-940E-0BDC6ABD3C62}" destId="{EDFE7A92-1A9E-45C1-89DE-F8CDA04299D9}" srcOrd="0" destOrd="0" presId="urn:microsoft.com/office/officeart/2008/layout/AlternatingPictureBlocks"/>
    <dgm:cxn modelId="{5918F155-782B-4D82-B982-0AD9A5FA69BD}" srcId="{6B265C0C-63D6-4BB2-9A12-0FCC94282FAA}" destId="{E47359E1-AC00-4F5E-B3D3-B9D29B5BF6C4}" srcOrd="3" destOrd="0" parTransId="{FA28CE09-E041-499E-939F-17769346C86D}" sibTransId="{DFB03838-DB86-42D2-922F-339289ECCFFD}"/>
    <dgm:cxn modelId="{1254D294-0F9C-49DC-BC5A-2955AE2575FB}" type="presOf" srcId="{6B265C0C-63D6-4BB2-9A12-0FCC94282FAA}" destId="{499CC948-82D0-4D23-8B10-CF42911E9436}" srcOrd="0" destOrd="0" presId="urn:microsoft.com/office/officeart/2008/layout/AlternatingPictureBlocks"/>
    <dgm:cxn modelId="{2C1C5BB0-B8FF-4204-A3D4-194F8B4C867B}" type="presOf" srcId="{E47359E1-AC00-4F5E-B3D3-B9D29B5BF6C4}" destId="{5234BE81-654C-4206-99C0-B197E11B908F}" srcOrd="0" destOrd="0" presId="urn:microsoft.com/office/officeart/2008/layout/AlternatingPictureBlocks"/>
    <dgm:cxn modelId="{3A895FC3-FD26-43C9-8FC0-EEFEFA408C5E}" srcId="{6B265C0C-63D6-4BB2-9A12-0FCC94282FAA}" destId="{099E1483-99B8-4C47-9B3A-8BCD39B96DFD}" srcOrd="1" destOrd="0" parTransId="{77FE986B-987C-41CB-A715-D82D62A80132}" sibTransId="{DB2020AD-6D5D-4323-9E1D-68F43BDA93E8}"/>
    <dgm:cxn modelId="{7E0ABADC-954F-4B7B-82AD-F2155D8D37D8}" srcId="{6B265C0C-63D6-4BB2-9A12-0FCC94282FAA}" destId="{E27BE210-C1CF-4ADD-9B36-CDE3C8BF73F0}" srcOrd="2" destOrd="0" parTransId="{6E1C524A-43FC-4F5C-A1B9-7E2DB7DF961B}" sibTransId="{8BD0ABF9-2B63-4553-AE99-300981CBA140}"/>
    <dgm:cxn modelId="{34077BE1-DBFB-435D-9A7D-07E93CA368DA}" type="presOf" srcId="{E27BE210-C1CF-4ADD-9B36-CDE3C8BF73F0}" destId="{E8BD5889-4F83-4F3B-A765-3504495A6C32}" srcOrd="0" destOrd="0" presId="urn:microsoft.com/office/officeart/2008/layout/AlternatingPictureBlocks"/>
    <dgm:cxn modelId="{561BACF0-4B61-4984-AAAB-6ED13BB9104B}" type="presOf" srcId="{FBE0556C-A124-4916-8B37-174A0746E844}" destId="{CE24FEE5-60EF-48FD-B606-CE0FD4B1F52F}" srcOrd="0" destOrd="0" presId="urn:microsoft.com/office/officeart/2008/layout/AlternatingPictureBlocks"/>
    <dgm:cxn modelId="{B65DEEF8-4E72-43FA-BB73-FFAD06195727}" srcId="{6B265C0C-63D6-4BB2-9A12-0FCC94282FAA}" destId="{FBE0556C-A124-4916-8B37-174A0746E844}" srcOrd="4" destOrd="0" parTransId="{D8D90151-4030-42BD-B3D5-7C6EF7C318AB}" sibTransId="{77BB0F8D-14E0-4BBF-AC16-AD48E832B918}"/>
    <dgm:cxn modelId="{11F53288-12F9-442A-9214-0829E31E780E}" type="presParOf" srcId="{499CC948-82D0-4D23-8B10-CF42911E9436}" destId="{4B96FA36-3CBB-4D45-AADB-4ED809B368AB}" srcOrd="0" destOrd="0" presId="urn:microsoft.com/office/officeart/2008/layout/AlternatingPictureBlocks"/>
    <dgm:cxn modelId="{C7DCA015-D23F-4CB9-8F76-29542ABDCAD7}" type="presParOf" srcId="{4B96FA36-3CBB-4D45-AADB-4ED809B368AB}" destId="{EDFE7A92-1A9E-45C1-89DE-F8CDA04299D9}" srcOrd="0" destOrd="0" presId="urn:microsoft.com/office/officeart/2008/layout/AlternatingPictureBlocks"/>
    <dgm:cxn modelId="{23088C61-17BF-4636-80C3-65E7E6E688D0}" type="presParOf" srcId="{4B96FA36-3CBB-4D45-AADB-4ED809B368AB}" destId="{48174DBB-1F7D-46D4-80EB-CCF8F30D7536}" srcOrd="1" destOrd="0" presId="urn:microsoft.com/office/officeart/2008/layout/AlternatingPictureBlocks"/>
    <dgm:cxn modelId="{5D234351-7728-4424-9335-502731615733}" type="presParOf" srcId="{499CC948-82D0-4D23-8B10-CF42911E9436}" destId="{BDB8172E-E318-43D6-9549-7B1FBB0E09F8}" srcOrd="1" destOrd="0" presId="urn:microsoft.com/office/officeart/2008/layout/AlternatingPictureBlocks"/>
    <dgm:cxn modelId="{7C89D66C-16D5-44A2-B5EC-58013F9DE52D}" type="presParOf" srcId="{499CC948-82D0-4D23-8B10-CF42911E9436}" destId="{9BC6CCA6-714A-4003-A326-AF29CD390D50}" srcOrd="2" destOrd="0" presId="urn:microsoft.com/office/officeart/2008/layout/AlternatingPictureBlocks"/>
    <dgm:cxn modelId="{691B5CAB-EB85-4EE3-A149-4A2FC6CC5408}" type="presParOf" srcId="{9BC6CCA6-714A-4003-A326-AF29CD390D50}" destId="{64D94E16-4FD9-4EA2-A120-A8206A34CAED}" srcOrd="0" destOrd="0" presId="urn:microsoft.com/office/officeart/2008/layout/AlternatingPictureBlocks"/>
    <dgm:cxn modelId="{7E5A0D57-172B-4F35-8260-85D9A9F5C43B}" type="presParOf" srcId="{9BC6CCA6-714A-4003-A326-AF29CD390D50}" destId="{DADBE647-CC4E-4D35-9D2B-4C1D71037414}" srcOrd="1" destOrd="0" presId="urn:microsoft.com/office/officeart/2008/layout/AlternatingPictureBlocks"/>
    <dgm:cxn modelId="{573981E6-D8AD-4330-B831-22892CEBC245}" type="presParOf" srcId="{499CC948-82D0-4D23-8B10-CF42911E9436}" destId="{87110A0B-DB1C-4829-91C0-17F203CEAB05}" srcOrd="3" destOrd="0" presId="urn:microsoft.com/office/officeart/2008/layout/AlternatingPictureBlocks"/>
    <dgm:cxn modelId="{AF46FCD5-E24C-41D1-B1F2-BF95C11B4BC6}" type="presParOf" srcId="{499CC948-82D0-4D23-8B10-CF42911E9436}" destId="{7D9FA95D-8BBF-4A3E-A838-D73C4A9F4940}" srcOrd="4" destOrd="0" presId="urn:microsoft.com/office/officeart/2008/layout/AlternatingPictureBlocks"/>
    <dgm:cxn modelId="{961E822D-A7E1-4D08-92D1-FE97F8E1CEA3}" type="presParOf" srcId="{7D9FA95D-8BBF-4A3E-A838-D73C4A9F4940}" destId="{E8BD5889-4F83-4F3B-A765-3504495A6C32}" srcOrd="0" destOrd="0" presId="urn:microsoft.com/office/officeart/2008/layout/AlternatingPictureBlocks"/>
    <dgm:cxn modelId="{2552F281-11EC-48FA-A324-898BD471BB38}" type="presParOf" srcId="{7D9FA95D-8BBF-4A3E-A838-D73C4A9F4940}" destId="{85D7EFF5-CD1D-4A12-A91A-B3CA2D09413E}" srcOrd="1" destOrd="0" presId="urn:microsoft.com/office/officeart/2008/layout/AlternatingPictureBlocks"/>
    <dgm:cxn modelId="{CBE782AC-3F96-4723-BB21-CBFC320273F3}" type="presParOf" srcId="{499CC948-82D0-4D23-8B10-CF42911E9436}" destId="{546C3B9F-E00F-42DE-ADFA-EF99E059441F}" srcOrd="5" destOrd="0" presId="urn:microsoft.com/office/officeart/2008/layout/AlternatingPictureBlocks"/>
    <dgm:cxn modelId="{861D8AD0-BCC7-41B7-A8B6-63177D97A5C4}" type="presParOf" srcId="{499CC948-82D0-4D23-8B10-CF42911E9436}" destId="{F92DE9C1-9418-45FD-B4C1-26D90034BA4D}" srcOrd="6" destOrd="0" presId="urn:microsoft.com/office/officeart/2008/layout/AlternatingPictureBlocks"/>
    <dgm:cxn modelId="{EF1D3E53-0FF0-456B-A901-6BB13F09CAE4}" type="presParOf" srcId="{F92DE9C1-9418-45FD-B4C1-26D90034BA4D}" destId="{5234BE81-654C-4206-99C0-B197E11B908F}" srcOrd="0" destOrd="0" presId="urn:microsoft.com/office/officeart/2008/layout/AlternatingPictureBlocks"/>
    <dgm:cxn modelId="{0C42D869-85B0-4B9A-817A-24A746BE9ECE}" type="presParOf" srcId="{F92DE9C1-9418-45FD-B4C1-26D90034BA4D}" destId="{6AA12CDF-8FC2-4B20-A1AA-FABF20D43F82}" srcOrd="1" destOrd="0" presId="urn:microsoft.com/office/officeart/2008/layout/AlternatingPictureBlocks"/>
    <dgm:cxn modelId="{D9CD3F17-6CD2-4729-A22E-55FA3C342E27}" type="presParOf" srcId="{499CC948-82D0-4D23-8B10-CF42911E9436}" destId="{3E6B528C-033B-47D2-8E1A-150FBC4AC00E}" srcOrd="7" destOrd="0" presId="urn:microsoft.com/office/officeart/2008/layout/AlternatingPictureBlocks"/>
    <dgm:cxn modelId="{D03EE43F-262D-4C56-80F6-80A62BC567D3}" type="presParOf" srcId="{499CC948-82D0-4D23-8B10-CF42911E9436}" destId="{6AB868C7-77E8-4C03-9761-FC773EA9DD83}" srcOrd="8" destOrd="0" presId="urn:microsoft.com/office/officeart/2008/layout/AlternatingPictureBlocks"/>
    <dgm:cxn modelId="{D0A8D900-52B7-4FAA-9D75-009EA9DA6EF7}" type="presParOf" srcId="{6AB868C7-77E8-4C03-9761-FC773EA9DD83}" destId="{CE24FEE5-60EF-48FD-B606-CE0FD4B1F52F}" srcOrd="0" destOrd="0" presId="urn:microsoft.com/office/officeart/2008/layout/AlternatingPictureBlocks"/>
    <dgm:cxn modelId="{D5EA0AB8-B374-432B-ACC3-5E9026E1AA67}" type="presParOf" srcId="{6AB868C7-77E8-4C03-9761-FC773EA9DD83}" destId="{2B5CC604-B2B4-4776-826D-46F7F76E172D}" srcOrd="1" destOrd="0" presId="urn:microsoft.com/office/officeart/2008/layout/AlternatingPictureBlocks"/>
    <dgm:cxn modelId="{0D70F690-C166-4CA6-9E53-E52F88245697}" type="presParOf" srcId="{499CC948-82D0-4D23-8B10-CF42911E9436}" destId="{01788FA6-D6CA-4052-9553-7172A79A53E7}" srcOrd="9" destOrd="0" presId="urn:microsoft.com/office/officeart/2008/layout/AlternatingPictureBlocks"/>
    <dgm:cxn modelId="{4779721A-DEA1-4F20-9F7B-F47899C023A4}" type="presParOf" srcId="{499CC948-82D0-4D23-8B10-CF42911E9436}" destId="{B6625577-56FF-4947-B65D-EB17D54BC1AD}" srcOrd="10" destOrd="0" presId="urn:microsoft.com/office/officeart/2008/layout/AlternatingPictureBlocks"/>
    <dgm:cxn modelId="{45821151-5B6D-47E2-B7DA-11D45FE49BCE}" type="presParOf" srcId="{B6625577-56FF-4947-B65D-EB17D54BC1AD}" destId="{5E2093B6-CC43-4816-A89C-1DD066C71563}" srcOrd="0" destOrd="0" presId="urn:microsoft.com/office/officeart/2008/layout/AlternatingPictureBlocks"/>
    <dgm:cxn modelId="{69FE2CB4-70F9-453D-82E2-CB3AFDA6DE9A}" type="presParOf" srcId="{B6625577-56FF-4947-B65D-EB17D54BC1AD}" destId="{C73F51F3-FD5E-44F2-919A-A4F89361D81E}" srcOrd="1" destOrd="0" presId="urn:microsoft.com/office/officeart/2008/layout/AlternatingPictureBlock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6EB2BE-2F0D-404F-B81A-92074AC7AAD8}">
      <dsp:nvSpPr>
        <dsp:cNvPr id="0" name=""/>
        <dsp:cNvSpPr/>
      </dsp:nvSpPr>
      <dsp:spPr>
        <a:xfrm>
          <a:off x="2686481" y="674450"/>
          <a:ext cx="520613" cy="91440"/>
        </a:xfrm>
        <a:custGeom>
          <a:avLst/>
          <a:gdLst/>
          <a:ahLst/>
          <a:cxnLst/>
          <a:rect l="0" t="0" r="0" b="0"/>
          <a:pathLst>
            <a:path>
              <a:moveTo>
                <a:pt x="0" y="45720"/>
              </a:moveTo>
              <a:lnTo>
                <a:pt x="520613"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933008" y="717414"/>
        <a:ext cx="27560" cy="5512"/>
      </dsp:txXfrm>
    </dsp:sp>
    <dsp:sp modelId="{87D3A87D-CDE2-4E44-AA76-C3EDE930A7F7}">
      <dsp:nvSpPr>
        <dsp:cNvPr id="0" name=""/>
        <dsp:cNvSpPr/>
      </dsp:nvSpPr>
      <dsp:spPr>
        <a:xfrm>
          <a:off x="291699" y="1196"/>
          <a:ext cx="2396581" cy="1437949"/>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0904" tIns="120904" rIns="120904" bIns="120904" numCol="1" spcCol="1270" anchor="t" anchorCtr="0">
          <a:noAutofit/>
        </a:bodyPr>
        <a:lstStyle/>
        <a:p>
          <a:pPr marL="0" lvl="0" indent="0" algn="l" defTabSz="755650">
            <a:lnSpc>
              <a:spcPct val="90000"/>
            </a:lnSpc>
            <a:spcBef>
              <a:spcPct val="0"/>
            </a:spcBef>
            <a:spcAft>
              <a:spcPct val="35000"/>
            </a:spcAft>
            <a:buNone/>
          </a:pPr>
          <a:r>
            <a:rPr lang="en-IN" sz="1700" kern="1200" dirty="0"/>
            <a:t>Problem Identification Via Academic Clinical Exposure </a:t>
          </a:r>
        </a:p>
        <a:p>
          <a:pPr marL="114300" lvl="1" indent="-114300" algn="l" defTabSz="577850">
            <a:lnSpc>
              <a:spcPct val="90000"/>
            </a:lnSpc>
            <a:spcBef>
              <a:spcPct val="0"/>
            </a:spcBef>
            <a:spcAft>
              <a:spcPct val="15000"/>
            </a:spcAft>
            <a:buChar char="•"/>
          </a:pPr>
          <a:r>
            <a:rPr lang="en-IN" sz="1300" kern="1200" dirty="0"/>
            <a:t>Observed Workflows , and staff reviews</a:t>
          </a:r>
        </a:p>
      </dsp:txBody>
      <dsp:txXfrm>
        <a:off x="291699" y="1196"/>
        <a:ext cx="2396581" cy="1437949"/>
      </dsp:txXfrm>
    </dsp:sp>
    <dsp:sp modelId="{30D32C34-8652-465D-8C99-5A34B9FF8016}">
      <dsp:nvSpPr>
        <dsp:cNvPr id="0" name=""/>
        <dsp:cNvSpPr/>
      </dsp:nvSpPr>
      <dsp:spPr>
        <a:xfrm>
          <a:off x="1489990" y="1437345"/>
          <a:ext cx="2947795" cy="520613"/>
        </a:xfrm>
        <a:custGeom>
          <a:avLst/>
          <a:gdLst/>
          <a:ahLst/>
          <a:cxnLst/>
          <a:rect l="0" t="0" r="0" b="0"/>
          <a:pathLst>
            <a:path>
              <a:moveTo>
                <a:pt x="2947795" y="0"/>
              </a:moveTo>
              <a:lnTo>
                <a:pt x="2947795" y="277406"/>
              </a:lnTo>
              <a:lnTo>
                <a:pt x="0" y="277406"/>
              </a:lnTo>
              <a:lnTo>
                <a:pt x="0" y="520613"/>
              </a:lnTo>
            </a:path>
          </a:pathLst>
        </a:custGeom>
        <a:noFill/>
        <a:ln w="12700" cap="flat" cmpd="sng" algn="ctr">
          <a:solidFill>
            <a:schemeClr val="accent2">
              <a:hueOff val="1610903"/>
              <a:satOff val="-4623"/>
              <a:lumOff val="-740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888916" y="1694896"/>
        <a:ext cx="149944" cy="5512"/>
      </dsp:txXfrm>
    </dsp:sp>
    <dsp:sp modelId="{9B0A87F0-CCFF-4B79-A2B4-19974423E18F}">
      <dsp:nvSpPr>
        <dsp:cNvPr id="0" name=""/>
        <dsp:cNvSpPr/>
      </dsp:nvSpPr>
      <dsp:spPr>
        <a:xfrm>
          <a:off x="3239495" y="1196"/>
          <a:ext cx="2396581" cy="1437949"/>
        </a:xfrm>
        <a:prstGeom prst="rect">
          <a:avLst/>
        </a:prstGeom>
        <a:gradFill rotWithShape="0">
          <a:gsLst>
            <a:gs pos="0">
              <a:schemeClr val="accent2">
                <a:hueOff val="1288723"/>
                <a:satOff val="-3699"/>
                <a:lumOff val="-5922"/>
                <a:alphaOff val="0"/>
                <a:lumMod val="110000"/>
                <a:satMod val="105000"/>
                <a:tint val="67000"/>
              </a:schemeClr>
            </a:gs>
            <a:gs pos="50000">
              <a:schemeClr val="accent2">
                <a:hueOff val="1288723"/>
                <a:satOff val="-3699"/>
                <a:lumOff val="-5922"/>
                <a:alphaOff val="0"/>
                <a:lumMod val="105000"/>
                <a:satMod val="103000"/>
                <a:tint val="73000"/>
              </a:schemeClr>
            </a:gs>
            <a:gs pos="100000">
              <a:schemeClr val="accent2">
                <a:hueOff val="1288723"/>
                <a:satOff val="-3699"/>
                <a:lumOff val="-592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0904" tIns="120904" rIns="120904" bIns="120904" numCol="1" spcCol="1270" anchor="t" anchorCtr="0">
          <a:noAutofit/>
        </a:bodyPr>
        <a:lstStyle/>
        <a:p>
          <a:pPr marL="0" lvl="0" indent="0" algn="l" defTabSz="755650">
            <a:lnSpc>
              <a:spcPct val="90000"/>
            </a:lnSpc>
            <a:spcBef>
              <a:spcPct val="0"/>
            </a:spcBef>
            <a:spcAft>
              <a:spcPct val="35000"/>
            </a:spcAft>
            <a:buNone/>
          </a:pPr>
          <a:r>
            <a:rPr lang="en-IN" sz="1700" kern="1200" dirty="0"/>
            <a:t>Requirements &amp; scope definition</a:t>
          </a:r>
        </a:p>
        <a:p>
          <a:pPr marL="114300" lvl="1" indent="-114300" algn="l" defTabSz="577850">
            <a:lnSpc>
              <a:spcPct val="90000"/>
            </a:lnSpc>
            <a:spcBef>
              <a:spcPct val="0"/>
            </a:spcBef>
            <a:spcAft>
              <a:spcPct val="15000"/>
            </a:spcAft>
            <a:buChar char="•"/>
          </a:pPr>
          <a:r>
            <a:rPr lang="en-IN" sz="1300" kern="1200" dirty="0"/>
            <a:t>Stakeholder mapping, needs &amp; MVP</a:t>
          </a:r>
        </a:p>
      </dsp:txBody>
      <dsp:txXfrm>
        <a:off x="3239495" y="1196"/>
        <a:ext cx="2396581" cy="1437949"/>
      </dsp:txXfrm>
    </dsp:sp>
    <dsp:sp modelId="{9E7615C4-E0EA-48E1-87ED-BA27109CCD26}">
      <dsp:nvSpPr>
        <dsp:cNvPr id="0" name=""/>
        <dsp:cNvSpPr/>
      </dsp:nvSpPr>
      <dsp:spPr>
        <a:xfrm>
          <a:off x="2686481" y="2663613"/>
          <a:ext cx="520613" cy="91440"/>
        </a:xfrm>
        <a:custGeom>
          <a:avLst/>
          <a:gdLst/>
          <a:ahLst/>
          <a:cxnLst/>
          <a:rect l="0" t="0" r="0" b="0"/>
          <a:pathLst>
            <a:path>
              <a:moveTo>
                <a:pt x="0" y="45720"/>
              </a:moveTo>
              <a:lnTo>
                <a:pt x="520613" y="45720"/>
              </a:lnTo>
            </a:path>
          </a:pathLst>
        </a:custGeom>
        <a:noFill/>
        <a:ln w="12700" cap="flat" cmpd="sng" algn="ctr">
          <a:solidFill>
            <a:schemeClr val="accent2">
              <a:hueOff val="3221807"/>
              <a:satOff val="-9246"/>
              <a:lumOff val="-1480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933008" y="2706577"/>
        <a:ext cx="27560" cy="5512"/>
      </dsp:txXfrm>
    </dsp:sp>
    <dsp:sp modelId="{48C20963-9704-4906-A11C-8E2B147D344A}">
      <dsp:nvSpPr>
        <dsp:cNvPr id="0" name=""/>
        <dsp:cNvSpPr/>
      </dsp:nvSpPr>
      <dsp:spPr>
        <a:xfrm>
          <a:off x="291699" y="1990358"/>
          <a:ext cx="2396581" cy="1437949"/>
        </a:xfrm>
        <a:prstGeom prst="rect">
          <a:avLst/>
        </a:prstGeom>
        <a:gradFill rotWithShape="0">
          <a:gsLst>
            <a:gs pos="0">
              <a:schemeClr val="accent2">
                <a:hueOff val="2577445"/>
                <a:satOff val="-7397"/>
                <a:lumOff val="-11844"/>
                <a:alphaOff val="0"/>
                <a:lumMod val="110000"/>
                <a:satMod val="105000"/>
                <a:tint val="67000"/>
              </a:schemeClr>
            </a:gs>
            <a:gs pos="50000">
              <a:schemeClr val="accent2">
                <a:hueOff val="2577445"/>
                <a:satOff val="-7397"/>
                <a:lumOff val="-11844"/>
                <a:alphaOff val="0"/>
                <a:lumMod val="105000"/>
                <a:satMod val="103000"/>
                <a:tint val="73000"/>
              </a:schemeClr>
            </a:gs>
            <a:gs pos="100000">
              <a:schemeClr val="accent2">
                <a:hueOff val="2577445"/>
                <a:satOff val="-7397"/>
                <a:lumOff val="-1184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0904" tIns="120904" rIns="120904" bIns="120904" numCol="1" spcCol="1270" anchor="t" anchorCtr="0">
          <a:noAutofit/>
        </a:bodyPr>
        <a:lstStyle/>
        <a:p>
          <a:pPr marL="0" lvl="0" indent="0" algn="l" defTabSz="755650">
            <a:lnSpc>
              <a:spcPct val="90000"/>
            </a:lnSpc>
            <a:spcBef>
              <a:spcPct val="0"/>
            </a:spcBef>
            <a:spcAft>
              <a:spcPct val="35000"/>
            </a:spcAft>
            <a:buNone/>
          </a:pPr>
          <a:r>
            <a:rPr lang="en-IN" sz="1700" kern="1200" dirty="0"/>
            <a:t>UI Designs &amp; Wireframes </a:t>
          </a:r>
        </a:p>
        <a:p>
          <a:pPr marL="114300" lvl="1" indent="-114300" algn="l" defTabSz="577850">
            <a:lnSpc>
              <a:spcPct val="90000"/>
            </a:lnSpc>
            <a:spcBef>
              <a:spcPct val="0"/>
            </a:spcBef>
            <a:spcAft>
              <a:spcPct val="15000"/>
            </a:spcAft>
            <a:buChar char="•"/>
          </a:pPr>
          <a:r>
            <a:rPr lang="en-IN" sz="1300" kern="1200" dirty="0"/>
            <a:t>Tools - Figma </a:t>
          </a:r>
        </a:p>
      </dsp:txBody>
      <dsp:txXfrm>
        <a:off x="291699" y="1990358"/>
        <a:ext cx="2396581" cy="1437949"/>
      </dsp:txXfrm>
    </dsp:sp>
    <dsp:sp modelId="{4EB23928-612C-43DC-A968-3EE243E97033}">
      <dsp:nvSpPr>
        <dsp:cNvPr id="0" name=""/>
        <dsp:cNvSpPr/>
      </dsp:nvSpPr>
      <dsp:spPr>
        <a:xfrm>
          <a:off x="1489990" y="3426508"/>
          <a:ext cx="2947795" cy="520613"/>
        </a:xfrm>
        <a:custGeom>
          <a:avLst/>
          <a:gdLst/>
          <a:ahLst/>
          <a:cxnLst/>
          <a:rect l="0" t="0" r="0" b="0"/>
          <a:pathLst>
            <a:path>
              <a:moveTo>
                <a:pt x="2947795" y="0"/>
              </a:moveTo>
              <a:lnTo>
                <a:pt x="2947795" y="277406"/>
              </a:lnTo>
              <a:lnTo>
                <a:pt x="0" y="277406"/>
              </a:lnTo>
              <a:lnTo>
                <a:pt x="0" y="520613"/>
              </a:lnTo>
            </a:path>
          </a:pathLst>
        </a:custGeom>
        <a:noFill/>
        <a:ln w="12700" cap="flat" cmpd="sng" algn="ctr">
          <a:solidFill>
            <a:schemeClr val="accent2">
              <a:hueOff val="4832710"/>
              <a:satOff val="-13870"/>
              <a:lumOff val="-22207"/>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888916" y="3684058"/>
        <a:ext cx="149944" cy="5512"/>
      </dsp:txXfrm>
    </dsp:sp>
    <dsp:sp modelId="{5E62F485-66D5-46BF-AD4B-218DF03D9057}">
      <dsp:nvSpPr>
        <dsp:cNvPr id="0" name=""/>
        <dsp:cNvSpPr/>
      </dsp:nvSpPr>
      <dsp:spPr>
        <a:xfrm>
          <a:off x="3239495" y="1990358"/>
          <a:ext cx="2396581" cy="1437949"/>
        </a:xfrm>
        <a:prstGeom prst="rect">
          <a:avLst/>
        </a:prstGeom>
        <a:gradFill rotWithShape="0">
          <a:gsLst>
            <a:gs pos="0">
              <a:schemeClr val="accent2">
                <a:hueOff val="3866169"/>
                <a:satOff val="-11096"/>
                <a:lumOff val="-17765"/>
                <a:alphaOff val="0"/>
                <a:lumMod val="110000"/>
                <a:satMod val="105000"/>
                <a:tint val="67000"/>
              </a:schemeClr>
            </a:gs>
            <a:gs pos="50000">
              <a:schemeClr val="accent2">
                <a:hueOff val="3866169"/>
                <a:satOff val="-11096"/>
                <a:lumOff val="-17765"/>
                <a:alphaOff val="0"/>
                <a:lumMod val="105000"/>
                <a:satMod val="103000"/>
                <a:tint val="73000"/>
              </a:schemeClr>
            </a:gs>
            <a:gs pos="100000">
              <a:schemeClr val="accent2">
                <a:hueOff val="3866169"/>
                <a:satOff val="-11096"/>
                <a:lumOff val="-17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0904" tIns="120904" rIns="120904" bIns="120904" numCol="1" spcCol="1270" anchor="t" anchorCtr="0">
          <a:noAutofit/>
        </a:bodyPr>
        <a:lstStyle/>
        <a:p>
          <a:pPr marL="0" lvl="0" indent="0" algn="l" defTabSz="755650">
            <a:lnSpc>
              <a:spcPct val="90000"/>
            </a:lnSpc>
            <a:spcBef>
              <a:spcPct val="0"/>
            </a:spcBef>
            <a:spcAft>
              <a:spcPct val="35000"/>
            </a:spcAft>
            <a:buNone/>
          </a:pPr>
          <a:r>
            <a:rPr lang="en-IN" sz="1700" kern="1200" dirty="0"/>
            <a:t>Data Simulation &amp; Preparation</a:t>
          </a:r>
        </a:p>
        <a:p>
          <a:pPr marL="114300" lvl="1" indent="-114300" algn="l" defTabSz="577850">
            <a:lnSpc>
              <a:spcPct val="90000"/>
            </a:lnSpc>
            <a:spcBef>
              <a:spcPct val="0"/>
            </a:spcBef>
            <a:spcAft>
              <a:spcPct val="15000"/>
            </a:spcAft>
            <a:buChar char="•"/>
          </a:pPr>
          <a:r>
            <a:rPr lang="en-IN" sz="1300" kern="1200" dirty="0"/>
            <a:t>Tools - Mock data – clinical visits, web source, Excel</a:t>
          </a:r>
        </a:p>
      </dsp:txBody>
      <dsp:txXfrm>
        <a:off x="3239495" y="1990358"/>
        <a:ext cx="2396581" cy="1437949"/>
      </dsp:txXfrm>
    </dsp:sp>
    <dsp:sp modelId="{067C8338-C844-40E7-8B26-2B93D78C0773}">
      <dsp:nvSpPr>
        <dsp:cNvPr id="0" name=""/>
        <dsp:cNvSpPr/>
      </dsp:nvSpPr>
      <dsp:spPr>
        <a:xfrm>
          <a:off x="2686481" y="4652776"/>
          <a:ext cx="520613" cy="91440"/>
        </a:xfrm>
        <a:custGeom>
          <a:avLst/>
          <a:gdLst/>
          <a:ahLst/>
          <a:cxnLst/>
          <a:rect l="0" t="0" r="0" b="0"/>
          <a:pathLst>
            <a:path>
              <a:moveTo>
                <a:pt x="0" y="45720"/>
              </a:moveTo>
              <a:lnTo>
                <a:pt x="520613" y="45720"/>
              </a:lnTo>
            </a:path>
          </a:pathLst>
        </a:custGeom>
        <a:noFill/>
        <a:ln w="12700" cap="flat" cmpd="sng" algn="ctr">
          <a:solidFill>
            <a:schemeClr val="accent2">
              <a:hueOff val="6443614"/>
              <a:satOff val="-18493"/>
              <a:lumOff val="-2960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933008" y="4695740"/>
        <a:ext cx="27560" cy="5512"/>
      </dsp:txXfrm>
    </dsp:sp>
    <dsp:sp modelId="{612F05B9-4688-4A8B-A733-A2C69FDA903B}">
      <dsp:nvSpPr>
        <dsp:cNvPr id="0" name=""/>
        <dsp:cNvSpPr/>
      </dsp:nvSpPr>
      <dsp:spPr>
        <a:xfrm>
          <a:off x="291699" y="3979521"/>
          <a:ext cx="2396581" cy="1437949"/>
        </a:xfrm>
        <a:prstGeom prst="rect">
          <a:avLst/>
        </a:prstGeom>
        <a:gradFill rotWithShape="0">
          <a:gsLst>
            <a:gs pos="0">
              <a:schemeClr val="accent2">
                <a:hueOff val="5154891"/>
                <a:satOff val="-14794"/>
                <a:lumOff val="-23687"/>
                <a:alphaOff val="0"/>
                <a:lumMod val="110000"/>
                <a:satMod val="105000"/>
                <a:tint val="67000"/>
              </a:schemeClr>
            </a:gs>
            <a:gs pos="50000">
              <a:schemeClr val="accent2">
                <a:hueOff val="5154891"/>
                <a:satOff val="-14794"/>
                <a:lumOff val="-23687"/>
                <a:alphaOff val="0"/>
                <a:lumMod val="105000"/>
                <a:satMod val="103000"/>
                <a:tint val="73000"/>
              </a:schemeClr>
            </a:gs>
            <a:gs pos="100000">
              <a:schemeClr val="accent2">
                <a:hueOff val="5154891"/>
                <a:satOff val="-14794"/>
                <a:lumOff val="-2368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0904" tIns="120904" rIns="120904" bIns="120904" numCol="1" spcCol="1270" anchor="t" anchorCtr="0">
          <a:noAutofit/>
        </a:bodyPr>
        <a:lstStyle/>
        <a:p>
          <a:pPr marL="0" lvl="0" indent="0" algn="l" defTabSz="755650">
            <a:lnSpc>
              <a:spcPct val="90000"/>
            </a:lnSpc>
            <a:spcBef>
              <a:spcPct val="0"/>
            </a:spcBef>
            <a:spcAft>
              <a:spcPct val="35000"/>
            </a:spcAft>
            <a:buNone/>
          </a:pPr>
          <a:r>
            <a:rPr lang="en-IN" sz="1700" kern="1200" dirty="0"/>
            <a:t>Dashboard development &amp; KPI Visualisation</a:t>
          </a:r>
        </a:p>
        <a:p>
          <a:pPr marL="114300" lvl="1" indent="-114300" algn="l" defTabSz="577850">
            <a:lnSpc>
              <a:spcPct val="90000"/>
            </a:lnSpc>
            <a:spcBef>
              <a:spcPct val="0"/>
            </a:spcBef>
            <a:spcAft>
              <a:spcPct val="15000"/>
            </a:spcAft>
            <a:buChar char="•"/>
          </a:pPr>
          <a:r>
            <a:rPr lang="en-IN" sz="1300" kern="1200" dirty="0"/>
            <a:t>Tools – </a:t>
          </a:r>
          <a:r>
            <a:rPr lang="en-IN" sz="1300" kern="1200" dirty="0" err="1"/>
            <a:t>PowerBI</a:t>
          </a:r>
          <a:endParaRPr lang="en-IN" sz="1300" kern="1200" dirty="0"/>
        </a:p>
      </dsp:txBody>
      <dsp:txXfrm>
        <a:off x="291699" y="3979521"/>
        <a:ext cx="2396581" cy="1437949"/>
      </dsp:txXfrm>
    </dsp:sp>
    <dsp:sp modelId="{6F6ACED6-1BC4-4A3E-8C2B-249DE54B7524}">
      <dsp:nvSpPr>
        <dsp:cNvPr id="0" name=""/>
        <dsp:cNvSpPr/>
      </dsp:nvSpPr>
      <dsp:spPr>
        <a:xfrm>
          <a:off x="3239495" y="3979521"/>
          <a:ext cx="2396581" cy="1437949"/>
        </a:xfrm>
        <a:prstGeom prst="rect">
          <a:avLst/>
        </a:prstGeom>
        <a:gradFill rotWithShape="0">
          <a:gsLst>
            <a:gs pos="0">
              <a:schemeClr val="accent2">
                <a:hueOff val="6443614"/>
                <a:satOff val="-18493"/>
                <a:lumOff val="-29609"/>
                <a:alphaOff val="0"/>
                <a:lumMod val="110000"/>
                <a:satMod val="105000"/>
                <a:tint val="67000"/>
              </a:schemeClr>
            </a:gs>
            <a:gs pos="50000">
              <a:schemeClr val="accent2">
                <a:hueOff val="6443614"/>
                <a:satOff val="-18493"/>
                <a:lumOff val="-29609"/>
                <a:alphaOff val="0"/>
                <a:lumMod val="105000"/>
                <a:satMod val="103000"/>
                <a:tint val="73000"/>
              </a:schemeClr>
            </a:gs>
            <a:gs pos="100000">
              <a:schemeClr val="accent2">
                <a:hueOff val="6443614"/>
                <a:satOff val="-18493"/>
                <a:lumOff val="-29609"/>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0904" tIns="120904" rIns="120904" bIns="120904" numCol="1" spcCol="1270" anchor="t" anchorCtr="0">
          <a:noAutofit/>
        </a:bodyPr>
        <a:lstStyle/>
        <a:p>
          <a:pPr marL="0" lvl="0" indent="0" algn="l" defTabSz="755650">
            <a:lnSpc>
              <a:spcPct val="90000"/>
            </a:lnSpc>
            <a:spcBef>
              <a:spcPct val="0"/>
            </a:spcBef>
            <a:spcAft>
              <a:spcPct val="35000"/>
            </a:spcAft>
            <a:buNone/>
          </a:pPr>
          <a:r>
            <a:rPr lang="en-IN" sz="1700" kern="1200" dirty="0"/>
            <a:t>Reporting &amp; documentation</a:t>
          </a:r>
        </a:p>
        <a:p>
          <a:pPr marL="114300" lvl="1" indent="-114300" algn="l" defTabSz="577850">
            <a:lnSpc>
              <a:spcPct val="90000"/>
            </a:lnSpc>
            <a:spcBef>
              <a:spcPct val="0"/>
            </a:spcBef>
            <a:spcAft>
              <a:spcPct val="15000"/>
            </a:spcAft>
            <a:buChar char="•"/>
          </a:pPr>
          <a:r>
            <a:rPr lang="en-IN" sz="1300" kern="1200" dirty="0"/>
            <a:t>Tools – MS </a:t>
          </a:r>
          <a:r>
            <a:rPr lang="en-IN" sz="1300" kern="1200" dirty="0" err="1"/>
            <a:t>Powerpoint</a:t>
          </a:r>
          <a:r>
            <a:rPr lang="en-IN" sz="1300" kern="1200" dirty="0"/>
            <a:t>, </a:t>
          </a:r>
          <a:r>
            <a:rPr lang="en-IN" sz="1300" kern="1200" dirty="0" err="1"/>
            <a:t>Github</a:t>
          </a:r>
          <a:endParaRPr lang="en-IN" sz="1300" kern="1200" dirty="0"/>
        </a:p>
      </dsp:txBody>
      <dsp:txXfrm>
        <a:off x="3239495" y="3979521"/>
        <a:ext cx="2396581" cy="14379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716C40-E796-4658-99B1-C06CA886833B}">
      <dsp:nvSpPr>
        <dsp:cNvPr id="0" name=""/>
        <dsp:cNvSpPr/>
      </dsp:nvSpPr>
      <dsp:spPr>
        <a:xfrm>
          <a:off x="845929" y="639190"/>
          <a:ext cx="4260483" cy="4260483"/>
        </a:xfrm>
        <a:prstGeom prst="blockArc">
          <a:avLst>
            <a:gd name="adj1" fmla="val 10800000"/>
            <a:gd name="adj2" fmla="val 16200000"/>
            <a:gd name="adj3" fmla="val 4642"/>
          </a:avLst>
        </a:prstGeom>
        <a:gradFill rotWithShape="0">
          <a:gsLst>
            <a:gs pos="0">
              <a:schemeClr val="accent2">
                <a:hueOff val="6443614"/>
                <a:satOff val="-18493"/>
                <a:lumOff val="-29609"/>
                <a:alphaOff val="0"/>
                <a:lumMod val="110000"/>
                <a:satMod val="105000"/>
                <a:tint val="67000"/>
              </a:schemeClr>
            </a:gs>
            <a:gs pos="50000">
              <a:schemeClr val="accent2">
                <a:hueOff val="6443614"/>
                <a:satOff val="-18493"/>
                <a:lumOff val="-29609"/>
                <a:alphaOff val="0"/>
                <a:lumMod val="105000"/>
                <a:satMod val="103000"/>
                <a:tint val="73000"/>
              </a:schemeClr>
            </a:gs>
            <a:gs pos="100000">
              <a:schemeClr val="accent2">
                <a:hueOff val="6443614"/>
                <a:satOff val="-18493"/>
                <a:lumOff val="-29609"/>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sp>
    <dsp:sp modelId="{AA1C5590-4F18-4BF3-9BDB-A89F09B8D732}">
      <dsp:nvSpPr>
        <dsp:cNvPr id="0" name=""/>
        <dsp:cNvSpPr/>
      </dsp:nvSpPr>
      <dsp:spPr>
        <a:xfrm>
          <a:off x="845929" y="639190"/>
          <a:ext cx="4260483" cy="4260483"/>
        </a:xfrm>
        <a:prstGeom prst="blockArc">
          <a:avLst>
            <a:gd name="adj1" fmla="val 5400000"/>
            <a:gd name="adj2" fmla="val 10800000"/>
            <a:gd name="adj3" fmla="val 4642"/>
          </a:avLst>
        </a:prstGeom>
        <a:gradFill rotWithShape="0">
          <a:gsLst>
            <a:gs pos="0">
              <a:schemeClr val="accent2">
                <a:hueOff val="4295743"/>
                <a:satOff val="-12329"/>
                <a:lumOff val="-19739"/>
                <a:alphaOff val="0"/>
                <a:lumMod val="110000"/>
                <a:satMod val="105000"/>
                <a:tint val="67000"/>
              </a:schemeClr>
            </a:gs>
            <a:gs pos="50000">
              <a:schemeClr val="accent2">
                <a:hueOff val="4295743"/>
                <a:satOff val="-12329"/>
                <a:lumOff val="-19739"/>
                <a:alphaOff val="0"/>
                <a:lumMod val="105000"/>
                <a:satMod val="103000"/>
                <a:tint val="73000"/>
              </a:schemeClr>
            </a:gs>
            <a:gs pos="100000">
              <a:schemeClr val="accent2">
                <a:hueOff val="4295743"/>
                <a:satOff val="-12329"/>
                <a:lumOff val="-19739"/>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sp>
    <dsp:sp modelId="{0112CA93-54B7-45D8-8C38-92AEFBF9576C}">
      <dsp:nvSpPr>
        <dsp:cNvPr id="0" name=""/>
        <dsp:cNvSpPr/>
      </dsp:nvSpPr>
      <dsp:spPr>
        <a:xfrm>
          <a:off x="845929" y="639190"/>
          <a:ext cx="4260483" cy="4260483"/>
        </a:xfrm>
        <a:prstGeom prst="blockArc">
          <a:avLst>
            <a:gd name="adj1" fmla="val 0"/>
            <a:gd name="adj2" fmla="val 5400000"/>
            <a:gd name="adj3" fmla="val 4642"/>
          </a:avLst>
        </a:prstGeom>
        <a:gradFill rotWithShape="0">
          <a:gsLst>
            <a:gs pos="0">
              <a:schemeClr val="accent2">
                <a:hueOff val="2147871"/>
                <a:satOff val="-6164"/>
                <a:lumOff val="-9870"/>
                <a:alphaOff val="0"/>
                <a:lumMod val="110000"/>
                <a:satMod val="105000"/>
                <a:tint val="67000"/>
              </a:schemeClr>
            </a:gs>
            <a:gs pos="50000">
              <a:schemeClr val="accent2">
                <a:hueOff val="2147871"/>
                <a:satOff val="-6164"/>
                <a:lumOff val="-9870"/>
                <a:alphaOff val="0"/>
                <a:lumMod val="105000"/>
                <a:satMod val="103000"/>
                <a:tint val="73000"/>
              </a:schemeClr>
            </a:gs>
            <a:gs pos="100000">
              <a:schemeClr val="accent2">
                <a:hueOff val="2147871"/>
                <a:satOff val="-6164"/>
                <a:lumOff val="-987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sp>
    <dsp:sp modelId="{636DF7C9-D053-401E-BF6C-DA74E9B048E8}">
      <dsp:nvSpPr>
        <dsp:cNvPr id="0" name=""/>
        <dsp:cNvSpPr/>
      </dsp:nvSpPr>
      <dsp:spPr>
        <a:xfrm>
          <a:off x="845929" y="639190"/>
          <a:ext cx="4260483" cy="4260483"/>
        </a:xfrm>
        <a:prstGeom prst="blockArc">
          <a:avLst>
            <a:gd name="adj1" fmla="val 16200000"/>
            <a:gd name="adj2" fmla="val 0"/>
            <a:gd name="adj3" fmla="val 4642"/>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sp>
    <dsp:sp modelId="{60D2FE72-F9C1-4506-9CDF-77EB96347BB6}">
      <dsp:nvSpPr>
        <dsp:cNvPr id="0" name=""/>
        <dsp:cNvSpPr/>
      </dsp:nvSpPr>
      <dsp:spPr>
        <a:xfrm>
          <a:off x="1995255" y="1788516"/>
          <a:ext cx="1961831" cy="1961831"/>
        </a:xfrm>
        <a:prstGeom prst="ellipse">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IN" sz="1600" b="1" kern="1200" dirty="0"/>
            <a:t>Dashboard solution</a:t>
          </a:r>
        </a:p>
      </dsp:txBody>
      <dsp:txXfrm>
        <a:off x="2282558" y="2075819"/>
        <a:ext cx="1387225" cy="1387225"/>
      </dsp:txXfrm>
    </dsp:sp>
    <dsp:sp modelId="{49B06F5D-F428-4262-A1E5-80164B7D0302}">
      <dsp:nvSpPr>
        <dsp:cNvPr id="0" name=""/>
        <dsp:cNvSpPr/>
      </dsp:nvSpPr>
      <dsp:spPr>
        <a:xfrm>
          <a:off x="2289529" y="1987"/>
          <a:ext cx="1373282" cy="1373282"/>
        </a:xfrm>
        <a:prstGeom prst="ellipse">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0" kern="1200" dirty="0"/>
            <a:t>Schedule tasks based on device status</a:t>
          </a:r>
        </a:p>
      </dsp:txBody>
      <dsp:txXfrm>
        <a:off x="2490641" y="203099"/>
        <a:ext cx="971058" cy="971058"/>
      </dsp:txXfrm>
    </dsp:sp>
    <dsp:sp modelId="{CDFA1573-B7BA-4446-B9F6-F9008EAACA2B}">
      <dsp:nvSpPr>
        <dsp:cNvPr id="0" name=""/>
        <dsp:cNvSpPr/>
      </dsp:nvSpPr>
      <dsp:spPr>
        <a:xfrm>
          <a:off x="4370333" y="2082791"/>
          <a:ext cx="1373282" cy="1373282"/>
        </a:xfrm>
        <a:prstGeom prst="ellipse">
          <a:avLst/>
        </a:prstGeom>
        <a:gradFill rotWithShape="0">
          <a:gsLst>
            <a:gs pos="0">
              <a:schemeClr val="accent2">
                <a:hueOff val="2147871"/>
                <a:satOff val="-6164"/>
                <a:lumOff val="-9870"/>
                <a:alphaOff val="0"/>
                <a:lumMod val="110000"/>
                <a:satMod val="105000"/>
                <a:tint val="67000"/>
              </a:schemeClr>
            </a:gs>
            <a:gs pos="50000">
              <a:schemeClr val="accent2">
                <a:hueOff val="2147871"/>
                <a:satOff val="-6164"/>
                <a:lumOff val="-9870"/>
                <a:alphaOff val="0"/>
                <a:lumMod val="105000"/>
                <a:satMod val="103000"/>
                <a:tint val="73000"/>
              </a:schemeClr>
            </a:gs>
            <a:gs pos="100000">
              <a:schemeClr val="accent2">
                <a:hueOff val="2147871"/>
                <a:satOff val="-6164"/>
                <a:lumOff val="-987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0" kern="1200" dirty="0"/>
            <a:t>Issue logs</a:t>
          </a:r>
        </a:p>
      </dsp:txBody>
      <dsp:txXfrm>
        <a:off x="4571445" y="2283903"/>
        <a:ext cx="971058" cy="971058"/>
      </dsp:txXfrm>
    </dsp:sp>
    <dsp:sp modelId="{CBF45158-91F2-4D21-BCCB-160C1F2933E0}">
      <dsp:nvSpPr>
        <dsp:cNvPr id="0" name=""/>
        <dsp:cNvSpPr/>
      </dsp:nvSpPr>
      <dsp:spPr>
        <a:xfrm>
          <a:off x="2289529" y="4163595"/>
          <a:ext cx="1373282" cy="1373282"/>
        </a:xfrm>
        <a:prstGeom prst="ellipse">
          <a:avLst/>
        </a:prstGeom>
        <a:gradFill rotWithShape="0">
          <a:gsLst>
            <a:gs pos="0">
              <a:schemeClr val="accent2">
                <a:hueOff val="4295743"/>
                <a:satOff val="-12329"/>
                <a:lumOff val="-19739"/>
                <a:alphaOff val="0"/>
                <a:lumMod val="110000"/>
                <a:satMod val="105000"/>
                <a:tint val="67000"/>
              </a:schemeClr>
            </a:gs>
            <a:gs pos="50000">
              <a:schemeClr val="accent2">
                <a:hueOff val="4295743"/>
                <a:satOff val="-12329"/>
                <a:lumOff val="-19739"/>
                <a:alphaOff val="0"/>
                <a:lumMod val="105000"/>
                <a:satMod val="103000"/>
                <a:tint val="73000"/>
              </a:schemeClr>
            </a:gs>
            <a:gs pos="100000">
              <a:schemeClr val="accent2">
                <a:hueOff val="4295743"/>
                <a:satOff val="-12329"/>
                <a:lumOff val="-19739"/>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0" kern="1200" dirty="0"/>
            <a:t>Review KPI, Downtime, workload</a:t>
          </a:r>
        </a:p>
      </dsp:txBody>
      <dsp:txXfrm>
        <a:off x="2490641" y="4364707"/>
        <a:ext cx="971058" cy="971058"/>
      </dsp:txXfrm>
    </dsp:sp>
    <dsp:sp modelId="{4D091234-F139-42B2-B6A2-666E47FA61F8}">
      <dsp:nvSpPr>
        <dsp:cNvPr id="0" name=""/>
        <dsp:cNvSpPr/>
      </dsp:nvSpPr>
      <dsp:spPr>
        <a:xfrm>
          <a:off x="208726" y="2082791"/>
          <a:ext cx="1373282" cy="1373282"/>
        </a:xfrm>
        <a:prstGeom prst="ellipse">
          <a:avLst/>
        </a:prstGeom>
        <a:gradFill rotWithShape="0">
          <a:gsLst>
            <a:gs pos="0">
              <a:schemeClr val="accent2">
                <a:hueOff val="6443614"/>
                <a:satOff val="-18493"/>
                <a:lumOff val="-29609"/>
                <a:alphaOff val="0"/>
                <a:lumMod val="110000"/>
                <a:satMod val="105000"/>
                <a:tint val="67000"/>
              </a:schemeClr>
            </a:gs>
            <a:gs pos="50000">
              <a:schemeClr val="accent2">
                <a:hueOff val="6443614"/>
                <a:satOff val="-18493"/>
                <a:lumOff val="-29609"/>
                <a:alphaOff val="0"/>
                <a:lumMod val="105000"/>
                <a:satMod val="103000"/>
                <a:tint val="73000"/>
              </a:schemeClr>
            </a:gs>
            <a:gs pos="100000">
              <a:schemeClr val="accent2">
                <a:hueOff val="6443614"/>
                <a:satOff val="-18493"/>
                <a:lumOff val="-29609"/>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0" kern="1200" dirty="0"/>
            <a:t>Tracks operational status, raise alerts </a:t>
          </a:r>
        </a:p>
      </dsp:txBody>
      <dsp:txXfrm>
        <a:off x="409838" y="2283903"/>
        <a:ext cx="971058" cy="9710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FE7A92-1A9E-45C1-89DE-F8CDA04299D9}">
      <dsp:nvSpPr>
        <dsp:cNvPr id="0" name=""/>
        <dsp:cNvSpPr/>
      </dsp:nvSpPr>
      <dsp:spPr>
        <a:xfrm>
          <a:off x="1259824" y="3113"/>
          <a:ext cx="1753392" cy="793031"/>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Device Risk &amp; Maintenance</a:t>
          </a:r>
        </a:p>
      </dsp:txBody>
      <dsp:txXfrm>
        <a:off x="1259824" y="3113"/>
        <a:ext cx="1753392" cy="793031"/>
      </dsp:txXfrm>
    </dsp:sp>
    <dsp:sp modelId="{48174DBB-1F7D-46D4-80EB-CCF8F30D7536}">
      <dsp:nvSpPr>
        <dsp:cNvPr id="0" name=""/>
        <dsp:cNvSpPr/>
      </dsp:nvSpPr>
      <dsp:spPr>
        <a:xfrm>
          <a:off x="396213" y="3113"/>
          <a:ext cx="785101" cy="793031"/>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l="-1000" r="-1000"/>
          </a:stretch>
        </a:blipFill>
        <a:ln w="12700" cap="flat" cmpd="sng" algn="ctr">
          <a:solidFill>
            <a:schemeClr val="lt1">
              <a:hueOff val="0"/>
              <a:satOff val="0"/>
              <a:lumOff val="0"/>
              <a:alphaOff val="0"/>
            </a:schemeClr>
          </a:solidFill>
          <a:prstDash val="solid"/>
          <a:miter lim="800000"/>
        </a:ln>
        <a:effectLst/>
        <a:scene3d>
          <a:camera prst="orthographicFront"/>
          <a:lightRig rig="flat" dir="t"/>
        </a:scene3d>
        <a:sp3d prstMaterial="dkEdge">
          <a:bevelT w="8200" h="38100"/>
        </a:sp3d>
      </dsp:spPr>
      <dsp:style>
        <a:lnRef idx="1">
          <a:scrgbClr r="0" g="0" b="0"/>
        </a:lnRef>
        <a:fillRef idx="2">
          <a:scrgbClr r="0" g="0" b="0"/>
        </a:fillRef>
        <a:effectRef idx="0">
          <a:scrgbClr r="0" g="0" b="0"/>
        </a:effectRef>
        <a:fontRef idx="minor">
          <a:schemeClr val="dk1"/>
        </a:fontRef>
      </dsp:style>
    </dsp:sp>
    <dsp:sp modelId="{64D94E16-4FD9-4EA2-A120-A8206A34CAED}">
      <dsp:nvSpPr>
        <dsp:cNvPr id="0" name=""/>
        <dsp:cNvSpPr/>
      </dsp:nvSpPr>
      <dsp:spPr>
        <a:xfrm>
          <a:off x="396213" y="926995"/>
          <a:ext cx="1753392" cy="793031"/>
        </a:xfrm>
        <a:prstGeom prst="rect">
          <a:avLst/>
        </a:prstGeom>
        <a:gradFill rotWithShape="0">
          <a:gsLst>
            <a:gs pos="0">
              <a:schemeClr val="accent2">
                <a:hueOff val="1288723"/>
                <a:satOff val="-3699"/>
                <a:lumOff val="-5922"/>
                <a:alphaOff val="0"/>
                <a:lumMod val="110000"/>
                <a:satMod val="105000"/>
                <a:tint val="67000"/>
              </a:schemeClr>
            </a:gs>
            <a:gs pos="50000">
              <a:schemeClr val="accent2">
                <a:hueOff val="1288723"/>
                <a:satOff val="-3699"/>
                <a:lumOff val="-5922"/>
                <a:alphaOff val="0"/>
                <a:lumMod val="105000"/>
                <a:satMod val="103000"/>
                <a:tint val="73000"/>
              </a:schemeClr>
            </a:gs>
            <a:gs pos="100000">
              <a:schemeClr val="accent2">
                <a:hueOff val="1288723"/>
                <a:satOff val="-3699"/>
                <a:lumOff val="-592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Location Based Status</a:t>
          </a:r>
        </a:p>
      </dsp:txBody>
      <dsp:txXfrm>
        <a:off x="396213" y="926995"/>
        <a:ext cx="1753392" cy="793031"/>
      </dsp:txXfrm>
    </dsp:sp>
    <dsp:sp modelId="{DADBE647-CC4E-4D35-9D2B-4C1D71037414}">
      <dsp:nvSpPr>
        <dsp:cNvPr id="0" name=""/>
        <dsp:cNvSpPr/>
      </dsp:nvSpPr>
      <dsp:spPr>
        <a:xfrm>
          <a:off x="2228115" y="926995"/>
          <a:ext cx="785101" cy="793031"/>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l="-1000" r="-1000"/>
          </a:stretch>
        </a:blipFill>
        <a:ln w="12700" cap="flat" cmpd="sng" algn="ctr">
          <a:solidFill>
            <a:schemeClr val="lt1">
              <a:hueOff val="0"/>
              <a:satOff val="0"/>
              <a:lumOff val="0"/>
              <a:alphaOff val="0"/>
            </a:schemeClr>
          </a:solidFill>
          <a:prstDash val="solid"/>
          <a:miter lim="800000"/>
        </a:ln>
        <a:effectLst/>
        <a:scene3d>
          <a:camera prst="orthographicFront"/>
          <a:lightRig rig="flat" dir="t"/>
        </a:scene3d>
        <a:sp3d prstMaterial="dkEdge">
          <a:bevelT w="8200" h="38100"/>
        </a:sp3d>
      </dsp:spPr>
      <dsp:style>
        <a:lnRef idx="1">
          <a:scrgbClr r="0" g="0" b="0"/>
        </a:lnRef>
        <a:fillRef idx="2">
          <a:scrgbClr r="0" g="0" b="0"/>
        </a:fillRef>
        <a:effectRef idx="0">
          <a:scrgbClr r="0" g="0" b="0"/>
        </a:effectRef>
        <a:fontRef idx="minor">
          <a:schemeClr val="dk1"/>
        </a:fontRef>
      </dsp:style>
    </dsp:sp>
    <dsp:sp modelId="{E8BD5889-4F83-4F3B-A765-3504495A6C32}">
      <dsp:nvSpPr>
        <dsp:cNvPr id="0" name=""/>
        <dsp:cNvSpPr/>
      </dsp:nvSpPr>
      <dsp:spPr>
        <a:xfrm>
          <a:off x="1259824" y="1850876"/>
          <a:ext cx="1753392" cy="793031"/>
        </a:xfrm>
        <a:prstGeom prst="rect">
          <a:avLst/>
        </a:prstGeom>
        <a:gradFill rotWithShape="0">
          <a:gsLst>
            <a:gs pos="0">
              <a:schemeClr val="accent2">
                <a:hueOff val="2577445"/>
                <a:satOff val="-7397"/>
                <a:lumOff val="-11844"/>
                <a:alphaOff val="0"/>
                <a:lumMod val="110000"/>
                <a:satMod val="105000"/>
                <a:tint val="67000"/>
              </a:schemeClr>
            </a:gs>
            <a:gs pos="50000">
              <a:schemeClr val="accent2">
                <a:hueOff val="2577445"/>
                <a:satOff val="-7397"/>
                <a:lumOff val="-11844"/>
                <a:alphaOff val="0"/>
                <a:lumMod val="105000"/>
                <a:satMod val="103000"/>
                <a:tint val="73000"/>
              </a:schemeClr>
            </a:gs>
            <a:gs pos="100000">
              <a:schemeClr val="accent2">
                <a:hueOff val="2577445"/>
                <a:satOff val="-7397"/>
                <a:lumOff val="-1184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Technician Overload</a:t>
          </a:r>
        </a:p>
      </dsp:txBody>
      <dsp:txXfrm>
        <a:off x="1259824" y="1850876"/>
        <a:ext cx="1753392" cy="793031"/>
      </dsp:txXfrm>
    </dsp:sp>
    <dsp:sp modelId="{85D7EFF5-CD1D-4A12-A91A-B3CA2D09413E}">
      <dsp:nvSpPr>
        <dsp:cNvPr id="0" name=""/>
        <dsp:cNvSpPr/>
      </dsp:nvSpPr>
      <dsp:spPr>
        <a:xfrm>
          <a:off x="396213" y="1850876"/>
          <a:ext cx="785101" cy="793031"/>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l="-1000" r="-1000"/>
          </a:stretch>
        </a:blipFill>
        <a:ln w="12700" cap="flat" cmpd="sng" algn="ctr">
          <a:solidFill>
            <a:schemeClr val="lt1">
              <a:hueOff val="0"/>
              <a:satOff val="0"/>
              <a:lumOff val="0"/>
              <a:alphaOff val="0"/>
            </a:schemeClr>
          </a:solidFill>
          <a:prstDash val="solid"/>
          <a:miter lim="800000"/>
        </a:ln>
        <a:effectLst/>
        <a:scene3d>
          <a:camera prst="orthographicFront"/>
          <a:lightRig rig="flat" dir="t"/>
        </a:scene3d>
        <a:sp3d prstMaterial="dkEdge">
          <a:bevelT w="8200" h="38100"/>
        </a:sp3d>
      </dsp:spPr>
      <dsp:style>
        <a:lnRef idx="1">
          <a:scrgbClr r="0" g="0" b="0"/>
        </a:lnRef>
        <a:fillRef idx="2">
          <a:scrgbClr r="0" g="0" b="0"/>
        </a:fillRef>
        <a:effectRef idx="0">
          <a:scrgbClr r="0" g="0" b="0"/>
        </a:effectRef>
        <a:fontRef idx="minor">
          <a:schemeClr val="dk1"/>
        </a:fontRef>
      </dsp:style>
    </dsp:sp>
    <dsp:sp modelId="{5234BE81-654C-4206-99C0-B197E11B908F}">
      <dsp:nvSpPr>
        <dsp:cNvPr id="0" name=""/>
        <dsp:cNvSpPr/>
      </dsp:nvSpPr>
      <dsp:spPr>
        <a:xfrm>
          <a:off x="396213" y="2774758"/>
          <a:ext cx="1753392" cy="793031"/>
        </a:xfrm>
        <a:prstGeom prst="rect">
          <a:avLst/>
        </a:prstGeom>
        <a:gradFill rotWithShape="0">
          <a:gsLst>
            <a:gs pos="0">
              <a:schemeClr val="accent2">
                <a:hueOff val="3866169"/>
                <a:satOff val="-11096"/>
                <a:lumOff val="-17765"/>
                <a:alphaOff val="0"/>
                <a:lumMod val="110000"/>
                <a:satMod val="105000"/>
                <a:tint val="67000"/>
              </a:schemeClr>
            </a:gs>
            <a:gs pos="50000">
              <a:schemeClr val="accent2">
                <a:hueOff val="3866169"/>
                <a:satOff val="-11096"/>
                <a:lumOff val="-17765"/>
                <a:alphaOff val="0"/>
                <a:lumMod val="105000"/>
                <a:satMod val="103000"/>
                <a:tint val="73000"/>
              </a:schemeClr>
            </a:gs>
            <a:gs pos="100000">
              <a:schemeClr val="accent2">
                <a:hueOff val="3866169"/>
                <a:satOff val="-11096"/>
                <a:lumOff val="-17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Equipment Distribution</a:t>
          </a:r>
        </a:p>
      </dsp:txBody>
      <dsp:txXfrm>
        <a:off x="396213" y="2774758"/>
        <a:ext cx="1753392" cy="793031"/>
      </dsp:txXfrm>
    </dsp:sp>
    <dsp:sp modelId="{6AA12CDF-8FC2-4B20-A1AA-FABF20D43F82}">
      <dsp:nvSpPr>
        <dsp:cNvPr id="0" name=""/>
        <dsp:cNvSpPr/>
      </dsp:nvSpPr>
      <dsp:spPr>
        <a:xfrm>
          <a:off x="2228115" y="2774758"/>
          <a:ext cx="785101" cy="793031"/>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l="-1000" r="-1000"/>
          </a:stretch>
        </a:blipFill>
        <a:ln w="12700" cap="flat" cmpd="sng" algn="ctr">
          <a:solidFill>
            <a:schemeClr val="lt1">
              <a:hueOff val="0"/>
              <a:satOff val="0"/>
              <a:lumOff val="0"/>
              <a:alphaOff val="0"/>
            </a:schemeClr>
          </a:solidFill>
          <a:prstDash val="solid"/>
          <a:miter lim="800000"/>
        </a:ln>
        <a:effectLst/>
        <a:scene3d>
          <a:camera prst="orthographicFront"/>
          <a:lightRig rig="flat" dir="t"/>
        </a:scene3d>
        <a:sp3d prstMaterial="dkEdge">
          <a:bevelT w="8200" h="38100"/>
        </a:sp3d>
      </dsp:spPr>
      <dsp:style>
        <a:lnRef idx="1">
          <a:scrgbClr r="0" g="0" b="0"/>
        </a:lnRef>
        <a:fillRef idx="2">
          <a:scrgbClr r="0" g="0" b="0"/>
        </a:fillRef>
        <a:effectRef idx="0">
          <a:scrgbClr r="0" g="0" b="0"/>
        </a:effectRef>
        <a:fontRef idx="minor">
          <a:schemeClr val="dk1"/>
        </a:fontRef>
      </dsp:style>
    </dsp:sp>
    <dsp:sp modelId="{CE24FEE5-60EF-48FD-B606-CE0FD4B1F52F}">
      <dsp:nvSpPr>
        <dsp:cNvPr id="0" name=""/>
        <dsp:cNvSpPr/>
      </dsp:nvSpPr>
      <dsp:spPr>
        <a:xfrm>
          <a:off x="1259824" y="3698640"/>
          <a:ext cx="1753392" cy="793031"/>
        </a:xfrm>
        <a:prstGeom prst="rect">
          <a:avLst/>
        </a:prstGeom>
        <a:gradFill rotWithShape="0">
          <a:gsLst>
            <a:gs pos="0">
              <a:schemeClr val="accent2">
                <a:hueOff val="5154891"/>
                <a:satOff val="-14794"/>
                <a:lumOff val="-23687"/>
                <a:alphaOff val="0"/>
                <a:lumMod val="110000"/>
                <a:satMod val="105000"/>
                <a:tint val="67000"/>
              </a:schemeClr>
            </a:gs>
            <a:gs pos="50000">
              <a:schemeClr val="accent2">
                <a:hueOff val="5154891"/>
                <a:satOff val="-14794"/>
                <a:lumOff val="-23687"/>
                <a:alphaOff val="0"/>
                <a:lumMod val="105000"/>
                <a:satMod val="103000"/>
                <a:tint val="73000"/>
              </a:schemeClr>
            </a:gs>
            <a:gs pos="100000">
              <a:schemeClr val="accent2">
                <a:hueOff val="5154891"/>
                <a:satOff val="-14794"/>
                <a:lumOff val="-2368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Trend Analysis</a:t>
          </a:r>
        </a:p>
      </dsp:txBody>
      <dsp:txXfrm>
        <a:off x="1259824" y="3698640"/>
        <a:ext cx="1753392" cy="793031"/>
      </dsp:txXfrm>
    </dsp:sp>
    <dsp:sp modelId="{2B5CC604-B2B4-4776-826D-46F7F76E172D}">
      <dsp:nvSpPr>
        <dsp:cNvPr id="0" name=""/>
        <dsp:cNvSpPr/>
      </dsp:nvSpPr>
      <dsp:spPr>
        <a:xfrm>
          <a:off x="396213" y="3698640"/>
          <a:ext cx="785101" cy="793031"/>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l="-1000" r="-1000"/>
          </a:stretch>
        </a:blipFill>
        <a:ln w="12700" cap="flat" cmpd="sng" algn="ctr">
          <a:solidFill>
            <a:schemeClr val="lt1">
              <a:hueOff val="0"/>
              <a:satOff val="0"/>
              <a:lumOff val="0"/>
              <a:alphaOff val="0"/>
            </a:schemeClr>
          </a:solidFill>
          <a:prstDash val="solid"/>
          <a:miter lim="800000"/>
        </a:ln>
        <a:effectLst/>
        <a:scene3d>
          <a:camera prst="orthographicFront"/>
          <a:lightRig rig="flat" dir="t"/>
        </a:scene3d>
        <a:sp3d prstMaterial="dkEdge">
          <a:bevelT w="8200" h="38100"/>
        </a:sp3d>
      </dsp:spPr>
      <dsp:style>
        <a:lnRef idx="1">
          <a:scrgbClr r="0" g="0" b="0"/>
        </a:lnRef>
        <a:fillRef idx="2">
          <a:scrgbClr r="0" g="0" b="0"/>
        </a:fillRef>
        <a:effectRef idx="0">
          <a:scrgbClr r="0" g="0" b="0"/>
        </a:effectRef>
        <a:fontRef idx="minor">
          <a:schemeClr val="dk1"/>
        </a:fontRef>
      </dsp:style>
    </dsp:sp>
    <dsp:sp modelId="{5E2093B6-CC43-4816-A89C-1DD066C71563}">
      <dsp:nvSpPr>
        <dsp:cNvPr id="0" name=""/>
        <dsp:cNvSpPr/>
      </dsp:nvSpPr>
      <dsp:spPr>
        <a:xfrm>
          <a:off x="396213" y="4622521"/>
          <a:ext cx="1753392" cy="793031"/>
        </a:xfrm>
        <a:prstGeom prst="rect">
          <a:avLst/>
        </a:prstGeom>
        <a:gradFill rotWithShape="0">
          <a:gsLst>
            <a:gs pos="0">
              <a:schemeClr val="accent2">
                <a:hueOff val="6443614"/>
                <a:satOff val="-18493"/>
                <a:lumOff val="-29609"/>
                <a:alphaOff val="0"/>
                <a:lumMod val="110000"/>
                <a:satMod val="105000"/>
                <a:tint val="67000"/>
              </a:schemeClr>
            </a:gs>
            <a:gs pos="50000">
              <a:schemeClr val="accent2">
                <a:hueOff val="6443614"/>
                <a:satOff val="-18493"/>
                <a:lumOff val="-29609"/>
                <a:alphaOff val="0"/>
                <a:lumMod val="105000"/>
                <a:satMod val="103000"/>
                <a:tint val="73000"/>
              </a:schemeClr>
            </a:gs>
            <a:gs pos="100000">
              <a:schemeClr val="accent2">
                <a:hueOff val="6443614"/>
                <a:satOff val="-18493"/>
                <a:lumOff val="-29609"/>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dirty="0"/>
            <a:t>Audit Readiness</a:t>
          </a:r>
        </a:p>
      </dsp:txBody>
      <dsp:txXfrm>
        <a:off x="396213" y="4622521"/>
        <a:ext cx="1753392" cy="793031"/>
      </dsp:txXfrm>
    </dsp:sp>
    <dsp:sp modelId="{C73F51F3-FD5E-44F2-919A-A4F89361D81E}">
      <dsp:nvSpPr>
        <dsp:cNvPr id="0" name=""/>
        <dsp:cNvSpPr/>
      </dsp:nvSpPr>
      <dsp:spPr>
        <a:xfrm>
          <a:off x="2228115" y="4622521"/>
          <a:ext cx="785101" cy="793031"/>
        </a:xfrm>
        <a:prstGeom prst="rect">
          <a:avLst/>
        </a:prstGeom>
        <a:blipFill>
          <a:blip xmlns:r="http://schemas.openxmlformats.org/officeDocument/2006/relationships" r:embed="rId11">
            <a:extLst>
              <a:ext uri="{96DAC541-7B7A-43D3-8B79-37D633B846F1}">
                <asvg:svgBlip xmlns:asvg="http://schemas.microsoft.com/office/drawing/2016/SVG/main" r:embed="rId12"/>
              </a:ext>
            </a:extLst>
          </a:blip>
          <a:srcRect/>
          <a:stretch>
            <a:fillRect l="-1000" r="-1000"/>
          </a:stretch>
        </a:blipFill>
        <a:ln w="12700" cap="flat" cmpd="sng" algn="ctr">
          <a:solidFill>
            <a:schemeClr val="lt1">
              <a:hueOff val="0"/>
              <a:satOff val="0"/>
              <a:lumOff val="0"/>
              <a:alphaOff val="0"/>
            </a:schemeClr>
          </a:solidFill>
          <a:prstDash val="solid"/>
          <a:miter lim="800000"/>
        </a:ln>
        <a:effectLst/>
        <a:scene3d>
          <a:camera prst="orthographicFront"/>
          <a:lightRig rig="flat" dir="t"/>
        </a:scene3d>
        <a:sp3d prstMaterial="dkEdge">
          <a:bevelT w="8200" h="38100"/>
        </a:sp3d>
      </dsp:spPr>
      <dsp:style>
        <a:lnRef idx="1">
          <a:scrgbClr r="0" g="0" b="0"/>
        </a:lnRef>
        <a:fillRef idx="2">
          <a:scrgbClr r="0" g="0" b="0"/>
        </a:fillRef>
        <a:effectRef idx="0">
          <a:scrgbClr r="0" g="0" b="0"/>
        </a:effectRef>
        <a:fontRef idx="minor">
          <a:schemeClr val="dk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AlternatingPictureBlocks">
  <dgm:title val=""/>
  <dgm:desc val=""/>
  <dgm:catLst>
    <dgm:cat type="picture" pri="15000"/>
    <dgm:cat type="pictureconvert" pri="15000"/>
    <dgm:cat type="list" pri="13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primFontSz" for="des" ptType="node" op="equ" val="65"/>
      <dgm:constr type="w" for="ch" forName="comp" refType="w"/>
      <dgm:constr type="h" for="ch" forName="comp" refType="h"/>
      <dgm:constr type="h" for="ch" forName="sibTrans" refType="w" refFor="ch" refForName="comp" op="equ" fact="0.05"/>
    </dgm:constrLst>
    <dgm:ruleLst/>
    <dgm:forEach name="Name0" axis="ch" ptType="node">
      <dgm:layoutNode name="comp" styleLbl="node1">
        <dgm:alg type="composite">
          <dgm:param type="ar" val="3.30"/>
        </dgm:alg>
        <dgm:shape xmlns:r="http://schemas.openxmlformats.org/officeDocument/2006/relationships" r:blip="">
          <dgm:adjLst/>
        </dgm:shape>
        <dgm:presOf/>
        <dgm:choose name="Name1">
          <dgm:if name="Name2" func="var" arg="dir" op="equ" val="norm">
            <dgm:choose name="Name4">
              <dgm:if name="Name5" axis="desOrSelf" ptType="node" func="posOdd" op="equ" val="1">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if>
              <dgm:else name="Name6">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else>
            </dgm:choose>
          </dgm:if>
          <dgm:else name="Name3">
            <dgm:choose name="Name7">
              <dgm:if name="Name8" axis="desOrSelf" ptType="node" func="posOdd" op="equ" val="1">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if>
              <dgm:else name="Name9">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else>
            </dgm:choose>
          </dgm:else>
        </dgm:choose>
        <dgm:ruleLst/>
        <dgm:layoutNode name="rect2" styleLbl="node1">
          <dgm:varLst>
            <dgm:bulletEnabled val="1"/>
          </dgm:varLst>
          <dgm:alg type="tx"/>
          <dgm:shape xmlns:r="http://schemas.openxmlformats.org/officeDocument/2006/relationships" type="rect" r:blip="">
            <dgm:adjLst/>
          </dgm:shape>
          <dgm:presOf axis="desOrSelf" ptType="node"/>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 styleLbl="lnNod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65D6F-95DA-7FE3-CD07-7258107590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A09557-6D04-363F-EF54-3AA43C94F5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2E6A7FE-FF4D-B985-7884-3D907E2562F7}"/>
              </a:ext>
            </a:extLst>
          </p:cNvPr>
          <p:cNvSpPr>
            <a:spLocks noGrp="1"/>
          </p:cNvSpPr>
          <p:nvPr>
            <p:ph type="dt" sz="half" idx="10"/>
          </p:nvPr>
        </p:nvSpPr>
        <p:spPr/>
        <p:txBody>
          <a:bodyPr/>
          <a:lstStyle/>
          <a:p>
            <a:fld id="{89F02627-7515-49F0-8E31-959BCB0A354C}" type="datetimeFigureOut">
              <a:rPr lang="en-IN" smtClean="0"/>
              <a:t>18-04-2025</a:t>
            </a:fld>
            <a:endParaRPr lang="en-IN"/>
          </a:p>
        </p:txBody>
      </p:sp>
      <p:sp>
        <p:nvSpPr>
          <p:cNvPr id="5" name="Footer Placeholder 4">
            <a:extLst>
              <a:ext uri="{FF2B5EF4-FFF2-40B4-BE49-F238E27FC236}">
                <a16:creationId xmlns:a16="http://schemas.microsoft.com/office/drawing/2014/main" id="{2C17D35E-8ACB-2B33-3CD6-D480BCF4BD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E61A32-344A-58DA-5722-4CC632635602}"/>
              </a:ext>
            </a:extLst>
          </p:cNvPr>
          <p:cNvSpPr>
            <a:spLocks noGrp="1"/>
          </p:cNvSpPr>
          <p:nvPr>
            <p:ph type="sldNum" sz="quarter" idx="12"/>
          </p:nvPr>
        </p:nvSpPr>
        <p:spPr/>
        <p:txBody>
          <a:bodyPr/>
          <a:lstStyle/>
          <a:p>
            <a:fld id="{F8ECA773-A7F5-4590-AAFB-EC841F376793}" type="slidenum">
              <a:rPr lang="en-IN" smtClean="0"/>
              <a:t>‹#›</a:t>
            </a:fld>
            <a:endParaRPr lang="en-IN"/>
          </a:p>
        </p:txBody>
      </p:sp>
    </p:spTree>
    <p:extLst>
      <p:ext uri="{BB962C8B-B14F-4D97-AF65-F5344CB8AC3E}">
        <p14:creationId xmlns:p14="http://schemas.microsoft.com/office/powerpoint/2010/main" val="3485309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26A78-21CC-451F-10DB-9F7BD8DDAD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2C9FC0-DF00-ABB4-A5AC-66AEE67081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7C7064-6E62-3E35-CF92-5B1CDCCED1D4}"/>
              </a:ext>
            </a:extLst>
          </p:cNvPr>
          <p:cNvSpPr>
            <a:spLocks noGrp="1"/>
          </p:cNvSpPr>
          <p:nvPr>
            <p:ph type="dt" sz="half" idx="10"/>
          </p:nvPr>
        </p:nvSpPr>
        <p:spPr/>
        <p:txBody>
          <a:bodyPr/>
          <a:lstStyle/>
          <a:p>
            <a:fld id="{89F02627-7515-49F0-8E31-959BCB0A354C}" type="datetimeFigureOut">
              <a:rPr lang="en-IN" smtClean="0"/>
              <a:t>18-04-2025</a:t>
            </a:fld>
            <a:endParaRPr lang="en-IN"/>
          </a:p>
        </p:txBody>
      </p:sp>
      <p:sp>
        <p:nvSpPr>
          <p:cNvPr id="5" name="Footer Placeholder 4">
            <a:extLst>
              <a:ext uri="{FF2B5EF4-FFF2-40B4-BE49-F238E27FC236}">
                <a16:creationId xmlns:a16="http://schemas.microsoft.com/office/drawing/2014/main" id="{F122B18D-53A0-F05A-64C0-719BB9F792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559CCC-0ED4-218A-BFC2-467B43F94D2E}"/>
              </a:ext>
            </a:extLst>
          </p:cNvPr>
          <p:cNvSpPr>
            <a:spLocks noGrp="1"/>
          </p:cNvSpPr>
          <p:nvPr>
            <p:ph type="sldNum" sz="quarter" idx="12"/>
          </p:nvPr>
        </p:nvSpPr>
        <p:spPr/>
        <p:txBody>
          <a:bodyPr/>
          <a:lstStyle/>
          <a:p>
            <a:fld id="{F8ECA773-A7F5-4590-AAFB-EC841F376793}" type="slidenum">
              <a:rPr lang="en-IN" smtClean="0"/>
              <a:t>‹#›</a:t>
            </a:fld>
            <a:endParaRPr lang="en-IN"/>
          </a:p>
        </p:txBody>
      </p:sp>
    </p:spTree>
    <p:extLst>
      <p:ext uri="{BB962C8B-B14F-4D97-AF65-F5344CB8AC3E}">
        <p14:creationId xmlns:p14="http://schemas.microsoft.com/office/powerpoint/2010/main" val="1600691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C1866-8E95-EDCE-4134-B276A86AE7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5F5BE74-932F-3629-E475-586E43E7C1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FD544D-455A-90E8-973F-7E03C05CCED2}"/>
              </a:ext>
            </a:extLst>
          </p:cNvPr>
          <p:cNvSpPr>
            <a:spLocks noGrp="1"/>
          </p:cNvSpPr>
          <p:nvPr>
            <p:ph type="dt" sz="half" idx="10"/>
          </p:nvPr>
        </p:nvSpPr>
        <p:spPr/>
        <p:txBody>
          <a:bodyPr/>
          <a:lstStyle/>
          <a:p>
            <a:fld id="{89F02627-7515-49F0-8E31-959BCB0A354C}" type="datetimeFigureOut">
              <a:rPr lang="en-IN" smtClean="0"/>
              <a:t>18-04-2025</a:t>
            </a:fld>
            <a:endParaRPr lang="en-IN"/>
          </a:p>
        </p:txBody>
      </p:sp>
      <p:sp>
        <p:nvSpPr>
          <p:cNvPr id="5" name="Footer Placeholder 4">
            <a:extLst>
              <a:ext uri="{FF2B5EF4-FFF2-40B4-BE49-F238E27FC236}">
                <a16:creationId xmlns:a16="http://schemas.microsoft.com/office/drawing/2014/main" id="{68FEF683-6C34-8E1B-C5BE-290C919F56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4D95A7-5F69-115C-083F-DE4B338C9B6A}"/>
              </a:ext>
            </a:extLst>
          </p:cNvPr>
          <p:cNvSpPr>
            <a:spLocks noGrp="1"/>
          </p:cNvSpPr>
          <p:nvPr>
            <p:ph type="sldNum" sz="quarter" idx="12"/>
          </p:nvPr>
        </p:nvSpPr>
        <p:spPr/>
        <p:txBody>
          <a:bodyPr/>
          <a:lstStyle/>
          <a:p>
            <a:fld id="{F8ECA773-A7F5-4590-AAFB-EC841F376793}" type="slidenum">
              <a:rPr lang="en-IN" smtClean="0"/>
              <a:t>‹#›</a:t>
            </a:fld>
            <a:endParaRPr lang="en-IN"/>
          </a:p>
        </p:txBody>
      </p:sp>
    </p:spTree>
    <p:extLst>
      <p:ext uri="{BB962C8B-B14F-4D97-AF65-F5344CB8AC3E}">
        <p14:creationId xmlns:p14="http://schemas.microsoft.com/office/powerpoint/2010/main" val="714325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6C43F-59E3-3529-F236-3AF4C4E9E0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CD65DF-1BE3-E594-AF3F-2F6D0C42C2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93311E5-F7A3-CBA1-2C78-78405324D4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C8AFF95-E5F8-F731-A2BE-240498E429D5}"/>
              </a:ext>
            </a:extLst>
          </p:cNvPr>
          <p:cNvSpPr>
            <a:spLocks noGrp="1"/>
          </p:cNvSpPr>
          <p:nvPr>
            <p:ph type="dt" sz="half" idx="10"/>
          </p:nvPr>
        </p:nvSpPr>
        <p:spPr/>
        <p:txBody>
          <a:bodyPr/>
          <a:lstStyle/>
          <a:p>
            <a:fld id="{89F02627-7515-49F0-8E31-959BCB0A354C}" type="datetimeFigureOut">
              <a:rPr lang="en-IN" smtClean="0"/>
              <a:t>18-04-2025</a:t>
            </a:fld>
            <a:endParaRPr lang="en-IN"/>
          </a:p>
        </p:txBody>
      </p:sp>
      <p:sp>
        <p:nvSpPr>
          <p:cNvPr id="6" name="Footer Placeholder 5">
            <a:extLst>
              <a:ext uri="{FF2B5EF4-FFF2-40B4-BE49-F238E27FC236}">
                <a16:creationId xmlns:a16="http://schemas.microsoft.com/office/drawing/2014/main" id="{8CB68B38-AB8A-95F7-1541-A668A144A7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E682D7-A891-E240-7EF5-DF6EACBCDE0F}"/>
              </a:ext>
            </a:extLst>
          </p:cNvPr>
          <p:cNvSpPr>
            <a:spLocks noGrp="1"/>
          </p:cNvSpPr>
          <p:nvPr>
            <p:ph type="sldNum" sz="quarter" idx="12"/>
          </p:nvPr>
        </p:nvSpPr>
        <p:spPr/>
        <p:txBody>
          <a:bodyPr/>
          <a:lstStyle/>
          <a:p>
            <a:fld id="{F8ECA773-A7F5-4590-AAFB-EC841F376793}" type="slidenum">
              <a:rPr lang="en-IN" smtClean="0"/>
              <a:t>‹#›</a:t>
            </a:fld>
            <a:endParaRPr lang="en-IN"/>
          </a:p>
        </p:txBody>
      </p:sp>
    </p:spTree>
    <p:extLst>
      <p:ext uri="{BB962C8B-B14F-4D97-AF65-F5344CB8AC3E}">
        <p14:creationId xmlns:p14="http://schemas.microsoft.com/office/powerpoint/2010/main" val="4172908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10214-D975-2F50-B4DD-9990D56FA48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3804EA-A623-0F38-7EEC-9675BFB453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F4439A-65B0-8B42-6963-763B6C7DB2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931BBC5-36DA-C85C-4ABE-0AACDE747A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F4FDCE-F993-B3E9-BDF4-138D50DA26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6B3AAF0-EAFB-E67E-FBDF-52560BDF2B1F}"/>
              </a:ext>
            </a:extLst>
          </p:cNvPr>
          <p:cNvSpPr>
            <a:spLocks noGrp="1"/>
          </p:cNvSpPr>
          <p:nvPr>
            <p:ph type="dt" sz="half" idx="10"/>
          </p:nvPr>
        </p:nvSpPr>
        <p:spPr/>
        <p:txBody>
          <a:bodyPr/>
          <a:lstStyle/>
          <a:p>
            <a:fld id="{89F02627-7515-49F0-8E31-959BCB0A354C}" type="datetimeFigureOut">
              <a:rPr lang="en-IN" smtClean="0"/>
              <a:t>18-04-2025</a:t>
            </a:fld>
            <a:endParaRPr lang="en-IN"/>
          </a:p>
        </p:txBody>
      </p:sp>
      <p:sp>
        <p:nvSpPr>
          <p:cNvPr id="8" name="Footer Placeholder 7">
            <a:extLst>
              <a:ext uri="{FF2B5EF4-FFF2-40B4-BE49-F238E27FC236}">
                <a16:creationId xmlns:a16="http://schemas.microsoft.com/office/drawing/2014/main" id="{4686B432-738C-1FD3-CA3D-05C61D84B80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72AA1D9-DA83-3A3B-6D68-E2D4D562F7FC}"/>
              </a:ext>
            </a:extLst>
          </p:cNvPr>
          <p:cNvSpPr>
            <a:spLocks noGrp="1"/>
          </p:cNvSpPr>
          <p:nvPr>
            <p:ph type="sldNum" sz="quarter" idx="12"/>
          </p:nvPr>
        </p:nvSpPr>
        <p:spPr/>
        <p:txBody>
          <a:bodyPr/>
          <a:lstStyle/>
          <a:p>
            <a:fld id="{F8ECA773-A7F5-4590-AAFB-EC841F376793}" type="slidenum">
              <a:rPr lang="en-IN" smtClean="0"/>
              <a:t>‹#›</a:t>
            </a:fld>
            <a:endParaRPr lang="en-IN"/>
          </a:p>
        </p:txBody>
      </p:sp>
    </p:spTree>
    <p:extLst>
      <p:ext uri="{BB962C8B-B14F-4D97-AF65-F5344CB8AC3E}">
        <p14:creationId xmlns:p14="http://schemas.microsoft.com/office/powerpoint/2010/main" val="3416176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8A52A-47BC-4534-ADE4-FD5928DF73D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69AA34B-5100-105A-A9C4-F0D87643EBC0}"/>
              </a:ext>
            </a:extLst>
          </p:cNvPr>
          <p:cNvSpPr>
            <a:spLocks noGrp="1"/>
          </p:cNvSpPr>
          <p:nvPr>
            <p:ph type="dt" sz="half" idx="10"/>
          </p:nvPr>
        </p:nvSpPr>
        <p:spPr/>
        <p:txBody>
          <a:bodyPr/>
          <a:lstStyle/>
          <a:p>
            <a:fld id="{89F02627-7515-49F0-8E31-959BCB0A354C}" type="datetimeFigureOut">
              <a:rPr lang="en-IN" smtClean="0"/>
              <a:t>18-04-2025</a:t>
            </a:fld>
            <a:endParaRPr lang="en-IN"/>
          </a:p>
        </p:txBody>
      </p:sp>
      <p:sp>
        <p:nvSpPr>
          <p:cNvPr id="4" name="Footer Placeholder 3">
            <a:extLst>
              <a:ext uri="{FF2B5EF4-FFF2-40B4-BE49-F238E27FC236}">
                <a16:creationId xmlns:a16="http://schemas.microsoft.com/office/drawing/2014/main" id="{6A02FD92-3B31-EB2A-988E-8A7B3542C90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D908B5F-6155-0AB6-3F6B-0B3DC97F92F8}"/>
              </a:ext>
            </a:extLst>
          </p:cNvPr>
          <p:cNvSpPr>
            <a:spLocks noGrp="1"/>
          </p:cNvSpPr>
          <p:nvPr>
            <p:ph type="sldNum" sz="quarter" idx="12"/>
          </p:nvPr>
        </p:nvSpPr>
        <p:spPr/>
        <p:txBody>
          <a:bodyPr/>
          <a:lstStyle/>
          <a:p>
            <a:fld id="{F8ECA773-A7F5-4590-AAFB-EC841F376793}" type="slidenum">
              <a:rPr lang="en-IN" smtClean="0"/>
              <a:t>‹#›</a:t>
            </a:fld>
            <a:endParaRPr lang="en-IN"/>
          </a:p>
        </p:txBody>
      </p:sp>
    </p:spTree>
    <p:extLst>
      <p:ext uri="{BB962C8B-B14F-4D97-AF65-F5344CB8AC3E}">
        <p14:creationId xmlns:p14="http://schemas.microsoft.com/office/powerpoint/2010/main" val="2658011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A4F9C2-BE02-BAD7-08BD-7547FEE23667}"/>
              </a:ext>
            </a:extLst>
          </p:cNvPr>
          <p:cNvSpPr>
            <a:spLocks noGrp="1"/>
          </p:cNvSpPr>
          <p:nvPr>
            <p:ph type="dt" sz="half" idx="10"/>
          </p:nvPr>
        </p:nvSpPr>
        <p:spPr/>
        <p:txBody>
          <a:bodyPr/>
          <a:lstStyle/>
          <a:p>
            <a:fld id="{89F02627-7515-49F0-8E31-959BCB0A354C}" type="datetimeFigureOut">
              <a:rPr lang="en-IN" smtClean="0"/>
              <a:t>18-04-2025</a:t>
            </a:fld>
            <a:endParaRPr lang="en-IN"/>
          </a:p>
        </p:txBody>
      </p:sp>
      <p:sp>
        <p:nvSpPr>
          <p:cNvPr id="3" name="Footer Placeholder 2">
            <a:extLst>
              <a:ext uri="{FF2B5EF4-FFF2-40B4-BE49-F238E27FC236}">
                <a16:creationId xmlns:a16="http://schemas.microsoft.com/office/drawing/2014/main" id="{8430CF66-F00C-ACD5-E081-DD591C6B79E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463823A-B71D-82B2-F878-4AF48EC4AF44}"/>
              </a:ext>
            </a:extLst>
          </p:cNvPr>
          <p:cNvSpPr>
            <a:spLocks noGrp="1"/>
          </p:cNvSpPr>
          <p:nvPr>
            <p:ph type="sldNum" sz="quarter" idx="12"/>
          </p:nvPr>
        </p:nvSpPr>
        <p:spPr/>
        <p:txBody>
          <a:bodyPr/>
          <a:lstStyle/>
          <a:p>
            <a:fld id="{F8ECA773-A7F5-4590-AAFB-EC841F376793}" type="slidenum">
              <a:rPr lang="en-IN" smtClean="0"/>
              <a:t>‹#›</a:t>
            </a:fld>
            <a:endParaRPr lang="en-IN"/>
          </a:p>
        </p:txBody>
      </p:sp>
    </p:spTree>
    <p:extLst>
      <p:ext uri="{BB962C8B-B14F-4D97-AF65-F5344CB8AC3E}">
        <p14:creationId xmlns:p14="http://schemas.microsoft.com/office/powerpoint/2010/main" val="645837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5C744-75C6-EBD8-734F-E80B41B823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12BDDDF-7037-09ED-5CA5-0EB164578C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574449D-1F02-95A7-03FF-C9BCB1C130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9CACF0-87D2-DAEF-E5D3-C2736448B5C4}"/>
              </a:ext>
            </a:extLst>
          </p:cNvPr>
          <p:cNvSpPr>
            <a:spLocks noGrp="1"/>
          </p:cNvSpPr>
          <p:nvPr>
            <p:ph type="dt" sz="half" idx="10"/>
          </p:nvPr>
        </p:nvSpPr>
        <p:spPr/>
        <p:txBody>
          <a:bodyPr/>
          <a:lstStyle/>
          <a:p>
            <a:fld id="{89F02627-7515-49F0-8E31-959BCB0A354C}" type="datetimeFigureOut">
              <a:rPr lang="en-IN" smtClean="0"/>
              <a:t>18-04-2025</a:t>
            </a:fld>
            <a:endParaRPr lang="en-IN"/>
          </a:p>
        </p:txBody>
      </p:sp>
      <p:sp>
        <p:nvSpPr>
          <p:cNvPr id="6" name="Footer Placeholder 5">
            <a:extLst>
              <a:ext uri="{FF2B5EF4-FFF2-40B4-BE49-F238E27FC236}">
                <a16:creationId xmlns:a16="http://schemas.microsoft.com/office/drawing/2014/main" id="{4ACC9109-8E5B-C64D-361F-D97C5B0AE8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87C7AF-9B13-BC7D-1ED5-5A322B7AB3B2}"/>
              </a:ext>
            </a:extLst>
          </p:cNvPr>
          <p:cNvSpPr>
            <a:spLocks noGrp="1"/>
          </p:cNvSpPr>
          <p:nvPr>
            <p:ph type="sldNum" sz="quarter" idx="12"/>
          </p:nvPr>
        </p:nvSpPr>
        <p:spPr/>
        <p:txBody>
          <a:bodyPr/>
          <a:lstStyle/>
          <a:p>
            <a:fld id="{F8ECA773-A7F5-4590-AAFB-EC841F376793}" type="slidenum">
              <a:rPr lang="en-IN" smtClean="0"/>
              <a:t>‹#›</a:t>
            </a:fld>
            <a:endParaRPr lang="en-IN"/>
          </a:p>
        </p:txBody>
      </p:sp>
    </p:spTree>
    <p:extLst>
      <p:ext uri="{BB962C8B-B14F-4D97-AF65-F5344CB8AC3E}">
        <p14:creationId xmlns:p14="http://schemas.microsoft.com/office/powerpoint/2010/main" val="1042404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7CDE4-9AED-3C12-3E74-7E5E16EF43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885F01-F431-A7B2-954F-480C32E6E1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E6C557A-46E9-EB24-3A3D-FB28987CD2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91EBFA-A929-E1CE-03B6-D27418F61539}"/>
              </a:ext>
            </a:extLst>
          </p:cNvPr>
          <p:cNvSpPr>
            <a:spLocks noGrp="1"/>
          </p:cNvSpPr>
          <p:nvPr>
            <p:ph type="dt" sz="half" idx="10"/>
          </p:nvPr>
        </p:nvSpPr>
        <p:spPr/>
        <p:txBody>
          <a:bodyPr/>
          <a:lstStyle/>
          <a:p>
            <a:fld id="{89F02627-7515-49F0-8E31-959BCB0A354C}" type="datetimeFigureOut">
              <a:rPr lang="en-IN" smtClean="0"/>
              <a:t>18-04-2025</a:t>
            </a:fld>
            <a:endParaRPr lang="en-IN"/>
          </a:p>
        </p:txBody>
      </p:sp>
      <p:sp>
        <p:nvSpPr>
          <p:cNvPr id="6" name="Footer Placeholder 5">
            <a:extLst>
              <a:ext uri="{FF2B5EF4-FFF2-40B4-BE49-F238E27FC236}">
                <a16:creationId xmlns:a16="http://schemas.microsoft.com/office/drawing/2014/main" id="{D3351A8D-E779-9685-2BA6-C34B03B6B7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311A5B-77AD-07F8-DB6C-A558B48B36AF}"/>
              </a:ext>
            </a:extLst>
          </p:cNvPr>
          <p:cNvSpPr>
            <a:spLocks noGrp="1"/>
          </p:cNvSpPr>
          <p:nvPr>
            <p:ph type="sldNum" sz="quarter" idx="12"/>
          </p:nvPr>
        </p:nvSpPr>
        <p:spPr/>
        <p:txBody>
          <a:bodyPr/>
          <a:lstStyle/>
          <a:p>
            <a:fld id="{F8ECA773-A7F5-4590-AAFB-EC841F376793}" type="slidenum">
              <a:rPr lang="en-IN" smtClean="0"/>
              <a:t>‹#›</a:t>
            </a:fld>
            <a:endParaRPr lang="en-IN"/>
          </a:p>
        </p:txBody>
      </p:sp>
    </p:spTree>
    <p:extLst>
      <p:ext uri="{BB962C8B-B14F-4D97-AF65-F5344CB8AC3E}">
        <p14:creationId xmlns:p14="http://schemas.microsoft.com/office/powerpoint/2010/main" val="1209874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57021-9493-9E06-79E4-6683F38CF05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AB4AC8-1D65-35D1-AB1B-D9038E200F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B5970E-79F1-EF7D-80F1-B1BCAB1875E2}"/>
              </a:ext>
            </a:extLst>
          </p:cNvPr>
          <p:cNvSpPr>
            <a:spLocks noGrp="1"/>
          </p:cNvSpPr>
          <p:nvPr>
            <p:ph type="dt" sz="half" idx="10"/>
          </p:nvPr>
        </p:nvSpPr>
        <p:spPr/>
        <p:txBody>
          <a:bodyPr/>
          <a:lstStyle/>
          <a:p>
            <a:fld id="{89F02627-7515-49F0-8E31-959BCB0A354C}" type="datetimeFigureOut">
              <a:rPr lang="en-IN" smtClean="0"/>
              <a:t>18-04-2025</a:t>
            </a:fld>
            <a:endParaRPr lang="en-IN"/>
          </a:p>
        </p:txBody>
      </p:sp>
      <p:sp>
        <p:nvSpPr>
          <p:cNvPr id="5" name="Footer Placeholder 4">
            <a:extLst>
              <a:ext uri="{FF2B5EF4-FFF2-40B4-BE49-F238E27FC236}">
                <a16:creationId xmlns:a16="http://schemas.microsoft.com/office/drawing/2014/main" id="{9666A311-8633-6C13-9C89-9BFEC96901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3349C4-7853-B09F-557A-3758D652AEE3}"/>
              </a:ext>
            </a:extLst>
          </p:cNvPr>
          <p:cNvSpPr>
            <a:spLocks noGrp="1"/>
          </p:cNvSpPr>
          <p:nvPr>
            <p:ph type="sldNum" sz="quarter" idx="12"/>
          </p:nvPr>
        </p:nvSpPr>
        <p:spPr/>
        <p:txBody>
          <a:bodyPr/>
          <a:lstStyle/>
          <a:p>
            <a:fld id="{F8ECA773-A7F5-4590-AAFB-EC841F376793}" type="slidenum">
              <a:rPr lang="en-IN" smtClean="0"/>
              <a:t>‹#›</a:t>
            </a:fld>
            <a:endParaRPr lang="en-IN"/>
          </a:p>
        </p:txBody>
      </p:sp>
    </p:spTree>
    <p:extLst>
      <p:ext uri="{BB962C8B-B14F-4D97-AF65-F5344CB8AC3E}">
        <p14:creationId xmlns:p14="http://schemas.microsoft.com/office/powerpoint/2010/main" val="1503605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F76FEE-7775-5B3F-6E2A-D7452E0336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A2A718-F439-D915-14F2-8DA78CF3C6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7A620C-84C0-3498-A2C4-51ABF423113F}"/>
              </a:ext>
            </a:extLst>
          </p:cNvPr>
          <p:cNvSpPr>
            <a:spLocks noGrp="1"/>
          </p:cNvSpPr>
          <p:nvPr>
            <p:ph type="dt" sz="half" idx="10"/>
          </p:nvPr>
        </p:nvSpPr>
        <p:spPr/>
        <p:txBody>
          <a:bodyPr/>
          <a:lstStyle/>
          <a:p>
            <a:fld id="{89F02627-7515-49F0-8E31-959BCB0A354C}" type="datetimeFigureOut">
              <a:rPr lang="en-IN" smtClean="0"/>
              <a:t>18-04-2025</a:t>
            </a:fld>
            <a:endParaRPr lang="en-IN"/>
          </a:p>
        </p:txBody>
      </p:sp>
      <p:sp>
        <p:nvSpPr>
          <p:cNvPr id="5" name="Footer Placeholder 4">
            <a:extLst>
              <a:ext uri="{FF2B5EF4-FFF2-40B4-BE49-F238E27FC236}">
                <a16:creationId xmlns:a16="http://schemas.microsoft.com/office/drawing/2014/main" id="{14523B31-A985-DB75-0D04-2AF58D11CC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2A0FE0-B84D-482C-4AB2-AD0C0DEB3DDD}"/>
              </a:ext>
            </a:extLst>
          </p:cNvPr>
          <p:cNvSpPr>
            <a:spLocks noGrp="1"/>
          </p:cNvSpPr>
          <p:nvPr>
            <p:ph type="sldNum" sz="quarter" idx="12"/>
          </p:nvPr>
        </p:nvSpPr>
        <p:spPr/>
        <p:txBody>
          <a:bodyPr/>
          <a:lstStyle/>
          <a:p>
            <a:fld id="{F8ECA773-A7F5-4590-AAFB-EC841F376793}" type="slidenum">
              <a:rPr lang="en-IN" smtClean="0"/>
              <a:t>‹#›</a:t>
            </a:fld>
            <a:endParaRPr lang="en-IN"/>
          </a:p>
        </p:txBody>
      </p:sp>
    </p:spTree>
    <p:extLst>
      <p:ext uri="{BB962C8B-B14F-4D97-AF65-F5344CB8AC3E}">
        <p14:creationId xmlns:p14="http://schemas.microsoft.com/office/powerpoint/2010/main" val="1518985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42698E-365B-7BFD-B962-C5268475DE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DEF99B3-E764-6ED2-4619-FA3B348D85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482D4F-EAFE-05AA-1CB9-7ED9AC8BEB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F02627-7515-49F0-8E31-959BCB0A354C}" type="datetimeFigureOut">
              <a:rPr lang="en-IN" smtClean="0"/>
              <a:t>18-04-2025</a:t>
            </a:fld>
            <a:endParaRPr lang="en-IN"/>
          </a:p>
        </p:txBody>
      </p:sp>
      <p:sp>
        <p:nvSpPr>
          <p:cNvPr id="5" name="Footer Placeholder 4">
            <a:extLst>
              <a:ext uri="{FF2B5EF4-FFF2-40B4-BE49-F238E27FC236}">
                <a16:creationId xmlns:a16="http://schemas.microsoft.com/office/drawing/2014/main" id="{535F01E7-FD4E-8642-E2CD-CA18911D67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0C3B950-61A2-610F-AED4-AD09C278A2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ECA773-A7F5-4590-AAFB-EC841F376793}" type="slidenum">
              <a:rPr lang="en-IN" smtClean="0"/>
              <a:t>‹#›</a:t>
            </a:fld>
            <a:endParaRPr lang="en-IN"/>
          </a:p>
        </p:txBody>
      </p:sp>
    </p:spTree>
    <p:extLst>
      <p:ext uri="{BB962C8B-B14F-4D97-AF65-F5344CB8AC3E}">
        <p14:creationId xmlns:p14="http://schemas.microsoft.com/office/powerpoint/2010/main" val="14551295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linkedin.com/in/rohan-singh-688a7a1b8/" TargetMode="External"/><Relationship Id="rId2" Type="http://schemas.openxmlformats.org/officeDocument/2006/relationships/hyperlink" Target="https://github.com/Rxrohan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bstract background of blue mesh and nodes">
            <a:extLst>
              <a:ext uri="{FF2B5EF4-FFF2-40B4-BE49-F238E27FC236}">
                <a16:creationId xmlns:a16="http://schemas.microsoft.com/office/drawing/2014/main" id="{97FCC01F-0E75-E26A-8AED-7F2C3BCE2DAB}"/>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l="25"/>
          <a:stretch/>
        </p:blipFill>
        <p:spPr>
          <a:xfrm>
            <a:off x="20" y="10"/>
            <a:ext cx="12188930" cy="6857990"/>
          </a:xfrm>
          <a:prstGeom prst="rect">
            <a:avLst/>
          </a:prstGeom>
        </p:spPr>
      </p:pic>
      <p:sp>
        <p:nvSpPr>
          <p:cNvPr id="2" name="Title 1">
            <a:extLst>
              <a:ext uri="{FF2B5EF4-FFF2-40B4-BE49-F238E27FC236}">
                <a16:creationId xmlns:a16="http://schemas.microsoft.com/office/drawing/2014/main" id="{316CF24C-6EA7-AA25-FFF3-E8A0E0A738A8}"/>
              </a:ext>
            </a:extLst>
          </p:cNvPr>
          <p:cNvSpPr>
            <a:spLocks noGrp="1"/>
          </p:cNvSpPr>
          <p:nvPr>
            <p:ph type="ctrTitle"/>
          </p:nvPr>
        </p:nvSpPr>
        <p:spPr>
          <a:xfrm>
            <a:off x="1523999" y="1122363"/>
            <a:ext cx="9718623" cy="3063240"/>
          </a:xfrm>
        </p:spPr>
        <p:txBody>
          <a:bodyPr>
            <a:normAutofit/>
          </a:bodyPr>
          <a:lstStyle/>
          <a:p>
            <a:r>
              <a:rPr lang="en-IN" sz="6600" dirty="0">
                <a:solidFill>
                  <a:schemeClr val="bg1"/>
                </a:solidFill>
              </a:rPr>
              <a:t>Digital Medical Device Lifecycle &amp; Risk Management Platform</a:t>
            </a:r>
          </a:p>
        </p:txBody>
      </p:sp>
      <p:sp>
        <p:nvSpPr>
          <p:cNvPr id="3" name="Subtitle 2">
            <a:extLst>
              <a:ext uri="{FF2B5EF4-FFF2-40B4-BE49-F238E27FC236}">
                <a16:creationId xmlns:a16="http://schemas.microsoft.com/office/drawing/2014/main" id="{504C9841-C188-07E0-5B91-E4C61E85166C}"/>
              </a:ext>
            </a:extLst>
          </p:cNvPr>
          <p:cNvSpPr>
            <a:spLocks noGrp="1"/>
          </p:cNvSpPr>
          <p:nvPr>
            <p:ph type="subTitle" idx="1"/>
          </p:nvPr>
        </p:nvSpPr>
        <p:spPr>
          <a:xfrm>
            <a:off x="1527048" y="4599432"/>
            <a:ext cx="9144000" cy="1536192"/>
          </a:xfrm>
        </p:spPr>
        <p:txBody>
          <a:bodyPr>
            <a:normAutofit/>
          </a:bodyPr>
          <a:lstStyle/>
          <a:p>
            <a:r>
              <a:rPr lang="en-IN">
                <a:solidFill>
                  <a:schemeClr val="bg1"/>
                </a:solidFill>
              </a:rPr>
              <a:t>Rohan Singh</a:t>
            </a:r>
          </a:p>
        </p:txBody>
      </p:sp>
      <p:sp>
        <p:nvSpPr>
          <p:cNvPr id="13"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Graphic 20" descr="Doctor female outline">
            <a:extLst>
              <a:ext uri="{FF2B5EF4-FFF2-40B4-BE49-F238E27FC236}">
                <a16:creationId xmlns:a16="http://schemas.microsoft.com/office/drawing/2014/main" id="{AFC8F6EE-EF46-0A0D-56B8-C9E0F59F0E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335" y="1421766"/>
            <a:ext cx="914400" cy="914400"/>
          </a:xfrm>
          <a:prstGeom prst="rect">
            <a:avLst/>
          </a:prstGeom>
        </p:spPr>
      </p:pic>
      <p:pic>
        <p:nvPicPr>
          <p:cNvPr id="22" name="Graphic 21" descr="Inpatient with solid fill">
            <a:extLst>
              <a:ext uri="{FF2B5EF4-FFF2-40B4-BE49-F238E27FC236}">
                <a16:creationId xmlns:a16="http://schemas.microsoft.com/office/drawing/2014/main" id="{59F5192A-F7B4-37C3-2C2E-00C22567D88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2178" y="2336166"/>
            <a:ext cx="914400" cy="914400"/>
          </a:xfrm>
          <a:prstGeom prst="rect">
            <a:avLst/>
          </a:prstGeom>
        </p:spPr>
      </p:pic>
      <p:pic>
        <p:nvPicPr>
          <p:cNvPr id="23" name="Graphic 22" descr="Hospital with solid fill">
            <a:extLst>
              <a:ext uri="{FF2B5EF4-FFF2-40B4-BE49-F238E27FC236}">
                <a16:creationId xmlns:a16="http://schemas.microsoft.com/office/drawing/2014/main" id="{9E4B18A6-E1C6-4989-C059-688497BF151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2178" y="3271203"/>
            <a:ext cx="914400" cy="914400"/>
          </a:xfrm>
          <a:prstGeom prst="rect">
            <a:avLst/>
          </a:prstGeom>
        </p:spPr>
      </p:pic>
      <p:pic>
        <p:nvPicPr>
          <p:cNvPr id="26" name="Graphic 25" descr="Doctor female outline">
            <a:extLst>
              <a:ext uri="{FF2B5EF4-FFF2-40B4-BE49-F238E27FC236}">
                <a16:creationId xmlns:a16="http://schemas.microsoft.com/office/drawing/2014/main" id="{763F2686-B42C-D4E4-B691-636B43395CC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97652" y="1421766"/>
            <a:ext cx="914400" cy="914400"/>
          </a:xfrm>
          <a:prstGeom prst="rect">
            <a:avLst/>
          </a:prstGeom>
        </p:spPr>
      </p:pic>
      <p:pic>
        <p:nvPicPr>
          <p:cNvPr id="27" name="Graphic 26" descr="Inpatient with solid fill">
            <a:extLst>
              <a:ext uri="{FF2B5EF4-FFF2-40B4-BE49-F238E27FC236}">
                <a16:creationId xmlns:a16="http://schemas.microsoft.com/office/drawing/2014/main" id="{DD5D09AE-72BC-A496-6360-D4E828E0AF4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13749" y="2336166"/>
            <a:ext cx="914400" cy="914400"/>
          </a:xfrm>
          <a:prstGeom prst="rect">
            <a:avLst/>
          </a:prstGeom>
        </p:spPr>
      </p:pic>
      <p:pic>
        <p:nvPicPr>
          <p:cNvPr id="28" name="Graphic 27" descr="Hospital with solid fill">
            <a:extLst>
              <a:ext uri="{FF2B5EF4-FFF2-40B4-BE49-F238E27FC236}">
                <a16:creationId xmlns:a16="http://schemas.microsoft.com/office/drawing/2014/main" id="{CC4A45B8-5D6F-C00E-4989-3CEEC3E14C8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13749" y="3271203"/>
            <a:ext cx="914400" cy="914400"/>
          </a:xfrm>
          <a:prstGeom prst="rect">
            <a:avLst/>
          </a:prstGeom>
        </p:spPr>
      </p:pic>
    </p:spTree>
    <p:extLst>
      <p:ext uri="{BB962C8B-B14F-4D97-AF65-F5344CB8AC3E}">
        <p14:creationId xmlns:p14="http://schemas.microsoft.com/office/powerpoint/2010/main" val="4249707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9E7F7-3228-C909-3FF8-5A2F067D12C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1D4CD24-C889-666D-11E6-6419165B9548}"/>
              </a:ext>
            </a:extLst>
          </p:cNvPr>
          <p:cNvSpPr>
            <a:spLocks noGrp="1"/>
          </p:cNvSpPr>
          <p:nvPr>
            <p:ph idx="1"/>
          </p:nvPr>
        </p:nvSpPr>
        <p:spPr/>
        <p:txBody>
          <a:bodyPr/>
          <a:lstStyle/>
          <a:p>
            <a:endParaRPr lang="en-IN" dirty="0"/>
          </a:p>
        </p:txBody>
      </p:sp>
      <p:sp>
        <p:nvSpPr>
          <p:cNvPr id="6" name="TextBox 5">
            <a:extLst>
              <a:ext uri="{FF2B5EF4-FFF2-40B4-BE49-F238E27FC236}">
                <a16:creationId xmlns:a16="http://schemas.microsoft.com/office/drawing/2014/main" id="{E534FB62-4874-D945-CE82-A01B8519317D}"/>
              </a:ext>
            </a:extLst>
          </p:cNvPr>
          <p:cNvSpPr txBox="1"/>
          <p:nvPr/>
        </p:nvSpPr>
        <p:spPr>
          <a:xfrm>
            <a:off x="3214490" y="2354150"/>
            <a:ext cx="6401733" cy="3957750"/>
          </a:xfrm>
          <a:prstGeom prst="rect">
            <a:avLst/>
          </a:prstGeom>
          <a:noFill/>
        </p:spPr>
        <p:txBody>
          <a:bodyPr wrap="square">
            <a:spAutoFit/>
          </a:bodyPr>
          <a:lstStyle/>
          <a:p>
            <a:pPr>
              <a:lnSpc>
                <a:spcPct val="107000"/>
              </a:lnSpc>
              <a:spcAft>
                <a:spcPts val="800"/>
              </a:spcAft>
              <a:buNone/>
            </a:pPr>
            <a:r>
              <a:rPr lang="en-IN" sz="1800" b="1" kern="100" dirty="0">
                <a:effectLst/>
                <a:latin typeface="Segoe UI Emoji" panose="020B0502040204020203" pitchFamily="34" charset="0"/>
                <a:ea typeface="Aptos" panose="020B0004020202020204" pitchFamily="34" charset="0"/>
                <a:cs typeface="Segoe UI Emoji" panose="020B0502040204020203" pitchFamily="34" charset="0"/>
              </a:rPr>
              <a:t>🧠</a:t>
            </a:r>
            <a:r>
              <a:rPr lang="en-IN" sz="1800" b="1" kern="100" dirty="0">
                <a:effectLst/>
                <a:latin typeface="Aptos" panose="020B0004020202020204" pitchFamily="34" charset="0"/>
                <a:ea typeface="Aptos" panose="020B0004020202020204" pitchFamily="34" charset="0"/>
                <a:cs typeface="Times New Roman" panose="02020603050405020304" pitchFamily="18" charset="0"/>
              </a:rPr>
              <a:t> Strategic Insight (Consulting Angle):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Most global tools (like GE) focus on </a:t>
            </a:r>
            <a:r>
              <a:rPr lang="en-IN" sz="1800" b="1" kern="100" dirty="0">
                <a:effectLst/>
                <a:latin typeface="Aptos" panose="020B0004020202020204" pitchFamily="34" charset="0"/>
                <a:ea typeface="Aptos" panose="020B0004020202020204" pitchFamily="34" charset="0"/>
                <a:cs typeface="Times New Roman" panose="02020603050405020304" pitchFamily="18" charset="0"/>
              </a:rPr>
              <a:t>device monitoring and integration with EMRs</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not </a:t>
            </a:r>
            <a:r>
              <a:rPr lang="en-IN" sz="1800" b="1" kern="100" dirty="0">
                <a:effectLst/>
                <a:latin typeface="Aptos" panose="020B0004020202020204" pitchFamily="34" charset="0"/>
                <a:ea typeface="Aptos" panose="020B0004020202020204" pitchFamily="34" charset="0"/>
                <a:cs typeface="Times New Roman" panose="02020603050405020304" pitchFamily="18" charset="0"/>
              </a:rPr>
              <a:t>lifecycle or compliance management</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Indian hospitals either </a:t>
            </a:r>
            <a:r>
              <a:rPr lang="en-IN" sz="1800" b="1" kern="100" dirty="0">
                <a:effectLst/>
                <a:latin typeface="Aptos" panose="020B0004020202020204" pitchFamily="34" charset="0"/>
                <a:ea typeface="Aptos" panose="020B0004020202020204" pitchFamily="34" charset="0"/>
                <a:cs typeface="Times New Roman" panose="02020603050405020304" pitchFamily="18" charset="0"/>
              </a:rPr>
              <a:t>lack platforms entirely</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or rely on </a:t>
            </a:r>
            <a:r>
              <a:rPr lang="en-IN" sz="1800" b="1" kern="100" dirty="0">
                <a:effectLst/>
                <a:latin typeface="Aptos" panose="020B0004020202020204" pitchFamily="34" charset="0"/>
                <a:ea typeface="Aptos" panose="020B0004020202020204" pitchFamily="34" charset="0"/>
                <a:cs typeface="Times New Roman" panose="02020603050405020304" pitchFamily="18" charset="0"/>
              </a:rPr>
              <a:t>paper-based reporting</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This leaves a </a:t>
            </a:r>
            <a:r>
              <a:rPr lang="en-IN" sz="1800" b="1" kern="100" dirty="0">
                <a:effectLst/>
                <a:latin typeface="Aptos" panose="020B0004020202020204" pitchFamily="34" charset="0"/>
                <a:ea typeface="Aptos" panose="020B0004020202020204" pitchFamily="34" charset="0"/>
                <a:cs typeface="Times New Roman" panose="02020603050405020304" pitchFamily="18" charset="0"/>
              </a:rPr>
              <a:t>significant market gap</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for a lightweight, modular tool that:</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Tracks device usage and health</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Scores risks (per ISO 14971)</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Visualizes dashboards for admins</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Generates </a:t>
            </a:r>
            <a:r>
              <a:rPr lang="en-IN" sz="1800" b="1" kern="100" dirty="0">
                <a:effectLst/>
                <a:latin typeface="Aptos" panose="020B0004020202020204" pitchFamily="34" charset="0"/>
                <a:ea typeface="Aptos" panose="020B0004020202020204" pitchFamily="34" charset="0"/>
                <a:cs typeface="Times New Roman" panose="02020603050405020304" pitchFamily="18" charset="0"/>
              </a:rPr>
              <a:t>audit-ready reports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Works in </a:t>
            </a:r>
            <a:r>
              <a:rPr lang="en-IN" sz="1800" b="1" kern="100" dirty="0">
                <a:effectLst/>
                <a:latin typeface="Aptos" panose="020B0004020202020204" pitchFamily="34" charset="0"/>
                <a:ea typeface="Aptos" panose="020B0004020202020204" pitchFamily="34" charset="0"/>
                <a:cs typeface="Times New Roman" panose="02020603050405020304" pitchFamily="18" charset="0"/>
              </a:rPr>
              <a:t>low-resource hospital environments</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Rectangle 1">
            <a:extLst>
              <a:ext uri="{FF2B5EF4-FFF2-40B4-BE49-F238E27FC236}">
                <a16:creationId xmlns:a16="http://schemas.microsoft.com/office/drawing/2014/main" id="{A585B347-DF49-A233-13C9-C038B31C2846}"/>
              </a:ext>
            </a:extLst>
          </p:cNvPr>
          <p:cNvSpPr txBox="1">
            <a:spLocks noChangeArrowheads="1"/>
          </p:cNvSpPr>
          <p:nvPr/>
        </p:nvSpPr>
        <p:spPr bwMode="auto">
          <a:xfrm>
            <a:off x="538397" y="2314371"/>
            <a:ext cx="488762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 typeface="Arial" panose="020B0604020202020204" pitchFamily="34" charset="0"/>
              <a:buNone/>
            </a:pPr>
            <a:r>
              <a:rPr lang="en-US" altLang="en-US" sz="1800" b="1">
                <a:latin typeface="Arial" panose="020B0604020202020204" pitchFamily="34" charset="0"/>
              </a:rPr>
              <a:t>Tools Used</a:t>
            </a:r>
            <a:endParaRPr lang="en-US" altLang="en-US" sz="1800">
              <a:latin typeface="Arial" panose="020B0604020202020204" pitchFamily="34" charset="0"/>
            </a:endParaRPr>
          </a:p>
          <a:p>
            <a:pPr marL="0" indent="0" eaLnBrk="0" fontAlgn="base" hangingPunct="0">
              <a:lnSpc>
                <a:spcPct val="100000"/>
              </a:lnSpc>
              <a:spcBef>
                <a:spcPct val="0"/>
              </a:spcBef>
              <a:spcAft>
                <a:spcPct val="0"/>
              </a:spcAft>
              <a:buFontTx/>
              <a:buChar char="•"/>
            </a:pPr>
            <a:r>
              <a:rPr lang="en-US" altLang="en-US" sz="1800">
                <a:latin typeface="Arial" panose="020B0604020202020204" pitchFamily="34" charset="0"/>
              </a:rPr>
              <a:t>Wireframing: Figma</a:t>
            </a:r>
          </a:p>
          <a:p>
            <a:pPr marL="0" indent="0" eaLnBrk="0" fontAlgn="base" hangingPunct="0">
              <a:lnSpc>
                <a:spcPct val="100000"/>
              </a:lnSpc>
              <a:spcBef>
                <a:spcPct val="0"/>
              </a:spcBef>
              <a:spcAft>
                <a:spcPct val="0"/>
              </a:spcAft>
              <a:buFontTx/>
              <a:buChar char="•"/>
            </a:pPr>
            <a:r>
              <a:rPr lang="en-US" altLang="en-US" sz="1800">
                <a:latin typeface="Arial" panose="020B0604020202020204" pitchFamily="34" charset="0"/>
              </a:rPr>
              <a:t>BI &amp; Analytics: Power BI / Tableau</a:t>
            </a:r>
          </a:p>
          <a:p>
            <a:pPr marL="0" indent="0" eaLnBrk="0" fontAlgn="base" hangingPunct="0">
              <a:lnSpc>
                <a:spcPct val="100000"/>
              </a:lnSpc>
              <a:spcBef>
                <a:spcPct val="0"/>
              </a:spcBef>
              <a:spcAft>
                <a:spcPct val="0"/>
              </a:spcAft>
              <a:buFontTx/>
              <a:buChar char="•"/>
            </a:pPr>
            <a:r>
              <a:rPr lang="en-US" altLang="en-US" sz="1800">
                <a:latin typeface="Arial" panose="020B0604020202020204" pitchFamily="34" charset="0"/>
              </a:rPr>
              <a:t>Mock Data: Excel / Simulated CSV</a:t>
            </a:r>
          </a:p>
          <a:p>
            <a:pPr marL="0" indent="0" eaLnBrk="0" fontAlgn="base" hangingPunct="0">
              <a:lnSpc>
                <a:spcPct val="100000"/>
              </a:lnSpc>
              <a:spcBef>
                <a:spcPct val="0"/>
              </a:spcBef>
              <a:spcAft>
                <a:spcPct val="0"/>
              </a:spcAft>
              <a:buFont typeface="Arial" panose="020B0604020202020204" pitchFamily="34" charset="0"/>
              <a:buNone/>
            </a:pPr>
            <a:r>
              <a:rPr lang="en-US" altLang="en-US" sz="1800" b="1">
                <a:latin typeface="Arial" panose="020B0604020202020204" pitchFamily="34" charset="0"/>
              </a:rPr>
              <a:t>Methodology</a:t>
            </a:r>
            <a:endParaRPr lang="en-US" altLang="en-US" sz="1800">
              <a:latin typeface="Arial" panose="020B0604020202020204" pitchFamily="34" charset="0"/>
            </a:endParaRPr>
          </a:p>
          <a:p>
            <a:pPr marL="0" indent="0" eaLnBrk="0" fontAlgn="base" hangingPunct="0">
              <a:lnSpc>
                <a:spcPct val="100000"/>
              </a:lnSpc>
              <a:spcBef>
                <a:spcPct val="0"/>
              </a:spcBef>
              <a:spcAft>
                <a:spcPct val="0"/>
              </a:spcAft>
              <a:buFontTx/>
              <a:buChar char="•"/>
            </a:pPr>
            <a:r>
              <a:rPr lang="en-US" altLang="en-US" sz="1800">
                <a:latin typeface="Arial" panose="020B0604020202020204" pitchFamily="34" charset="0"/>
              </a:rPr>
              <a:t>Data creation (mock)</a:t>
            </a:r>
          </a:p>
          <a:p>
            <a:pPr marL="0" indent="0" eaLnBrk="0" fontAlgn="base" hangingPunct="0">
              <a:lnSpc>
                <a:spcPct val="100000"/>
              </a:lnSpc>
              <a:spcBef>
                <a:spcPct val="0"/>
              </a:spcBef>
              <a:spcAft>
                <a:spcPct val="0"/>
              </a:spcAft>
              <a:buFontTx/>
              <a:buChar char="•"/>
            </a:pPr>
            <a:r>
              <a:rPr lang="en-US" altLang="en-US" sz="1800">
                <a:latin typeface="Arial" panose="020B0604020202020204" pitchFamily="34" charset="0"/>
              </a:rPr>
              <a:t>Visualization &amp; dashboard building</a:t>
            </a:r>
          </a:p>
          <a:p>
            <a:pPr marL="0" indent="0" eaLnBrk="0" fontAlgn="base" hangingPunct="0">
              <a:lnSpc>
                <a:spcPct val="100000"/>
              </a:lnSpc>
              <a:spcBef>
                <a:spcPct val="0"/>
              </a:spcBef>
              <a:spcAft>
                <a:spcPct val="0"/>
              </a:spcAft>
              <a:buFontTx/>
              <a:buChar char="•"/>
            </a:pPr>
            <a:r>
              <a:rPr lang="en-US" altLang="en-US" sz="1800">
                <a:latin typeface="Arial" panose="020B0604020202020204" pitchFamily="34" charset="0"/>
              </a:rPr>
              <a:t>Iterative design and filter logic updates</a:t>
            </a:r>
          </a:p>
          <a:p>
            <a:pPr marL="0" indent="0" eaLnBrk="0" fontAlgn="base" hangingPunct="0">
              <a:lnSpc>
                <a:spcPct val="100000"/>
              </a:lnSpc>
              <a:spcBef>
                <a:spcPct val="0"/>
              </a:spcBef>
              <a:spcAft>
                <a:spcPct val="0"/>
              </a:spcAft>
              <a:buFontTx/>
              <a:buChar char="•"/>
            </a:pPr>
            <a:r>
              <a:rPr lang="en-IN" altLang="en-US" sz="1800">
                <a:latin typeface="Arial" panose="020B0604020202020204" pitchFamily="34" charset="0"/>
              </a:rPr>
              <a:t>Key metrics tracked: Device Status, Equipment Type, Location, Technician, Trends</a:t>
            </a:r>
            <a:endParaRPr lang="en-US" altLang="en-US" sz="1800">
              <a:latin typeface="Arial" panose="020B0604020202020204" pitchFamily="34" charset="0"/>
            </a:endParaRPr>
          </a:p>
          <a:p>
            <a:pPr marL="0" indent="0" eaLnBrk="0" fontAlgn="base" hangingPunct="0">
              <a:lnSpc>
                <a:spcPct val="100000"/>
              </a:lnSpc>
              <a:spcBef>
                <a:spcPct val="0"/>
              </a:spcBef>
              <a:spcAft>
                <a:spcPct val="0"/>
              </a:spcAft>
              <a:buFontTx/>
              <a:buNone/>
            </a:pPr>
            <a:endParaRPr lang="en-US" altLang="en-US" sz="1800" dirty="0">
              <a:latin typeface="Arial" panose="020B0604020202020204" pitchFamily="34" charset="0"/>
            </a:endParaRPr>
          </a:p>
        </p:txBody>
      </p:sp>
      <p:pic>
        <p:nvPicPr>
          <p:cNvPr id="7" name="Picture 6" descr="Biomedical engineering robot in a lab">
            <a:extLst>
              <a:ext uri="{FF2B5EF4-FFF2-40B4-BE49-F238E27FC236}">
                <a16:creationId xmlns:a16="http://schemas.microsoft.com/office/drawing/2014/main" id="{DC8B4970-E497-40A3-5842-D7C1A92884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768" y="-547423"/>
            <a:ext cx="10287000" cy="6858000"/>
          </a:xfrm>
          <a:prstGeom prst="rect">
            <a:avLst/>
          </a:prstGeom>
        </p:spPr>
      </p:pic>
    </p:spTree>
    <p:extLst>
      <p:ext uri="{BB962C8B-B14F-4D97-AF65-F5344CB8AC3E}">
        <p14:creationId xmlns:p14="http://schemas.microsoft.com/office/powerpoint/2010/main" val="3346200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9A14DE9C-8CDA-20B6-08E6-7174B89BEA03}"/>
              </a:ext>
            </a:extLst>
          </p:cNvPr>
          <p:cNvSpPr/>
          <p:nvPr/>
        </p:nvSpPr>
        <p:spPr>
          <a:xfrm>
            <a:off x="6188988" y="0"/>
            <a:ext cx="6018834" cy="6858000"/>
          </a:xfrm>
          <a:prstGeom prst="rect">
            <a:avLst/>
          </a:prstGeom>
          <a:solidFill>
            <a:schemeClr val="accent2">
              <a:lumMod val="20000"/>
              <a:lumOff val="8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28" name="Rectangle 27">
            <a:extLst>
              <a:ext uri="{FF2B5EF4-FFF2-40B4-BE49-F238E27FC236}">
                <a16:creationId xmlns:a16="http://schemas.microsoft.com/office/drawing/2014/main" id="{2B5BF344-459F-8D6C-A3AD-98A038565ACF}"/>
              </a:ext>
            </a:extLst>
          </p:cNvPr>
          <p:cNvSpPr/>
          <p:nvPr/>
        </p:nvSpPr>
        <p:spPr>
          <a:xfrm>
            <a:off x="0" y="0"/>
            <a:ext cx="6204810" cy="6858000"/>
          </a:xfrm>
          <a:prstGeom prst="rect">
            <a:avLst/>
          </a:prstGeom>
          <a:solidFill>
            <a:schemeClr val="tx2">
              <a:lumMod val="10000"/>
              <a:lumOff val="9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2" name="Title 1">
            <a:extLst>
              <a:ext uri="{FF2B5EF4-FFF2-40B4-BE49-F238E27FC236}">
                <a16:creationId xmlns:a16="http://schemas.microsoft.com/office/drawing/2014/main" id="{F968675B-B2D7-D4DB-995C-DA537101221E}"/>
              </a:ext>
            </a:extLst>
          </p:cNvPr>
          <p:cNvSpPr>
            <a:spLocks noGrp="1"/>
          </p:cNvSpPr>
          <p:nvPr>
            <p:ph type="title"/>
          </p:nvPr>
        </p:nvSpPr>
        <p:spPr>
          <a:xfrm>
            <a:off x="6127580" y="232476"/>
            <a:ext cx="6204810" cy="628139"/>
          </a:xfrm>
        </p:spPr>
        <p:txBody>
          <a:bodyPr>
            <a:normAutofit fontScale="90000"/>
          </a:bodyPr>
          <a:lstStyle/>
          <a:p>
            <a:r>
              <a:rPr lang="en-IN" b="1" dirty="0"/>
              <a:t>Project Plan &amp; Methodology</a:t>
            </a:r>
          </a:p>
        </p:txBody>
      </p:sp>
      <p:graphicFrame>
        <p:nvGraphicFramePr>
          <p:cNvPr id="7" name="Diagram 6">
            <a:extLst>
              <a:ext uri="{FF2B5EF4-FFF2-40B4-BE49-F238E27FC236}">
                <a16:creationId xmlns:a16="http://schemas.microsoft.com/office/drawing/2014/main" id="{059D685C-90C1-4DCE-BE50-14F86805EEDA}"/>
              </a:ext>
            </a:extLst>
          </p:cNvPr>
          <p:cNvGraphicFramePr/>
          <p:nvPr>
            <p:extLst>
              <p:ext uri="{D42A27DB-BD31-4B8C-83A1-F6EECF244321}">
                <p14:modId xmlns:p14="http://schemas.microsoft.com/office/powerpoint/2010/main" val="1603775837"/>
              </p:ext>
            </p:extLst>
          </p:nvPr>
        </p:nvGraphicFramePr>
        <p:xfrm>
          <a:off x="6096000" y="1027906"/>
          <a:ext cx="5927777"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Title 1">
            <a:extLst>
              <a:ext uri="{FF2B5EF4-FFF2-40B4-BE49-F238E27FC236}">
                <a16:creationId xmlns:a16="http://schemas.microsoft.com/office/drawing/2014/main" id="{4E4813A8-838A-69BA-8C98-E0CAC8CDD2B2}"/>
              </a:ext>
            </a:extLst>
          </p:cNvPr>
          <p:cNvSpPr txBox="1">
            <a:spLocks/>
          </p:cNvSpPr>
          <p:nvPr/>
        </p:nvSpPr>
        <p:spPr>
          <a:xfrm>
            <a:off x="106228" y="292712"/>
            <a:ext cx="5927777" cy="628139"/>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t>Project Overview</a:t>
            </a:r>
          </a:p>
        </p:txBody>
      </p:sp>
      <p:sp>
        <p:nvSpPr>
          <p:cNvPr id="21" name="TextBox 20">
            <a:extLst>
              <a:ext uri="{FF2B5EF4-FFF2-40B4-BE49-F238E27FC236}">
                <a16:creationId xmlns:a16="http://schemas.microsoft.com/office/drawing/2014/main" id="{62537A8D-AFEF-0833-DB3B-C70D2C7B1EE2}"/>
              </a:ext>
            </a:extLst>
          </p:cNvPr>
          <p:cNvSpPr txBox="1"/>
          <p:nvPr/>
        </p:nvSpPr>
        <p:spPr>
          <a:xfrm>
            <a:off x="106228" y="2123835"/>
            <a:ext cx="6082760" cy="2610330"/>
          </a:xfrm>
          <a:prstGeom prst="rect">
            <a:avLst/>
          </a:prstGeom>
          <a:noFill/>
        </p:spPr>
        <p:txBody>
          <a:bodyPr wrap="square">
            <a:spAutoFit/>
          </a:bodyPr>
          <a:lstStyle/>
          <a:p>
            <a:pPr algn="just">
              <a:lnSpc>
                <a:spcPct val="107000"/>
              </a:lnSpc>
              <a:spcAft>
                <a:spcPts val="800"/>
              </a:spcAft>
              <a:buNone/>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Objectives: </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Design a digital platform that enables hospitals to track, assess, and optimize the lifecycle of medical devices while aligning with ISO 14971 risk management standards.</a:t>
            </a:r>
          </a:p>
          <a:p>
            <a:pPr algn="just">
              <a:lnSpc>
                <a:spcPct val="107000"/>
              </a:lnSpc>
              <a:spcAft>
                <a:spcPts val="800"/>
              </a:spcAft>
              <a:buNone/>
            </a:pPr>
            <a:r>
              <a:rPr lang="en-IN" b="1" kern="100" dirty="0">
                <a:latin typeface="Aptos" panose="020B0004020202020204" pitchFamily="34" charset="0"/>
                <a:ea typeface="Aptos" panose="020B0004020202020204" pitchFamily="34" charset="0"/>
                <a:cs typeface="Times New Roman" panose="02020603050405020304" pitchFamily="18" charset="0"/>
              </a:rPr>
              <a:t>Goals </a:t>
            </a:r>
          </a:p>
          <a:p>
            <a:pPr algn="just">
              <a:buFont typeface="Arial" panose="020B0604020202020204" pitchFamily="34" charset="0"/>
              <a:buChar char="•"/>
            </a:pPr>
            <a:r>
              <a:rPr lang="en-IN" sz="1800" dirty="0"/>
              <a:t>Track device health and usage</a:t>
            </a:r>
          </a:p>
          <a:p>
            <a:pPr algn="just">
              <a:buFont typeface="Arial" panose="020B0604020202020204" pitchFamily="34" charset="0"/>
              <a:buChar char="•"/>
            </a:pPr>
            <a:r>
              <a:rPr lang="en-IN" sz="1800" dirty="0"/>
              <a:t>Visualize risks and maintenance load</a:t>
            </a:r>
          </a:p>
          <a:p>
            <a:pPr algn="just">
              <a:buFont typeface="Arial" panose="020B0604020202020204" pitchFamily="34" charset="0"/>
              <a:buChar char="•"/>
            </a:pPr>
            <a:r>
              <a:rPr lang="en-IN" sz="1800" dirty="0"/>
              <a:t>Create audit-ready reports</a:t>
            </a:r>
            <a:endParaRPr lang="en-IN" sz="18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3" name="Rectangle 3">
            <a:extLst>
              <a:ext uri="{FF2B5EF4-FFF2-40B4-BE49-F238E27FC236}">
                <a16:creationId xmlns:a16="http://schemas.microsoft.com/office/drawing/2014/main" id="{AC144F5B-B99C-58CE-D378-5F6255A34FD0}"/>
              </a:ext>
            </a:extLst>
          </p:cNvPr>
          <p:cNvSpPr>
            <a:spLocks noChangeArrowheads="1"/>
          </p:cNvSpPr>
          <p:nvPr/>
        </p:nvSpPr>
        <p:spPr bwMode="auto">
          <a:xfrm>
            <a:off x="92988" y="1060678"/>
            <a:ext cx="608276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lang="en-US" altLang="en-US" b="1" dirty="0">
                <a:latin typeface="Arial" panose="020B0604020202020204" pitchFamily="34" charset="0"/>
              </a:rPr>
              <a:t>Problem Identification:</a:t>
            </a:r>
            <a:r>
              <a:rPr lang="en-US" altLang="en-US" dirty="0">
                <a:latin typeface="Arial" panose="020B0604020202020204" pitchFamily="34" charset="0"/>
              </a:rPr>
              <a:t> Manual logs, non-transparent &amp; delayed preventive maintenance of faults in medical devices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TextBox 24">
            <a:extLst>
              <a:ext uri="{FF2B5EF4-FFF2-40B4-BE49-F238E27FC236}">
                <a16:creationId xmlns:a16="http://schemas.microsoft.com/office/drawing/2014/main" id="{39FCEDCD-C428-534A-32CB-8DD19FA9207F}"/>
              </a:ext>
            </a:extLst>
          </p:cNvPr>
          <p:cNvSpPr txBox="1"/>
          <p:nvPr/>
        </p:nvSpPr>
        <p:spPr>
          <a:xfrm>
            <a:off x="92988" y="5446459"/>
            <a:ext cx="5927777" cy="646331"/>
          </a:xfrm>
          <a:prstGeom prst="rect">
            <a:avLst/>
          </a:prstGeom>
          <a:noFill/>
        </p:spPr>
        <p:txBody>
          <a:bodyPr wrap="square">
            <a:spAutoFit/>
          </a:bodyPr>
          <a:lstStyle/>
          <a:p>
            <a:pPr algn="just"/>
            <a:r>
              <a:rPr lang="en-IN" b="1" dirty="0"/>
              <a:t>Key metrics tracked: </a:t>
            </a:r>
            <a:r>
              <a:rPr lang="en-IN" dirty="0"/>
              <a:t>Device Status, Equipment Type, Location, Technician, Trends</a:t>
            </a:r>
          </a:p>
        </p:txBody>
      </p:sp>
      <p:sp>
        <p:nvSpPr>
          <p:cNvPr id="27" name="TextBox 26">
            <a:extLst>
              <a:ext uri="{FF2B5EF4-FFF2-40B4-BE49-F238E27FC236}">
                <a16:creationId xmlns:a16="http://schemas.microsoft.com/office/drawing/2014/main" id="{8C588332-2113-F4E5-E013-4EF1EBCA7373}"/>
              </a:ext>
            </a:extLst>
          </p:cNvPr>
          <p:cNvSpPr txBox="1"/>
          <p:nvPr/>
        </p:nvSpPr>
        <p:spPr>
          <a:xfrm>
            <a:off x="106228" y="4808816"/>
            <a:ext cx="6098582" cy="369332"/>
          </a:xfrm>
          <a:prstGeom prst="rect">
            <a:avLst/>
          </a:prstGeom>
          <a:noFill/>
        </p:spPr>
        <p:txBody>
          <a:bodyPr wrap="square">
            <a:spAutoFit/>
          </a:bodyPr>
          <a:lstStyle/>
          <a:p>
            <a:pPr algn="just"/>
            <a:r>
              <a:rPr lang="en-IN" b="1" kern="100" dirty="0">
                <a:latin typeface="Aptos" panose="020B0004020202020204" pitchFamily="34" charset="0"/>
                <a:ea typeface="Aptos" panose="020B0004020202020204" pitchFamily="34" charset="0"/>
                <a:cs typeface="Times New Roman" panose="02020603050405020304" pitchFamily="18" charset="0"/>
              </a:rPr>
              <a:t>Location: </a:t>
            </a:r>
            <a:r>
              <a:rPr lang="en-IN" kern="100" dirty="0">
                <a:latin typeface="Aptos" panose="020B0004020202020204" pitchFamily="34" charset="0"/>
                <a:ea typeface="Aptos" panose="020B0004020202020204" pitchFamily="34" charset="0"/>
                <a:cs typeface="Times New Roman" panose="02020603050405020304" pitchFamily="18" charset="0"/>
              </a:rPr>
              <a:t>Large Government Hospital</a:t>
            </a:r>
            <a:endParaRPr lang="en-IN" dirty="0"/>
          </a:p>
        </p:txBody>
      </p:sp>
    </p:spTree>
    <p:extLst>
      <p:ext uri="{BB962C8B-B14F-4D97-AF65-F5344CB8AC3E}">
        <p14:creationId xmlns:p14="http://schemas.microsoft.com/office/powerpoint/2010/main" val="3318796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19A5F-1A40-2CE5-A9B1-D37E7F28E53E}"/>
              </a:ext>
            </a:extLst>
          </p:cNvPr>
          <p:cNvSpPr>
            <a:spLocks noGrp="1"/>
          </p:cNvSpPr>
          <p:nvPr>
            <p:ph type="title"/>
          </p:nvPr>
        </p:nvSpPr>
        <p:spPr/>
        <p:txBody>
          <a:bodyPr/>
          <a:lstStyle/>
          <a:p>
            <a:r>
              <a:rPr lang="en-IN" b="1" kern="100" dirty="0">
                <a:latin typeface="Segoe UI Emoji" panose="020B0502040204020203" pitchFamily="34" charset="0"/>
                <a:ea typeface="Aptos" panose="020B0004020202020204" pitchFamily="34" charset="0"/>
                <a:cs typeface="Segoe UI Emoji" panose="020B0502040204020203" pitchFamily="34" charset="0"/>
              </a:rPr>
              <a:t>🧾</a:t>
            </a:r>
            <a:r>
              <a:rPr lang="en-IN" b="1" kern="100" dirty="0">
                <a:latin typeface="Aptos" panose="020B0004020202020204" pitchFamily="34" charset="0"/>
                <a:ea typeface="Aptos" panose="020B0004020202020204" pitchFamily="34" charset="0"/>
                <a:cs typeface="Times New Roman" panose="02020603050405020304" pitchFamily="18" charset="0"/>
              </a:rPr>
              <a:t> Stakeholder Needs &amp; Challenges</a:t>
            </a:r>
            <a:br>
              <a:rPr lang="en-IN" kern="100" dirty="0">
                <a:latin typeface="Aptos" panose="020B0004020202020204" pitchFamily="34" charset="0"/>
                <a:ea typeface="Aptos" panose="020B000402020202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15DE4CBE-17A7-AC53-8F53-F7FF1230CFB4}"/>
              </a:ext>
            </a:extLst>
          </p:cNvPr>
          <p:cNvSpPr>
            <a:spLocks noGrp="1"/>
          </p:cNvSpPr>
          <p:nvPr>
            <p:ph idx="1"/>
          </p:nvPr>
        </p:nvSpPr>
        <p:spPr>
          <a:xfrm>
            <a:off x="655320" y="1575436"/>
            <a:ext cx="10515600" cy="4351338"/>
          </a:xfrm>
        </p:spPr>
        <p:txBody>
          <a:bodyPr>
            <a:normAutofit fontScale="85000" lnSpcReduction="20000"/>
          </a:bodyPr>
          <a:lstStyle/>
          <a:p>
            <a:pPr>
              <a:lnSpc>
                <a:spcPct val="107000"/>
              </a:lnSpc>
              <a:spcAft>
                <a:spcPts val="800"/>
              </a:spcAft>
              <a:buNone/>
            </a:pPr>
            <a:r>
              <a:rPr lang="en-IN" b="1" kern="100" dirty="0">
                <a:latin typeface="Aptos" panose="020B0004020202020204" pitchFamily="34" charset="0"/>
                <a:ea typeface="Aptos" panose="020B0004020202020204" pitchFamily="34" charset="0"/>
                <a:cs typeface="Times New Roman" panose="02020603050405020304" pitchFamily="18" charset="0"/>
              </a:rPr>
              <a:t>Project Context:</a:t>
            </a:r>
            <a:r>
              <a:rPr lang="en-IN" kern="100" dirty="0">
                <a:latin typeface="Aptos" panose="020B0004020202020204" pitchFamily="34" charset="0"/>
                <a:ea typeface="Aptos" panose="020B0004020202020204" pitchFamily="34" charset="0"/>
                <a:cs typeface="Times New Roman" panose="02020603050405020304" pitchFamily="18" charset="0"/>
              </a:rPr>
              <a:t> </a:t>
            </a:r>
            <a:r>
              <a:rPr lang="en-IN" i="1" kern="100" dirty="0">
                <a:latin typeface="Aptos" panose="020B0004020202020204" pitchFamily="34" charset="0"/>
                <a:ea typeface="Aptos" panose="020B0004020202020204" pitchFamily="34" charset="0"/>
                <a:cs typeface="Times New Roman" panose="02020603050405020304" pitchFamily="18" charset="0"/>
              </a:rPr>
              <a:t>Digital Medical Device Lifecycle &amp; Risk Management Platform for a Large Government Hospital</a:t>
            </a:r>
            <a:endParaRPr lang="en-IN" kern="100" dirty="0">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IN" kern="100" dirty="0">
                <a:latin typeface="Aptos" panose="020B0004020202020204" pitchFamily="34" charset="0"/>
                <a:ea typeface="Aptos" panose="020B0004020202020204" pitchFamily="34" charset="0"/>
                <a:cs typeface="Times New Roman" panose="02020603050405020304" pitchFamily="18" charset="0"/>
              </a:rPr>
              <a:t>This section presents an analysis of the primary and secondary stakeholders involved in the lifecycle management of medical devices within a large public healthcare institution. Understanding stakeholder roles, responsibilities, and pain points is critical for aligning platform features with real-world clinical workflows and regulatory expectations.</a:t>
            </a:r>
          </a:p>
          <a:p>
            <a:pPr>
              <a:buNone/>
            </a:pPr>
            <a:r>
              <a:rPr lang="en-IN" dirty="0">
                <a:latin typeface="Aptos" panose="020B0004020202020204" pitchFamily="34" charset="0"/>
                <a:ea typeface="Aptos" panose="020B0004020202020204" pitchFamily="34" charset="0"/>
                <a:cs typeface="Times New Roman" panose="02020603050405020304" pitchFamily="18" charset="0"/>
              </a:rPr>
              <a:t>A large government hospital operates in a resource-intensive, compliance-driven environment. Devices are used and maintained by multidisciplinary teams, and failures or inefficiencies can impact patient safety, operational continuity, and accreditation status (e.g., NABH, ISO 14971compliance). The following table summarizes key stakeholders, their core functions, existing challenges, and strategic requirements from the proposed platform.</a:t>
            </a:r>
            <a:endParaRPr lang="en-IN" dirty="0"/>
          </a:p>
        </p:txBody>
      </p:sp>
    </p:spTree>
    <p:extLst>
      <p:ext uri="{BB962C8B-B14F-4D97-AF65-F5344CB8AC3E}">
        <p14:creationId xmlns:p14="http://schemas.microsoft.com/office/powerpoint/2010/main" val="2773577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9FE701-4809-A938-15E1-14AE29EC416C}"/>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b="1" kern="1200" dirty="0">
                <a:solidFill>
                  <a:srgbClr val="FFFFFF"/>
                </a:solidFill>
                <a:latin typeface="+mj-lt"/>
                <a:ea typeface="+mj-ea"/>
                <a:cs typeface="+mj-cs"/>
              </a:rPr>
              <a:t>Stakeholder Mapping</a:t>
            </a:r>
          </a:p>
        </p:txBody>
      </p:sp>
      <p:graphicFrame>
        <p:nvGraphicFramePr>
          <p:cNvPr id="5" name="Content Placeholder 4">
            <a:extLst>
              <a:ext uri="{FF2B5EF4-FFF2-40B4-BE49-F238E27FC236}">
                <a16:creationId xmlns:a16="http://schemas.microsoft.com/office/drawing/2014/main" id="{BA258153-9F57-6AAD-001C-0E5F0EA7B41B}"/>
              </a:ext>
            </a:extLst>
          </p:cNvPr>
          <p:cNvGraphicFramePr>
            <a:graphicFrameLocks noGrp="1"/>
          </p:cNvGraphicFramePr>
          <p:nvPr>
            <p:ph idx="1"/>
            <p:extLst>
              <p:ext uri="{D42A27DB-BD31-4B8C-83A1-F6EECF244321}">
                <p14:modId xmlns:p14="http://schemas.microsoft.com/office/powerpoint/2010/main" val="1546387446"/>
              </p:ext>
            </p:extLst>
          </p:nvPr>
        </p:nvGraphicFramePr>
        <p:xfrm>
          <a:off x="432225" y="2140627"/>
          <a:ext cx="11327551" cy="4103496"/>
        </p:xfrm>
        <a:graphic>
          <a:graphicData uri="http://schemas.openxmlformats.org/drawingml/2006/table">
            <a:tbl>
              <a:tblPr firstRow="1" firstCol="1" bandRow="1">
                <a:solidFill>
                  <a:schemeClr val="bg1">
                    <a:lumMod val="95000"/>
                  </a:schemeClr>
                </a:solidFill>
                <a:tableStyleId>{5C22544A-7EE6-4342-B048-85BDC9FD1C3A}</a:tableStyleId>
              </a:tblPr>
              <a:tblGrid>
                <a:gridCol w="2771635">
                  <a:extLst>
                    <a:ext uri="{9D8B030D-6E8A-4147-A177-3AD203B41FA5}">
                      <a16:colId xmlns:a16="http://schemas.microsoft.com/office/drawing/2014/main" val="743644784"/>
                    </a:ext>
                  </a:extLst>
                </a:gridCol>
                <a:gridCol w="2864558">
                  <a:extLst>
                    <a:ext uri="{9D8B030D-6E8A-4147-A177-3AD203B41FA5}">
                      <a16:colId xmlns:a16="http://schemas.microsoft.com/office/drawing/2014/main" val="2427802207"/>
                    </a:ext>
                  </a:extLst>
                </a:gridCol>
                <a:gridCol w="2836775">
                  <a:extLst>
                    <a:ext uri="{9D8B030D-6E8A-4147-A177-3AD203B41FA5}">
                      <a16:colId xmlns:a16="http://schemas.microsoft.com/office/drawing/2014/main" val="2042524891"/>
                    </a:ext>
                  </a:extLst>
                </a:gridCol>
                <a:gridCol w="2854583">
                  <a:extLst>
                    <a:ext uri="{9D8B030D-6E8A-4147-A177-3AD203B41FA5}">
                      <a16:colId xmlns:a16="http://schemas.microsoft.com/office/drawing/2014/main" val="1231270192"/>
                    </a:ext>
                  </a:extLst>
                </a:gridCol>
              </a:tblGrid>
              <a:tr h="465822">
                <a:tc>
                  <a:txBody>
                    <a:bodyPr/>
                    <a:lstStyle/>
                    <a:p>
                      <a:pPr>
                        <a:lnSpc>
                          <a:spcPct val="107000"/>
                        </a:lnSpc>
                        <a:spcAft>
                          <a:spcPts val="800"/>
                        </a:spcAft>
                        <a:buNone/>
                      </a:pPr>
                      <a:r>
                        <a:rPr lang="en-IN" sz="1700" b="1" kern="100" cap="none" spc="0" dirty="0">
                          <a:solidFill>
                            <a:schemeClr val="tx1"/>
                          </a:solidFill>
                          <a:effectLst/>
                        </a:rPr>
                        <a:t>Stakeholder Role</a:t>
                      </a:r>
                      <a:endParaRPr lang="en-IN" sz="1700" b="1"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lnSpc>
                          <a:spcPct val="107000"/>
                        </a:lnSpc>
                        <a:spcAft>
                          <a:spcPts val="800"/>
                        </a:spcAft>
                        <a:buNone/>
                      </a:pPr>
                      <a:r>
                        <a:rPr lang="en-IN" sz="1700" b="1" kern="100" cap="none" spc="0">
                          <a:solidFill>
                            <a:schemeClr val="tx1"/>
                          </a:solidFill>
                          <a:effectLst/>
                        </a:rPr>
                        <a:t>Responsibility</a:t>
                      </a:r>
                      <a:endParaRPr lang="en-IN" sz="1700" b="1"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lnSpc>
                          <a:spcPct val="107000"/>
                        </a:lnSpc>
                        <a:spcAft>
                          <a:spcPts val="800"/>
                        </a:spcAft>
                        <a:buNone/>
                      </a:pPr>
                      <a:r>
                        <a:rPr lang="en-IN" sz="1700" b="1" kern="100" cap="none" spc="0">
                          <a:solidFill>
                            <a:schemeClr val="tx1"/>
                          </a:solidFill>
                          <a:effectLst/>
                        </a:rPr>
                        <a:t>Pain Points</a:t>
                      </a:r>
                      <a:endParaRPr lang="en-IN" sz="1700" b="1"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lnSpc>
                          <a:spcPct val="107000"/>
                        </a:lnSpc>
                        <a:spcAft>
                          <a:spcPts val="800"/>
                        </a:spcAft>
                        <a:buNone/>
                      </a:pPr>
                      <a:r>
                        <a:rPr lang="en-IN" sz="1700" b="1" kern="100" cap="none" spc="0">
                          <a:solidFill>
                            <a:schemeClr val="tx1"/>
                          </a:solidFill>
                          <a:effectLst/>
                        </a:rPr>
                        <a:t>Needs / Expectations</a:t>
                      </a:r>
                      <a:endParaRPr lang="en-IN" sz="1700" b="1"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590451862"/>
                  </a:ext>
                </a:extLst>
              </a:tr>
              <a:tr h="606279">
                <a:tc>
                  <a:txBody>
                    <a:bodyPr/>
                    <a:lstStyle/>
                    <a:p>
                      <a:pPr>
                        <a:lnSpc>
                          <a:spcPct val="107000"/>
                        </a:lnSpc>
                        <a:spcAft>
                          <a:spcPts val="800"/>
                        </a:spcAft>
                        <a:buNone/>
                      </a:pPr>
                      <a:r>
                        <a:rPr lang="en-IN" sz="1300" b="1" kern="100" cap="none" spc="0">
                          <a:solidFill>
                            <a:schemeClr val="tx1"/>
                          </a:solidFill>
                          <a:effectLst/>
                        </a:rPr>
                        <a:t>Biomedical Engineer</a:t>
                      </a:r>
                      <a:endParaRPr lang="en-IN" sz="1300" b="1"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ap="flat" cmpd="sng" algn="ctr">
                      <a:solidFill>
                        <a:schemeClr val="accent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a:lnSpc>
                          <a:spcPct val="107000"/>
                        </a:lnSpc>
                        <a:spcAft>
                          <a:spcPts val="800"/>
                        </a:spcAft>
                        <a:buNone/>
                      </a:pPr>
                      <a:r>
                        <a:rPr lang="en-IN" sz="1300" kern="100" cap="none" spc="0">
                          <a:solidFill>
                            <a:schemeClr val="tx1"/>
                          </a:solidFill>
                          <a:effectLst/>
                        </a:rPr>
                        <a:t>Maintenance, calibration, inventory tracking</a:t>
                      </a:r>
                      <a:endParaRPr lang="en-IN" sz="13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a:lnSpc>
                          <a:spcPct val="107000"/>
                        </a:lnSpc>
                        <a:spcAft>
                          <a:spcPts val="800"/>
                        </a:spcAft>
                        <a:buNone/>
                      </a:pPr>
                      <a:r>
                        <a:rPr lang="en-IN" sz="1300" kern="100" cap="none" spc="0">
                          <a:solidFill>
                            <a:schemeClr val="tx1"/>
                          </a:solidFill>
                          <a:effectLst/>
                        </a:rPr>
                        <a:t>Paper logs, lack of alerts, no failure analytics</a:t>
                      </a:r>
                      <a:endParaRPr lang="en-IN" sz="13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a:lnSpc>
                          <a:spcPct val="107000"/>
                        </a:lnSpc>
                        <a:spcAft>
                          <a:spcPts val="800"/>
                        </a:spcAft>
                        <a:buNone/>
                      </a:pPr>
                      <a:r>
                        <a:rPr lang="en-IN" sz="1300" kern="100" cap="none" spc="0">
                          <a:solidFill>
                            <a:schemeClr val="tx1"/>
                          </a:solidFill>
                          <a:effectLst/>
                        </a:rPr>
                        <a:t>Real-time dashboards, performance insights</a:t>
                      </a:r>
                      <a:endParaRPr lang="en-IN" sz="13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1197827537"/>
                  </a:ext>
                </a:extLst>
              </a:tr>
              <a:tr h="606279">
                <a:tc>
                  <a:txBody>
                    <a:bodyPr/>
                    <a:lstStyle/>
                    <a:p>
                      <a:pPr>
                        <a:lnSpc>
                          <a:spcPct val="107000"/>
                        </a:lnSpc>
                        <a:spcAft>
                          <a:spcPts val="800"/>
                        </a:spcAft>
                        <a:buNone/>
                      </a:pPr>
                      <a:r>
                        <a:rPr lang="en-IN" sz="1300" b="1" kern="100" cap="none" spc="0">
                          <a:solidFill>
                            <a:schemeClr val="tx1"/>
                          </a:solidFill>
                          <a:effectLst/>
                        </a:rPr>
                        <a:t>Clinical Staff (Nurses)</a:t>
                      </a:r>
                      <a:endParaRPr lang="en-IN" sz="1300" b="1"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nSpc>
                          <a:spcPct val="107000"/>
                        </a:lnSpc>
                        <a:spcAft>
                          <a:spcPts val="800"/>
                        </a:spcAft>
                        <a:buNone/>
                      </a:pPr>
                      <a:r>
                        <a:rPr lang="en-IN" sz="1300" kern="100" cap="none" spc="0">
                          <a:solidFill>
                            <a:schemeClr val="tx1"/>
                          </a:solidFill>
                          <a:effectLst/>
                        </a:rPr>
                        <a:t>Device operation, error reporting</a:t>
                      </a:r>
                      <a:endParaRPr lang="en-IN" sz="13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nSpc>
                          <a:spcPct val="107000"/>
                        </a:lnSpc>
                        <a:spcAft>
                          <a:spcPts val="800"/>
                        </a:spcAft>
                        <a:buNone/>
                      </a:pPr>
                      <a:r>
                        <a:rPr lang="en-IN" sz="1300" kern="100" cap="none" spc="0">
                          <a:solidFill>
                            <a:schemeClr val="tx1"/>
                          </a:solidFill>
                          <a:effectLst/>
                        </a:rPr>
                        <a:t>Slow reporting, poor training on new devices</a:t>
                      </a:r>
                      <a:endParaRPr lang="en-IN" sz="13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nSpc>
                          <a:spcPct val="107000"/>
                        </a:lnSpc>
                        <a:spcAft>
                          <a:spcPts val="800"/>
                        </a:spcAft>
                        <a:buNone/>
                      </a:pPr>
                      <a:r>
                        <a:rPr lang="en-IN" sz="1300" kern="100" cap="none" spc="0">
                          <a:solidFill>
                            <a:schemeClr val="tx1"/>
                          </a:solidFill>
                          <a:effectLst/>
                        </a:rPr>
                        <a:t>Easy reporting app, training materials, clear SOPs</a:t>
                      </a:r>
                      <a:endParaRPr lang="en-IN" sz="13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1527967467"/>
                  </a:ext>
                </a:extLst>
              </a:tr>
              <a:tr h="606279">
                <a:tc>
                  <a:txBody>
                    <a:bodyPr/>
                    <a:lstStyle/>
                    <a:p>
                      <a:pPr>
                        <a:lnSpc>
                          <a:spcPct val="107000"/>
                        </a:lnSpc>
                        <a:spcAft>
                          <a:spcPts val="800"/>
                        </a:spcAft>
                        <a:buNone/>
                      </a:pPr>
                      <a:r>
                        <a:rPr lang="en-IN" sz="1300" b="1" kern="100" cap="none" spc="0">
                          <a:solidFill>
                            <a:schemeClr val="tx1"/>
                          </a:solidFill>
                          <a:effectLst/>
                        </a:rPr>
                        <a:t>Maintenance Technician</a:t>
                      </a:r>
                      <a:endParaRPr lang="en-IN" sz="1300" b="1"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ap="flat" cmpd="sng" algn="ctr">
                      <a:solidFill>
                        <a:schemeClr val="accent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nSpc>
                          <a:spcPct val="107000"/>
                        </a:lnSpc>
                        <a:spcAft>
                          <a:spcPts val="800"/>
                        </a:spcAft>
                        <a:buNone/>
                      </a:pPr>
                      <a:r>
                        <a:rPr lang="en-IN" sz="1300" kern="100" cap="none" spc="0">
                          <a:solidFill>
                            <a:schemeClr val="tx1"/>
                          </a:solidFill>
                          <a:effectLst/>
                        </a:rPr>
                        <a:t>Field repairs, emergency response</a:t>
                      </a:r>
                      <a:endParaRPr lang="en-IN" sz="13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nSpc>
                          <a:spcPct val="107000"/>
                        </a:lnSpc>
                        <a:spcAft>
                          <a:spcPts val="800"/>
                        </a:spcAft>
                        <a:buNone/>
                      </a:pPr>
                      <a:r>
                        <a:rPr lang="en-IN" sz="1300" kern="100" cap="none" spc="0">
                          <a:solidFill>
                            <a:schemeClr val="tx1"/>
                          </a:solidFill>
                          <a:effectLst/>
                        </a:rPr>
                        <a:t>Doesn’t know what to fix until it breaks</a:t>
                      </a:r>
                      <a:endParaRPr lang="en-IN" sz="13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nSpc>
                          <a:spcPct val="107000"/>
                        </a:lnSpc>
                        <a:spcAft>
                          <a:spcPts val="800"/>
                        </a:spcAft>
                        <a:buNone/>
                      </a:pPr>
                      <a:r>
                        <a:rPr lang="en-IN" sz="1300" kern="100" cap="none" spc="0">
                          <a:solidFill>
                            <a:schemeClr val="tx1"/>
                          </a:solidFill>
                          <a:effectLst/>
                        </a:rPr>
                        <a:t>Preventive maintenance forecast, auto-alerts</a:t>
                      </a:r>
                      <a:endParaRPr lang="en-IN" sz="13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3678261879"/>
                  </a:ext>
                </a:extLst>
              </a:tr>
              <a:tr h="606279">
                <a:tc>
                  <a:txBody>
                    <a:bodyPr/>
                    <a:lstStyle/>
                    <a:p>
                      <a:pPr>
                        <a:lnSpc>
                          <a:spcPct val="107000"/>
                        </a:lnSpc>
                        <a:spcAft>
                          <a:spcPts val="800"/>
                        </a:spcAft>
                        <a:buNone/>
                      </a:pPr>
                      <a:r>
                        <a:rPr lang="en-IN" sz="1300" b="1" kern="100" cap="none" spc="0">
                          <a:solidFill>
                            <a:schemeClr val="tx1"/>
                          </a:solidFill>
                          <a:effectLst/>
                        </a:rPr>
                        <a:t>Hospital Admin</a:t>
                      </a:r>
                      <a:endParaRPr lang="en-IN" sz="1300" b="1"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nSpc>
                          <a:spcPct val="107000"/>
                        </a:lnSpc>
                        <a:spcAft>
                          <a:spcPts val="800"/>
                        </a:spcAft>
                        <a:buNone/>
                      </a:pPr>
                      <a:r>
                        <a:rPr lang="en-IN" sz="1300" kern="100" cap="none" spc="0">
                          <a:solidFill>
                            <a:schemeClr val="tx1"/>
                          </a:solidFill>
                          <a:effectLst/>
                        </a:rPr>
                        <a:t>Budgeting, compliance, procurement</a:t>
                      </a:r>
                      <a:endParaRPr lang="en-IN" sz="13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nSpc>
                          <a:spcPct val="107000"/>
                        </a:lnSpc>
                        <a:spcAft>
                          <a:spcPts val="800"/>
                        </a:spcAft>
                        <a:buNone/>
                      </a:pPr>
                      <a:r>
                        <a:rPr lang="en-IN" sz="1300" kern="100" cap="none" spc="0">
                          <a:solidFill>
                            <a:schemeClr val="tx1"/>
                          </a:solidFill>
                          <a:effectLst/>
                        </a:rPr>
                        <a:t>No lifecycle cost tracking, weak regulatory visibility</a:t>
                      </a:r>
                      <a:endParaRPr lang="en-IN" sz="13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nSpc>
                          <a:spcPct val="107000"/>
                        </a:lnSpc>
                        <a:spcAft>
                          <a:spcPts val="800"/>
                        </a:spcAft>
                        <a:buNone/>
                      </a:pPr>
                      <a:r>
                        <a:rPr lang="en-IN" sz="1300" kern="100" cap="none" spc="0">
                          <a:solidFill>
                            <a:schemeClr val="tx1"/>
                          </a:solidFill>
                          <a:effectLst/>
                        </a:rPr>
                        <a:t>KPIs dashboard, risk flags, asset retirement roadmap</a:t>
                      </a:r>
                      <a:endParaRPr lang="en-IN" sz="13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701519697"/>
                  </a:ext>
                </a:extLst>
              </a:tr>
              <a:tr h="606279">
                <a:tc>
                  <a:txBody>
                    <a:bodyPr/>
                    <a:lstStyle/>
                    <a:p>
                      <a:pPr>
                        <a:lnSpc>
                          <a:spcPct val="107000"/>
                        </a:lnSpc>
                        <a:spcAft>
                          <a:spcPts val="800"/>
                        </a:spcAft>
                        <a:buNone/>
                      </a:pPr>
                      <a:r>
                        <a:rPr lang="en-IN" sz="1300" b="1" kern="100" cap="none" spc="0">
                          <a:solidFill>
                            <a:schemeClr val="tx1"/>
                          </a:solidFill>
                          <a:effectLst/>
                        </a:rPr>
                        <a:t>Regulatory Officer</a:t>
                      </a:r>
                      <a:endParaRPr lang="en-IN" sz="1300" b="1"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ap="flat" cmpd="sng" algn="ctr">
                      <a:solidFill>
                        <a:schemeClr val="accent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nSpc>
                          <a:spcPct val="107000"/>
                        </a:lnSpc>
                        <a:spcAft>
                          <a:spcPts val="800"/>
                        </a:spcAft>
                        <a:buNone/>
                      </a:pPr>
                      <a:r>
                        <a:rPr lang="en-IN" sz="1300" kern="100" cap="none" spc="0">
                          <a:solidFill>
                            <a:schemeClr val="tx1"/>
                          </a:solidFill>
                          <a:effectLst/>
                        </a:rPr>
                        <a:t>Ensuring ISO 14971/NABH compliance</a:t>
                      </a:r>
                      <a:endParaRPr lang="en-IN" sz="13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nSpc>
                          <a:spcPct val="107000"/>
                        </a:lnSpc>
                        <a:spcAft>
                          <a:spcPts val="800"/>
                        </a:spcAft>
                        <a:buNone/>
                      </a:pPr>
                      <a:r>
                        <a:rPr lang="en-IN" sz="1300" kern="100" cap="none" spc="0">
                          <a:solidFill>
                            <a:schemeClr val="tx1"/>
                          </a:solidFill>
                          <a:effectLst/>
                        </a:rPr>
                        <a:t>Manual logs, difficult audit prep</a:t>
                      </a:r>
                      <a:endParaRPr lang="en-IN" sz="13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a:lnSpc>
                          <a:spcPct val="107000"/>
                        </a:lnSpc>
                        <a:spcAft>
                          <a:spcPts val="800"/>
                        </a:spcAft>
                        <a:buNone/>
                      </a:pPr>
                      <a:r>
                        <a:rPr lang="en-IN" sz="1300" kern="100" cap="none" spc="0">
                          <a:solidFill>
                            <a:schemeClr val="tx1"/>
                          </a:solidFill>
                          <a:effectLst/>
                        </a:rPr>
                        <a:t>Pre-built risk reports, auto-documentation of failures</a:t>
                      </a:r>
                      <a:endParaRPr lang="en-IN" sz="13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2731870116"/>
                  </a:ext>
                </a:extLst>
              </a:tr>
              <a:tr h="606279">
                <a:tc>
                  <a:txBody>
                    <a:bodyPr/>
                    <a:lstStyle/>
                    <a:p>
                      <a:pPr>
                        <a:lnSpc>
                          <a:spcPct val="107000"/>
                        </a:lnSpc>
                        <a:spcAft>
                          <a:spcPts val="800"/>
                        </a:spcAft>
                        <a:buNone/>
                      </a:pPr>
                      <a:r>
                        <a:rPr lang="en-IN" sz="1300" b="1" kern="100" cap="none" spc="0">
                          <a:solidFill>
                            <a:schemeClr val="tx1"/>
                          </a:solidFill>
                          <a:effectLst/>
                        </a:rPr>
                        <a:t>Pharmacist</a:t>
                      </a:r>
                      <a:endParaRPr lang="en-IN" sz="1300" b="1"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ap="flat" cmpd="sng" algn="ctr">
                      <a:solidFill>
                        <a:schemeClr val="accent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nSpc>
                          <a:spcPct val="107000"/>
                        </a:lnSpc>
                        <a:spcAft>
                          <a:spcPts val="800"/>
                        </a:spcAft>
                        <a:buNone/>
                      </a:pPr>
                      <a:r>
                        <a:rPr lang="en-IN" sz="1300" kern="100" cap="none" spc="0">
                          <a:solidFill>
                            <a:schemeClr val="tx1"/>
                          </a:solidFill>
                          <a:effectLst/>
                        </a:rPr>
                        <a:t>Cold storage, drug-device interaction monitoring</a:t>
                      </a:r>
                      <a:endParaRPr lang="en-IN" sz="13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nSpc>
                          <a:spcPct val="107000"/>
                        </a:lnSpc>
                        <a:spcAft>
                          <a:spcPts val="800"/>
                        </a:spcAft>
                        <a:buNone/>
                      </a:pPr>
                      <a:r>
                        <a:rPr lang="en-IN" sz="1300" kern="100" cap="none" spc="0">
                          <a:solidFill>
                            <a:schemeClr val="tx1"/>
                          </a:solidFill>
                          <a:effectLst/>
                        </a:rPr>
                        <a:t>Alerts for cold chain failure, lack of error incident visibility</a:t>
                      </a:r>
                      <a:endParaRPr lang="en-IN" sz="1300" kern="100" cap="none" spc="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a:lnSpc>
                          <a:spcPct val="107000"/>
                        </a:lnSpc>
                        <a:spcAft>
                          <a:spcPts val="800"/>
                        </a:spcAft>
                        <a:buNone/>
                      </a:pPr>
                      <a:r>
                        <a:rPr lang="en-IN" sz="1300" kern="100" cap="none" spc="0" dirty="0">
                          <a:solidFill>
                            <a:schemeClr val="tx1"/>
                          </a:solidFill>
                          <a:effectLst/>
                        </a:rPr>
                        <a:t>Device health notifications, integration with medication logs</a:t>
                      </a:r>
                      <a:endParaRPr lang="en-IN" sz="1300" kern="100" cap="none" spc="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txBody>
                  <a:tcPr marL="67483" marR="10042" marT="19281" marB="144607" anchor="ctr">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666663335"/>
                  </a:ext>
                </a:extLst>
              </a:tr>
            </a:tbl>
          </a:graphicData>
        </a:graphic>
      </p:graphicFrame>
      <p:pic>
        <p:nvPicPr>
          <p:cNvPr id="4" name="Graphic 3" descr="Cycle with people outline">
            <a:extLst>
              <a:ext uri="{FF2B5EF4-FFF2-40B4-BE49-F238E27FC236}">
                <a16:creationId xmlns:a16="http://schemas.microsoft.com/office/drawing/2014/main" id="{45E62D32-D008-0822-6864-5F6F77B426F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73909" y="246392"/>
            <a:ext cx="914400" cy="914400"/>
          </a:xfrm>
          <a:prstGeom prst="rect">
            <a:avLst/>
          </a:prstGeom>
        </p:spPr>
      </p:pic>
    </p:spTree>
    <p:extLst>
      <p:ext uri="{BB962C8B-B14F-4D97-AF65-F5344CB8AC3E}">
        <p14:creationId xmlns:p14="http://schemas.microsoft.com/office/powerpoint/2010/main" val="570744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A3FC95-C957-4F39-704F-22601DD9BA4F}"/>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b="1" kern="1200" dirty="0">
                <a:solidFill>
                  <a:srgbClr val="FFFFFF"/>
                </a:solidFill>
                <a:latin typeface="+mj-lt"/>
                <a:ea typeface="+mj-ea"/>
                <a:cs typeface="+mj-cs"/>
              </a:rPr>
              <a:t>Competitor Analysis</a:t>
            </a:r>
            <a:endParaRPr lang="en-US" sz="4000" kern="1200" dirty="0">
              <a:solidFill>
                <a:srgbClr val="FFFFFF"/>
              </a:solidFill>
              <a:latin typeface="+mj-lt"/>
              <a:ea typeface="+mj-ea"/>
              <a:cs typeface="+mj-cs"/>
            </a:endParaRPr>
          </a:p>
        </p:txBody>
      </p:sp>
      <p:graphicFrame>
        <p:nvGraphicFramePr>
          <p:cNvPr id="4" name="Content Placeholder 3">
            <a:extLst>
              <a:ext uri="{FF2B5EF4-FFF2-40B4-BE49-F238E27FC236}">
                <a16:creationId xmlns:a16="http://schemas.microsoft.com/office/drawing/2014/main" id="{A74B6E94-E139-5D2E-72CC-5BDD8C7A0AC4}"/>
              </a:ext>
            </a:extLst>
          </p:cNvPr>
          <p:cNvGraphicFramePr>
            <a:graphicFrameLocks noGrp="1"/>
          </p:cNvGraphicFramePr>
          <p:nvPr>
            <p:ph idx="1"/>
            <p:extLst>
              <p:ext uri="{D42A27DB-BD31-4B8C-83A1-F6EECF244321}">
                <p14:modId xmlns:p14="http://schemas.microsoft.com/office/powerpoint/2010/main" val="1994680761"/>
              </p:ext>
            </p:extLst>
          </p:nvPr>
        </p:nvGraphicFramePr>
        <p:xfrm>
          <a:off x="949891" y="1966293"/>
          <a:ext cx="10292217" cy="4452165"/>
        </p:xfrm>
        <a:graphic>
          <a:graphicData uri="http://schemas.openxmlformats.org/drawingml/2006/table">
            <a:tbl>
              <a:tblPr firstRow="1" firstCol="1" bandRow="1">
                <a:tableStyleId>{3B4B98B0-60AC-42C2-AFA5-B58CD77FA1E5}</a:tableStyleId>
              </a:tblPr>
              <a:tblGrid>
                <a:gridCol w="2617768">
                  <a:extLst>
                    <a:ext uri="{9D8B030D-6E8A-4147-A177-3AD203B41FA5}">
                      <a16:colId xmlns:a16="http://schemas.microsoft.com/office/drawing/2014/main" val="2919282662"/>
                    </a:ext>
                  </a:extLst>
                </a:gridCol>
                <a:gridCol w="1815125">
                  <a:extLst>
                    <a:ext uri="{9D8B030D-6E8A-4147-A177-3AD203B41FA5}">
                      <a16:colId xmlns:a16="http://schemas.microsoft.com/office/drawing/2014/main" val="3481223728"/>
                    </a:ext>
                  </a:extLst>
                </a:gridCol>
                <a:gridCol w="1501066">
                  <a:extLst>
                    <a:ext uri="{9D8B030D-6E8A-4147-A177-3AD203B41FA5}">
                      <a16:colId xmlns:a16="http://schemas.microsoft.com/office/drawing/2014/main" val="2010653975"/>
                    </a:ext>
                  </a:extLst>
                </a:gridCol>
                <a:gridCol w="2275140">
                  <a:extLst>
                    <a:ext uri="{9D8B030D-6E8A-4147-A177-3AD203B41FA5}">
                      <a16:colId xmlns:a16="http://schemas.microsoft.com/office/drawing/2014/main" val="3643342197"/>
                    </a:ext>
                  </a:extLst>
                </a:gridCol>
                <a:gridCol w="2083118">
                  <a:extLst>
                    <a:ext uri="{9D8B030D-6E8A-4147-A177-3AD203B41FA5}">
                      <a16:colId xmlns:a16="http://schemas.microsoft.com/office/drawing/2014/main" val="955289640"/>
                    </a:ext>
                  </a:extLst>
                </a:gridCol>
              </a:tblGrid>
              <a:tr h="315185">
                <a:tc>
                  <a:txBody>
                    <a:bodyPr/>
                    <a:lstStyle/>
                    <a:p>
                      <a:pPr>
                        <a:lnSpc>
                          <a:spcPct val="107000"/>
                        </a:lnSpc>
                        <a:spcAft>
                          <a:spcPts val="800"/>
                        </a:spcAft>
                        <a:buNone/>
                      </a:pPr>
                      <a:r>
                        <a:rPr lang="en-IN" sz="1700" kern="100">
                          <a:effectLst/>
                        </a:rPr>
                        <a:t>Key Functionality/Need</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nSpc>
                          <a:spcPct val="107000"/>
                        </a:lnSpc>
                        <a:spcAft>
                          <a:spcPts val="800"/>
                        </a:spcAft>
                        <a:buNone/>
                      </a:pPr>
                      <a:r>
                        <a:rPr lang="en-IN" sz="1700" kern="100">
                          <a:effectLst/>
                        </a:rPr>
                        <a:t>GE CARESCAPE</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nSpc>
                          <a:spcPct val="107000"/>
                        </a:lnSpc>
                        <a:spcAft>
                          <a:spcPts val="800"/>
                        </a:spcAft>
                        <a:buNone/>
                      </a:pPr>
                      <a:r>
                        <a:rPr lang="en-IN" sz="1700" kern="100">
                          <a:effectLst/>
                        </a:rPr>
                        <a:t>AgileMD</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nSpc>
                          <a:spcPct val="107000"/>
                        </a:lnSpc>
                        <a:spcAft>
                          <a:spcPts val="800"/>
                        </a:spcAft>
                        <a:buNone/>
                      </a:pPr>
                      <a:r>
                        <a:rPr lang="en-IN" sz="1700" kern="100">
                          <a:effectLst/>
                        </a:rPr>
                        <a:t>Indian Govt Hospitals</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nSpc>
                          <a:spcPct val="107000"/>
                        </a:lnSpc>
                        <a:spcAft>
                          <a:spcPts val="800"/>
                        </a:spcAft>
                        <a:buNone/>
                      </a:pPr>
                      <a:r>
                        <a:rPr lang="en-IN" sz="1700" kern="100" dirty="0">
                          <a:effectLst/>
                        </a:rPr>
                        <a:t>Proposed Platform</a:t>
                      </a:r>
                      <a:endParaRPr lang="en-IN" sz="1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extLst>
                  <a:ext uri="{0D108BD9-81ED-4DB2-BD59-A6C34878D82A}">
                    <a16:rowId xmlns:a16="http://schemas.microsoft.com/office/drawing/2014/main" val="199128829"/>
                  </a:ext>
                </a:extLst>
              </a:tr>
              <a:tr h="584435">
                <a:tc>
                  <a:txBody>
                    <a:bodyPr/>
                    <a:lstStyle/>
                    <a:p>
                      <a:pPr>
                        <a:lnSpc>
                          <a:spcPct val="107000"/>
                        </a:lnSpc>
                        <a:spcAft>
                          <a:spcPts val="800"/>
                        </a:spcAft>
                        <a:buNone/>
                      </a:pPr>
                      <a:r>
                        <a:rPr lang="en-IN" sz="1700" kern="100">
                          <a:effectLst/>
                        </a:rPr>
                        <a:t>Real-time device inventory</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extLst>
                  <a:ext uri="{0D108BD9-81ED-4DB2-BD59-A6C34878D82A}">
                    <a16:rowId xmlns:a16="http://schemas.microsoft.com/office/drawing/2014/main" val="3733514787"/>
                  </a:ext>
                </a:extLst>
              </a:tr>
              <a:tr h="584435">
                <a:tc>
                  <a:txBody>
                    <a:bodyPr/>
                    <a:lstStyle/>
                    <a:p>
                      <a:pPr>
                        <a:lnSpc>
                          <a:spcPct val="107000"/>
                        </a:lnSpc>
                        <a:spcAft>
                          <a:spcPts val="800"/>
                        </a:spcAft>
                        <a:buNone/>
                      </a:pPr>
                      <a:r>
                        <a:rPr lang="en-IN" sz="1700" kern="100">
                          <a:effectLst/>
                        </a:rPr>
                        <a:t>ISO 14971-compliant risk scoring</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extLst>
                  <a:ext uri="{0D108BD9-81ED-4DB2-BD59-A6C34878D82A}">
                    <a16:rowId xmlns:a16="http://schemas.microsoft.com/office/drawing/2014/main" val="3815983794"/>
                  </a:ext>
                </a:extLst>
              </a:tr>
              <a:tr h="584435">
                <a:tc>
                  <a:txBody>
                    <a:bodyPr/>
                    <a:lstStyle/>
                    <a:p>
                      <a:pPr>
                        <a:lnSpc>
                          <a:spcPct val="107000"/>
                        </a:lnSpc>
                        <a:spcAft>
                          <a:spcPts val="800"/>
                        </a:spcAft>
                        <a:buNone/>
                      </a:pPr>
                      <a:r>
                        <a:rPr lang="en-IN" sz="1700" kern="100">
                          <a:effectLst/>
                        </a:rPr>
                        <a:t>Incident reporting (mobile/web)</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extLst>
                  <a:ext uri="{0D108BD9-81ED-4DB2-BD59-A6C34878D82A}">
                    <a16:rowId xmlns:a16="http://schemas.microsoft.com/office/drawing/2014/main" val="4273757152"/>
                  </a:ext>
                </a:extLst>
              </a:tr>
              <a:tr h="584435">
                <a:tc>
                  <a:txBody>
                    <a:bodyPr/>
                    <a:lstStyle/>
                    <a:p>
                      <a:pPr>
                        <a:lnSpc>
                          <a:spcPct val="107000"/>
                        </a:lnSpc>
                        <a:spcAft>
                          <a:spcPts val="800"/>
                        </a:spcAft>
                        <a:buNone/>
                      </a:pPr>
                      <a:r>
                        <a:rPr lang="en-IN" sz="1700" kern="100">
                          <a:effectLst/>
                        </a:rPr>
                        <a:t>Preventive maintenance alerts</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extLst>
                  <a:ext uri="{0D108BD9-81ED-4DB2-BD59-A6C34878D82A}">
                    <a16:rowId xmlns:a16="http://schemas.microsoft.com/office/drawing/2014/main" val="4282200046"/>
                  </a:ext>
                </a:extLst>
              </a:tr>
              <a:tr h="315185">
                <a:tc>
                  <a:txBody>
                    <a:bodyPr/>
                    <a:lstStyle/>
                    <a:p>
                      <a:pPr>
                        <a:lnSpc>
                          <a:spcPct val="107000"/>
                        </a:lnSpc>
                        <a:spcAft>
                          <a:spcPts val="800"/>
                        </a:spcAft>
                        <a:buNone/>
                      </a:pPr>
                      <a:r>
                        <a:rPr lang="en-IN" sz="1700" kern="100">
                          <a:effectLst/>
                        </a:rPr>
                        <a:t>Dashboard with KPIs</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dirty="0">
                          <a:effectLst/>
                        </a:rPr>
                        <a:t>✅</a:t>
                      </a:r>
                      <a:endParaRPr lang="en-IN" sz="1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extLst>
                  <a:ext uri="{0D108BD9-81ED-4DB2-BD59-A6C34878D82A}">
                    <a16:rowId xmlns:a16="http://schemas.microsoft.com/office/drawing/2014/main" val="3963067378"/>
                  </a:ext>
                </a:extLst>
              </a:tr>
              <a:tr h="584435">
                <a:tc>
                  <a:txBody>
                    <a:bodyPr/>
                    <a:lstStyle/>
                    <a:p>
                      <a:pPr>
                        <a:lnSpc>
                          <a:spcPct val="107000"/>
                        </a:lnSpc>
                        <a:spcAft>
                          <a:spcPts val="800"/>
                        </a:spcAft>
                        <a:buNone/>
                      </a:pPr>
                      <a:r>
                        <a:rPr lang="en-IN" sz="1700" kern="100">
                          <a:effectLst/>
                        </a:rPr>
                        <a:t>Auto-generated compliance reports</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extLst>
                  <a:ext uri="{0D108BD9-81ED-4DB2-BD59-A6C34878D82A}">
                    <a16:rowId xmlns:a16="http://schemas.microsoft.com/office/drawing/2014/main" val="1884159962"/>
                  </a:ext>
                </a:extLst>
              </a:tr>
              <a:tr h="584435">
                <a:tc>
                  <a:txBody>
                    <a:bodyPr/>
                    <a:lstStyle/>
                    <a:p>
                      <a:pPr>
                        <a:lnSpc>
                          <a:spcPct val="107000"/>
                        </a:lnSpc>
                        <a:spcAft>
                          <a:spcPts val="800"/>
                        </a:spcAft>
                        <a:buNone/>
                      </a:pPr>
                      <a:r>
                        <a:rPr lang="en-IN" sz="1700" kern="100">
                          <a:effectLst/>
                        </a:rPr>
                        <a:t>Stakeholder-specific access levels</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dirty="0">
                          <a:effectLst/>
                        </a:rPr>
                        <a:t>✅</a:t>
                      </a:r>
                      <a:endParaRPr lang="en-IN" sz="1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extLst>
                  <a:ext uri="{0D108BD9-81ED-4DB2-BD59-A6C34878D82A}">
                    <a16:rowId xmlns:a16="http://schemas.microsoft.com/office/drawing/2014/main" val="3419694841"/>
                  </a:ext>
                </a:extLst>
              </a:tr>
              <a:tr h="315185">
                <a:tc>
                  <a:txBody>
                    <a:bodyPr/>
                    <a:lstStyle/>
                    <a:p>
                      <a:pPr>
                        <a:lnSpc>
                          <a:spcPct val="107000"/>
                        </a:lnSpc>
                        <a:spcAft>
                          <a:spcPts val="800"/>
                        </a:spcAft>
                        <a:buNone/>
                      </a:pPr>
                      <a:r>
                        <a:rPr lang="en-IN" sz="1700" kern="100">
                          <a:effectLst/>
                        </a:rPr>
                        <a:t>Lifecycle cost tracking</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a:effectLst/>
                        </a:rPr>
                        <a:t>❌</a:t>
                      </a:r>
                      <a:endParaRPr lang="en-IN" sz="1700" kern="10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tc>
                  <a:txBody>
                    <a:bodyPr/>
                    <a:lstStyle/>
                    <a:p>
                      <a:pPr algn="ctr">
                        <a:lnSpc>
                          <a:spcPct val="107000"/>
                        </a:lnSpc>
                        <a:spcAft>
                          <a:spcPts val="800"/>
                        </a:spcAft>
                        <a:buNone/>
                      </a:pPr>
                      <a:r>
                        <a:rPr lang="en-IN" sz="1700" kern="100" dirty="0">
                          <a:effectLst/>
                        </a:rPr>
                        <a:t>✅</a:t>
                      </a:r>
                      <a:endParaRPr lang="en-IN" sz="1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829" marR="9829" marT="9829" marB="9829" anchor="ctr"/>
                </a:tc>
                <a:extLst>
                  <a:ext uri="{0D108BD9-81ED-4DB2-BD59-A6C34878D82A}">
                    <a16:rowId xmlns:a16="http://schemas.microsoft.com/office/drawing/2014/main" val="768342107"/>
                  </a:ext>
                </a:extLst>
              </a:tr>
            </a:tbl>
          </a:graphicData>
        </a:graphic>
      </p:graphicFrame>
      <p:pic>
        <p:nvPicPr>
          <p:cNvPr id="5" name="Graphic 4" descr="City with solid fill">
            <a:extLst>
              <a:ext uri="{FF2B5EF4-FFF2-40B4-BE49-F238E27FC236}">
                <a16:creationId xmlns:a16="http://schemas.microsoft.com/office/drawing/2014/main" id="{DEB85B18-4A30-7114-BFFE-6A37374CDA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38798" y="255409"/>
            <a:ext cx="914400" cy="914400"/>
          </a:xfrm>
          <a:prstGeom prst="rect">
            <a:avLst/>
          </a:prstGeom>
        </p:spPr>
      </p:pic>
    </p:spTree>
    <p:extLst>
      <p:ext uri="{BB962C8B-B14F-4D97-AF65-F5344CB8AC3E}">
        <p14:creationId xmlns:p14="http://schemas.microsoft.com/office/powerpoint/2010/main" val="2878054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6F3C98B-34DB-21DD-53A4-BFD4B2D70461}"/>
              </a:ext>
            </a:extLst>
          </p:cNvPr>
          <p:cNvGraphicFramePr>
            <a:graphicFrameLocks noGrp="1"/>
          </p:cNvGraphicFramePr>
          <p:nvPr>
            <p:ph idx="1"/>
            <p:extLst>
              <p:ext uri="{D42A27DB-BD31-4B8C-83A1-F6EECF244321}">
                <p14:modId xmlns:p14="http://schemas.microsoft.com/office/powerpoint/2010/main" val="2493085372"/>
              </p:ext>
            </p:extLst>
          </p:nvPr>
        </p:nvGraphicFramePr>
        <p:xfrm>
          <a:off x="-9144000" y="0"/>
          <a:ext cx="21336003" cy="10614214"/>
        </p:xfrm>
        <a:graphic>
          <a:graphicData uri="http://schemas.openxmlformats.org/drawingml/2006/table">
            <a:tbl>
              <a:tblPr firstRow="1" bandRow="1">
                <a:tableStyleId>{073A0DAA-6AF3-43AB-8588-CEC1D06C72B9}</a:tableStyleId>
              </a:tblPr>
              <a:tblGrid>
                <a:gridCol w="3234501">
                  <a:extLst>
                    <a:ext uri="{9D8B030D-6E8A-4147-A177-3AD203B41FA5}">
                      <a16:colId xmlns:a16="http://schemas.microsoft.com/office/drawing/2014/main" val="2284971527"/>
                    </a:ext>
                  </a:extLst>
                </a:gridCol>
                <a:gridCol w="4460336">
                  <a:extLst>
                    <a:ext uri="{9D8B030D-6E8A-4147-A177-3AD203B41FA5}">
                      <a16:colId xmlns:a16="http://schemas.microsoft.com/office/drawing/2014/main" val="3960852642"/>
                    </a:ext>
                  </a:extLst>
                </a:gridCol>
                <a:gridCol w="2869994">
                  <a:extLst>
                    <a:ext uri="{9D8B030D-6E8A-4147-A177-3AD203B41FA5}">
                      <a16:colId xmlns:a16="http://schemas.microsoft.com/office/drawing/2014/main" val="2007725295"/>
                    </a:ext>
                  </a:extLst>
                </a:gridCol>
                <a:gridCol w="3177703">
                  <a:extLst>
                    <a:ext uri="{9D8B030D-6E8A-4147-A177-3AD203B41FA5}">
                      <a16:colId xmlns:a16="http://schemas.microsoft.com/office/drawing/2014/main" val="223122881"/>
                    </a:ext>
                  </a:extLst>
                </a:gridCol>
                <a:gridCol w="3796736">
                  <a:extLst>
                    <a:ext uri="{9D8B030D-6E8A-4147-A177-3AD203B41FA5}">
                      <a16:colId xmlns:a16="http://schemas.microsoft.com/office/drawing/2014/main" val="463874090"/>
                    </a:ext>
                  </a:extLst>
                </a:gridCol>
                <a:gridCol w="3796733">
                  <a:extLst>
                    <a:ext uri="{9D8B030D-6E8A-4147-A177-3AD203B41FA5}">
                      <a16:colId xmlns:a16="http://schemas.microsoft.com/office/drawing/2014/main" val="2517445948"/>
                    </a:ext>
                  </a:extLst>
                </a:gridCol>
              </a:tblGrid>
              <a:tr h="321915">
                <a:tc>
                  <a:txBody>
                    <a:bodyPr/>
                    <a:lstStyle/>
                    <a:p>
                      <a:r>
                        <a:rPr lang="en-IN" sz="2000"/>
                        <a:t>User Persona </a:t>
                      </a:r>
                      <a:endParaRPr lang="en-IN" sz="2000" dirty="0"/>
                    </a:p>
                  </a:txBody>
                  <a:tcPr/>
                </a:tc>
                <a:tc>
                  <a:txBody>
                    <a:bodyPr/>
                    <a:lstStyle/>
                    <a:p>
                      <a:r>
                        <a:rPr lang="en-IN" sz="2000"/>
                        <a:t>Responsibilities</a:t>
                      </a:r>
                      <a:endParaRPr lang="en-IN" sz="2000" dirty="0"/>
                    </a:p>
                  </a:txBody>
                  <a:tcPr/>
                </a:tc>
                <a:tc>
                  <a:txBody>
                    <a:bodyPr/>
                    <a:lstStyle/>
                    <a:p>
                      <a:r>
                        <a:rPr lang="en-IN" sz="2000"/>
                        <a:t>Role in Product</a:t>
                      </a:r>
                      <a:endParaRPr lang="en-IN" sz="2000" dirty="0"/>
                    </a:p>
                  </a:txBody>
                  <a:tcPr/>
                </a:tc>
                <a:tc>
                  <a:txBody>
                    <a:bodyPr/>
                    <a:lstStyle/>
                    <a:p>
                      <a:r>
                        <a:rPr lang="en-IN" sz="2000"/>
                        <a:t>Tools used</a:t>
                      </a:r>
                      <a:endParaRPr lang="en-IN" sz="2000" dirty="0"/>
                    </a:p>
                  </a:txBody>
                  <a:tcPr/>
                </a:tc>
                <a:tc>
                  <a:txBody>
                    <a:bodyPr/>
                    <a:lstStyle/>
                    <a:p>
                      <a:r>
                        <a:rPr lang="en-IN" sz="2000"/>
                        <a:t>Pain Points</a:t>
                      </a:r>
                      <a:endParaRPr lang="en-IN" sz="2000" dirty="0"/>
                    </a:p>
                  </a:txBody>
                  <a:tcPr/>
                </a:tc>
                <a:tc>
                  <a:txBody>
                    <a:bodyPr/>
                    <a:lstStyle/>
                    <a:p>
                      <a:r>
                        <a:rPr lang="en-IN" sz="2000"/>
                        <a:t>Goals</a:t>
                      </a:r>
                      <a:endParaRPr lang="en-IN" sz="2000" dirty="0"/>
                    </a:p>
                  </a:txBody>
                  <a:tcPr/>
                </a:tc>
                <a:extLst>
                  <a:ext uri="{0D108BD9-81ED-4DB2-BD59-A6C34878D82A}">
                    <a16:rowId xmlns:a16="http://schemas.microsoft.com/office/drawing/2014/main" val="2477516793"/>
                  </a:ext>
                </a:extLst>
              </a:tr>
              <a:tr h="25505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a:t>Primary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000"/>
                        <a:t>AJ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000"/>
                        <a:t>Biomedical Engineer, 10+ Exp , Tier 1 Govt. Hospital</a:t>
                      </a:r>
                    </a:p>
                    <a:p>
                      <a:endParaRPr lang="en-IN" sz="2000" dirty="0"/>
                    </a:p>
                  </a:txBody>
                  <a:tcPr/>
                </a:tc>
                <a:tc>
                  <a:txBody>
                    <a:bodyPr/>
                    <a:lstStyle/>
                    <a:p>
                      <a:r>
                        <a:rPr lang="en-IN" sz="2000"/>
                        <a:t>Maintenance, Failure tracking , communicating risk</a:t>
                      </a:r>
                      <a:endParaRPr lang="en-IN" sz="2000" dirty="0"/>
                    </a:p>
                  </a:txBody>
                  <a:tcPr/>
                </a:tc>
                <a:tc>
                  <a:txBody>
                    <a:bodyPr/>
                    <a:lstStyle/>
                    <a:p>
                      <a:r>
                        <a:rPr lang="en-IN" sz="2000"/>
                        <a:t>Daily  Operaor </a:t>
                      </a:r>
                      <a:endParaRPr lang="en-IN" sz="2000" dirty="0"/>
                    </a:p>
                  </a:txBody>
                  <a:tcPr/>
                </a:tc>
                <a:tc>
                  <a:txBody>
                    <a:bodyPr/>
                    <a:lstStyle/>
                    <a:p>
                      <a:r>
                        <a:rPr lang="en-IN" sz="2000"/>
                        <a:t>Paper logs</a:t>
                      </a:r>
                    </a:p>
                    <a:p>
                      <a:r>
                        <a:rPr lang="en-IN" sz="2000"/>
                        <a:t>Excel</a:t>
                      </a:r>
                    </a:p>
                    <a:p>
                      <a:r>
                        <a:rPr lang="en-IN" sz="2000"/>
                        <a:t>WhatsApp Communication</a:t>
                      </a:r>
                      <a:endParaRPr lang="en-IN" sz="2000" dirty="0"/>
                    </a:p>
                  </a:txBody>
                  <a:tcPr/>
                </a:tc>
                <a:tc>
                  <a:txBody>
                    <a:bodyPr/>
                    <a:lstStyle/>
                    <a:p>
                      <a:r>
                        <a:rPr lang="en-IN" sz="2000"/>
                        <a:t>Last-minute breakdowns</a:t>
                      </a:r>
                    </a:p>
                    <a:p>
                      <a:r>
                        <a:rPr lang="en-IN" sz="2000"/>
                        <a:t>No way to predict failure or show device performance to admin</a:t>
                      </a:r>
                    </a:p>
                    <a:p>
                      <a:r>
                        <a:rPr lang="en-IN" sz="2000"/>
                        <a:t>Difficult audits due to missing incident logs</a:t>
                      </a:r>
                    </a:p>
                    <a:p>
                      <a:endParaRPr lang="en-IN" sz="2000" dirty="0"/>
                    </a:p>
                  </a:txBody>
                  <a:tcPr/>
                </a:tc>
                <a:tc>
                  <a:txBody>
                    <a:bodyPr/>
                    <a:lstStyle/>
                    <a:p>
                      <a:r>
                        <a:rPr lang="en-IN" sz="2000"/>
                        <a:t>Track device health in real time</a:t>
                      </a:r>
                    </a:p>
                    <a:p>
                      <a:r>
                        <a:rPr lang="en-IN" sz="2000"/>
                        <a:t>Get alerts for critical risks</a:t>
                      </a:r>
                    </a:p>
                    <a:p>
                      <a:r>
                        <a:rPr lang="en-IN" sz="2000"/>
                        <a:t>Generate automated reports for NABH inspections</a:t>
                      </a:r>
                    </a:p>
                    <a:p>
                      <a:r>
                        <a:rPr lang="en-IN" sz="2000"/>
                        <a:t>Improve response time to device incidents</a:t>
                      </a:r>
                    </a:p>
                    <a:p>
                      <a:endParaRPr lang="en-IN" sz="2000" dirty="0"/>
                    </a:p>
                  </a:txBody>
                  <a:tcPr/>
                </a:tc>
                <a:extLst>
                  <a:ext uri="{0D108BD9-81ED-4DB2-BD59-A6C34878D82A}">
                    <a16:rowId xmlns:a16="http://schemas.microsoft.com/office/drawing/2014/main" val="3478375920"/>
                  </a:ext>
                </a:extLst>
              </a:tr>
              <a:tr h="2302933">
                <a:tc>
                  <a:txBody>
                    <a:bodyPr/>
                    <a:lstStyle/>
                    <a:p>
                      <a:r>
                        <a:rPr lang="en-IN" sz="2000"/>
                        <a:t>NI Nurse </a:t>
                      </a:r>
                    </a:p>
                    <a:p>
                      <a:r>
                        <a:rPr lang="en-IN" sz="2000"/>
                        <a:t>7 yrs ICU &amp; Ward care </a:t>
                      </a:r>
                      <a:endParaRPr lang="en-IN" sz="2000" dirty="0"/>
                    </a:p>
                  </a:txBody>
                  <a:tcPr/>
                </a:tc>
                <a:tc>
                  <a:txBody>
                    <a:bodyPr/>
                    <a:lstStyle/>
                    <a:p>
                      <a:r>
                        <a:rPr lang="en-IN" sz="2000"/>
                        <a:t>Uses devices daily</a:t>
                      </a:r>
                    </a:p>
                    <a:p>
                      <a:r>
                        <a:rPr lang="en-IN" sz="2000"/>
                        <a:t>First to observe problems</a:t>
                      </a:r>
                      <a:endParaRPr lang="en-IN" sz="2000" dirty="0"/>
                    </a:p>
                  </a:txBody>
                  <a:tcPr/>
                </a:tc>
                <a:tc>
                  <a:txBody>
                    <a:bodyPr/>
                    <a:lstStyle/>
                    <a:p>
                      <a:r>
                        <a:rPr lang="en-IN" sz="2000"/>
                        <a:t>Incindent Initiator </a:t>
                      </a:r>
                      <a:endParaRPr lang="en-IN" sz="2000" dirty="0"/>
                    </a:p>
                  </a:txBody>
                  <a:tcPr/>
                </a:tc>
                <a:tc>
                  <a:txBody>
                    <a:bodyPr/>
                    <a:lstStyle/>
                    <a:p>
                      <a:r>
                        <a:rPr lang="en-IN" sz="2000"/>
                        <a:t>Regularly calls for reporting and  follow ups</a:t>
                      </a:r>
                    </a:p>
                    <a:p>
                      <a:r>
                        <a:rPr lang="en-IN" sz="2000"/>
                        <a:t>Leads to visits to BM dept</a:t>
                      </a:r>
                    </a:p>
                    <a:p>
                      <a:endParaRPr lang="en-IN" sz="2000"/>
                    </a:p>
                    <a:p>
                      <a:r>
                        <a:rPr lang="en-IN" sz="2000"/>
                        <a:t>Affects time for Patient care</a:t>
                      </a:r>
                    </a:p>
                    <a:p>
                      <a:endParaRPr lang="en-IN" sz="2000" dirty="0"/>
                    </a:p>
                  </a:txBody>
                  <a:tcPr/>
                </a:tc>
                <a:tc>
                  <a:txBody>
                    <a:bodyPr/>
                    <a:lstStyle/>
                    <a:p>
                      <a:r>
                        <a:rPr lang="en-IN" sz="2000"/>
                        <a:t>Delay in reporting malfunctions</a:t>
                      </a:r>
                    </a:p>
                    <a:p>
                      <a:endParaRPr lang="en-IN" sz="2000"/>
                    </a:p>
                    <a:p>
                      <a:r>
                        <a:rPr lang="en-IN" sz="2000"/>
                        <a:t>No complain status updates</a:t>
                      </a:r>
                    </a:p>
                    <a:p>
                      <a:endParaRPr lang="en-IN" sz="2000" dirty="0"/>
                    </a:p>
                  </a:txBody>
                  <a:tcPr/>
                </a:tc>
                <a:tc>
                  <a:txBody>
                    <a:bodyPr/>
                    <a:lstStyle/>
                    <a:p>
                      <a:r>
                        <a:rPr lang="en-IN" sz="2000"/>
                        <a:t>Quick reporting with mobile UI</a:t>
                      </a:r>
                    </a:p>
                    <a:p>
                      <a:r>
                        <a:rPr lang="en-IN" sz="2000"/>
                        <a:t>Track reolution status of reported issues </a:t>
                      </a:r>
                    </a:p>
                    <a:p>
                      <a:r>
                        <a:rPr lang="en-IN" sz="2000"/>
                        <a:t>Avoid Patient care delays due to faulty devices</a:t>
                      </a:r>
                    </a:p>
                    <a:p>
                      <a:endParaRPr lang="en-IN" sz="2000" dirty="0"/>
                    </a:p>
                  </a:txBody>
                  <a:tcPr/>
                </a:tc>
                <a:extLst>
                  <a:ext uri="{0D108BD9-81ED-4DB2-BD59-A6C34878D82A}">
                    <a16:rowId xmlns:a16="http://schemas.microsoft.com/office/drawing/2014/main" val="2359156599"/>
                  </a:ext>
                </a:extLst>
              </a:tr>
              <a:tr h="2798188">
                <a:tc>
                  <a:txBody>
                    <a:bodyPr/>
                    <a:lstStyle/>
                    <a:p>
                      <a:r>
                        <a:rPr lang="en-IN" sz="2000"/>
                        <a:t>Hospital Admin Exec </a:t>
                      </a:r>
                    </a:p>
                    <a:p>
                      <a:r>
                        <a:rPr lang="en-IN" sz="2000"/>
                        <a:t>Operations and compliance</a:t>
                      </a:r>
                      <a:endParaRPr lang="en-IN" sz="2000" dirty="0"/>
                    </a:p>
                  </a:txBody>
                  <a:tcPr/>
                </a:tc>
                <a:tc>
                  <a:txBody>
                    <a:bodyPr/>
                    <a:lstStyle/>
                    <a:p>
                      <a:r>
                        <a:rPr lang="en-IN" sz="2000"/>
                        <a:t>Operational oversight, NABH readiness, </a:t>
                      </a:r>
                      <a:r>
                        <a:rPr lang="en-IN" sz="2400"/>
                        <a:t>budget</a:t>
                      </a:r>
                      <a:r>
                        <a:rPr lang="en-IN" sz="2000"/>
                        <a:t> approvals</a:t>
                      </a:r>
                      <a:endParaRPr lang="en-IN" sz="2000" dirty="0"/>
                    </a:p>
                  </a:txBody>
                  <a:tcPr/>
                </a:tc>
                <a:tc>
                  <a:txBody>
                    <a:bodyPr/>
                    <a:lstStyle/>
                    <a:p>
                      <a:r>
                        <a:rPr lang="en-IN" sz="2000"/>
                        <a:t>Strategic Decision Maker </a:t>
                      </a:r>
                      <a:endParaRPr lang="en-IN" sz="2000" dirty="0"/>
                    </a:p>
                  </a:txBody>
                  <a:tcPr/>
                </a:tc>
                <a:tc>
                  <a:txBody>
                    <a:bodyPr/>
                    <a:lstStyle/>
                    <a:p>
                      <a:r>
                        <a:rPr lang="en-IN" sz="2000"/>
                        <a:t>Read through paperwork </a:t>
                      </a:r>
                    </a:p>
                    <a:p>
                      <a:r>
                        <a:rPr lang="en-IN" sz="2000"/>
                        <a:t>and meeting reports </a:t>
                      </a:r>
                      <a:endParaRPr lang="en-IN" sz="2000" dirty="0"/>
                    </a:p>
                  </a:txBody>
                  <a:tcPr/>
                </a:tc>
                <a:tc>
                  <a:txBody>
                    <a:bodyPr/>
                    <a:lstStyle/>
                    <a:p>
                      <a:r>
                        <a:rPr lang="en-IN" sz="2000"/>
                        <a:t>No dashboard to see risk heavy departments</a:t>
                      </a:r>
                    </a:p>
                    <a:p>
                      <a:endParaRPr lang="en-IN" sz="2000"/>
                    </a:p>
                    <a:p>
                      <a:r>
                        <a:rPr lang="en-IN" sz="2000"/>
                        <a:t>Chasing compliance data to audit deadline</a:t>
                      </a:r>
                    </a:p>
                    <a:p>
                      <a:endParaRPr lang="en-IN" sz="2000"/>
                    </a:p>
                    <a:p>
                      <a:r>
                        <a:rPr lang="en-IN" sz="2000"/>
                        <a:t>Don’t know overused devices/ Uptime% and underutilized devices </a:t>
                      </a:r>
                    </a:p>
                    <a:p>
                      <a:endParaRPr lang="en-IN" sz="2000" dirty="0"/>
                    </a:p>
                  </a:txBody>
                  <a:tcPr/>
                </a:tc>
                <a:tc>
                  <a:txBody>
                    <a:bodyPr/>
                    <a:lstStyle/>
                    <a:p>
                      <a:r>
                        <a:rPr lang="en-IN" sz="2000"/>
                        <a:t>Get realtime device health analytics </a:t>
                      </a:r>
                    </a:p>
                    <a:p>
                      <a:r>
                        <a:rPr lang="en-IN" sz="2000"/>
                        <a:t> data to support budget requests</a:t>
                      </a:r>
                    </a:p>
                    <a:p>
                      <a:endParaRPr lang="en-IN" sz="2000"/>
                    </a:p>
                    <a:p>
                      <a:r>
                        <a:rPr lang="en-IN" sz="2000"/>
                        <a:t>Ensure NABH compliance throughout departments </a:t>
                      </a:r>
                      <a:endParaRPr lang="en-IN" sz="2000" dirty="0"/>
                    </a:p>
                  </a:txBody>
                  <a:tcPr/>
                </a:tc>
                <a:extLst>
                  <a:ext uri="{0D108BD9-81ED-4DB2-BD59-A6C34878D82A}">
                    <a16:rowId xmlns:a16="http://schemas.microsoft.com/office/drawing/2014/main" val="1759768582"/>
                  </a:ext>
                </a:extLst>
              </a:tr>
              <a:tr h="2055306">
                <a:tc>
                  <a:txBody>
                    <a:bodyPr/>
                    <a:lstStyle/>
                    <a:p>
                      <a:r>
                        <a:rPr lang="en-IN" sz="2000"/>
                        <a:t>Rx chief Pharmacist </a:t>
                      </a:r>
                      <a:endParaRPr lang="en-IN" sz="2000" dirty="0"/>
                    </a:p>
                  </a:txBody>
                  <a:tcPr/>
                </a:tc>
                <a:tc>
                  <a:txBody>
                    <a:bodyPr/>
                    <a:lstStyle/>
                    <a:p>
                      <a:r>
                        <a:rPr lang="en-IN" sz="2000"/>
                        <a:t>Manages cold chain storage</a:t>
                      </a:r>
                    </a:p>
                    <a:p>
                      <a:endParaRPr lang="en-IN" sz="2000"/>
                    </a:p>
                    <a:p>
                      <a:r>
                        <a:rPr lang="en-IN" sz="2000"/>
                        <a:t>Insulin Pumps , drug delivery safety</a:t>
                      </a:r>
                      <a:endParaRPr lang="en-IN" sz="2000" dirty="0"/>
                    </a:p>
                  </a:txBody>
                  <a:tcPr/>
                </a:tc>
                <a:tc>
                  <a:txBody>
                    <a:bodyPr/>
                    <a:lstStyle/>
                    <a:p>
                      <a:r>
                        <a:rPr lang="en-IN" sz="2000"/>
                        <a:t>Asset specific stakeholder</a:t>
                      </a:r>
                      <a:endParaRPr lang="en-IN" sz="2000" dirty="0"/>
                    </a:p>
                  </a:txBody>
                  <a:tcPr/>
                </a:tc>
                <a:tc>
                  <a:txBody>
                    <a:bodyPr/>
                    <a:lstStyle/>
                    <a:p>
                      <a:r>
                        <a:rPr lang="en-IN" sz="2000"/>
                        <a:t>Paperwork and personnel notification if noticed </a:t>
                      </a:r>
                      <a:endParaRPr lang="en-IN" sz="2000" dirty="0"/>
                    </a:p>
                  </a:txBody>
                  <a:tcPr/>
                </a:tc>
                <a:tc>
                  <a:txBody>
                    <a:bodyPr/>
                    <a:lstStyle/>
                    <a:p>
                      <a:r>
                        <a:rPr lang="en-IN" sz="2000"/>
                        <a:t>No notifications of storage malfunctioning</a:t>
                      </a:r>
                    </a:p>
                    <a:p>
                      <a:endParaRPr lang="en-IN" sz="2000"/>
                    </a:p>
                    <a:p>
                      <a:r>
                        <a:rPr lang="en-IN" sz="2000"/>
                        <a:t>Pharmacy losses due to unnoticed cold chain breaches</a:t>
                      </a:r>
                      <a:endParaRPr lang="en-IN" sz="2000" dirty="0"/>
                    </a:p>
                  </a:txBody>
                  <a:tcPr/>
                </a:tc>
                <a:tc>
                  <a:txBody>
                    <a:bodyPr/>
                    <a:lstStyle/>
                    <a:p>
                      <a:r>
                        <a:rPr lang="en-IN" sz="2000" dirty="0"/>
                        <a:t>Realtime alerts when cold storage devices go outside safe range </a:t>
                      </a:r>
                    </a:p>
                    <a:p>
                      <a:r>
                        <a:rPr lang="en-IN" sz="2000" dirty="0"/>
                        <a:t>Maintain audit logs</a:t>
                      </a:r>
                    </a:p>
                    <a:p>
                      <a:endParaRPr lang="en-IN" sz="2000" dirty="0"/>
                    </a:p>
                    <a:p>
                      <a:r>
                        <a:rPr lang="en-IN" sz="2000" dirty="0"/>
                        <a:t>Coordinate better with engineering on maintenance </a:t>
                      </a:r>
                    </a:p>
                  </a:txBody>
                  <a:tcPr/>
                </a:tc>
                <a:extLst>
                  <a:ext uri="{0D108BD9-81ED-4DB2-BD59-A6C34878D82A}">
                    <a16:rowId xmlns:a16="http://schemas.microsoft.com/office/drawing/2014/main" val="2958025254"/>
                  </a:ext>
                </a:extLst>
              </a:tr>
            </a:tbl>
          </a:graphicData>
        </a:graphic>
      </p:graphicFrame>
    </p:spTree>
    <p:extLst>
      <p:ext uri="{BB962C8B-B14F-4D97-AF65-F5344CB8AC3E}">
        <p14:creationId xmlns:p14="http://schemas.microsoft.com/office/powerpoint/2010/main" val="1497122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91CB665-3383-F9B7-72F9-A000D94E61FF}"/>
              </a:ext>
            </a:extLst>
          </p:cNvPr>
          <p:cNvSpPr>
            <a:spLocks noGrp="1"/>
          </p:cNvSpPr>
          <p:nvPr>
            <p:ph type="title"/>
          </p:nvPr>
        </p:nvSpPr>
        <p:spPr>
          <a:xfrm>
            <a:off x="1371597" y="348865"/>
            <a:ext cx="10044023" cy="877729"/>
          </a:xfrm>
        </p:spPr>
        <p:txBody>
          <a:bodyPr anchor="ctr">
            <a:normAutofit/>
          </a:bodyPr>
          <a:lstStyle/>
          <a:p>
            <a:r>
              <a:rPr lang="en-IN" sz="4000" dirty="0">
                <a:solidFill>
                  <a:srgbClr val="FFFFFF"/>
                </a:solidFill>
              </a:rPr>
              <a:t>User Personas</a:t>
            </a:r>
          </a:p>
        </p:txBody>
      </p:sp>
      <p:graphicFrame>
        <p:nvGraphicFramePr>
          <p:cNvPr id="4" name="Content Placeholder 3">
            <a:extLst>
              <a:ext uri="{FF2B5EF4-FFF2-40B4-BE49-F238E27FC236}">
                <a16:creationId xmlns:a16="http://schemas.microsoft.com/office/drawing/2014/main" id="{D1F7C8EB-6419-1E4C-F86E-C2B57565D47F}"/>
              </a:ext>
            </a:extLst>
          </p:cNvPr>
          <p:cNvGraphicFramePr>
            <a:graphicFrameLocks noGrp="1"/>
          </p:cNvGraphicFramePr>
          <p:nvPr>
            <p:ph idx="1"/>
            <p:extLst>
              <p:ext uri="{D42A27DB-BD31-4B8C-83A1-F6EECF244321}">
                <p14:modId xmlns:p14="http://schemas.microsoft.com/office/powerpoint/2010/main" val="4159316346"/>
              </p:ext>
            </p:extLst>
          </p:nvPr>
        </p:nvGraphicFramePr>
        <p:xfrm>
          <a:off x="747965" y="2112579"/>
          <a:ext cx="10720012" cy="4192807"/>
        </p:xfrm>
        <a:graphic>
          <a:graphicData uri="http://schemas.openxmlformats.org/drawingml/2006/table">
            <a:tbl>
              <a:tblPr firstRow="1" bandRow="1">
                <a:tableStyleId>{5C22544A-7EE6-4342-B048-85BDC9FD1C3A}</a:tableStyleId>
              </a:tblPr>
              <a:tblGrid>
                <a:gridCol w="2701334">
                  <a:extLst>
                    <a:ext uri="{9D8B030D-6E8A-4147-A177-3AD203B41FA5}">
                      <a16:colId xmlns:a16="http://schemas.microsoft.com/office/drawing/2014/main" val="1013477488"/>
                    </a:ext>
                  </a:extLst>
                </a:gridCol>
                <a:gridCol w="2708107">
                  <a:extLst>
                    <a:ext uri="{9D8B030D-6E8A-4147-A177-3AD203B41FA5}">
                      <a16:colId xmlns:a16="http://schemas.microsoft.com/office/drawing/2014/main" val="3568360526"/>
                    </a:ext>
                  </a:extLst>
                </a:gridCol>
                <a:gridCol w="2690068">
                  <a:extLst>
                    <a:ext uri="{9D8B030D-6E8A-4147-A177-3AD203B41FA5}">
                      <a16:colId xmlns:a16="http://schemas.microsoft.com/office/drawing/2014/main" val="449966109"/>
                    </a:ext>
                  </a:extLst>
                </a:gridCol>
                <a:gridCol w="2620503">
                  <a:extLst>
                    <a:ext uri="{9D8B030D-6E8A-4147-A177-3AD203B41FA5}">
                      <a16:colId xmlns:a16="http://schemas.microsoft.com/office/drawing/2014/main" val="2078030377"/>
                    </a:ext>
                  </a:extLst>
                </a:gridCol>
              </a:tblGrid>
              <a:tr h="674495">
                <a:tc>
                  <a:txBody>
                    <a:bodyPr/>
                    <a:lstStyle/>
                    <a:p>
                      <a:r>
                        <a:rPr lang="en-IN" sz="1800"/>
                        <a:t>Persona</a:t>
                      </a:r>
                    </a:p>
                  </a:txBody>
                  <a:tcPr marL="91148" marR="91148" marT="45574" marB="45574" anchor="ctr"/>
                </a:tc>
                <a:tc>
                  <a:txBody>
                    <a:bodyPr/>
                    <a:lstStyle/>
                    <a:p>
                      <a:r>
                        <a:rPr lang="en-IN" sz="1800"/>
                        <a:t>Role in Hospital Workflow</a:t>
                      </a:r>
                    </a:p>
                  </a:txBody>
                  <a:tcPr marL="91148" marR="91148" marT="45574" marB="45574" anchor="ctr"/>
                </a:tc>
                <a:tc>
                  <a:txBody>
                    <a:bodyPr/>
                    <a:lstStyle/>
                    <a:p>
                      <a:r>
                        <a:rPr lang="en-IN" sz="1800"/>
                        <a:t>Pain Points</a:t>
                      </a:r>
                    </a:p>
                  </a:txBody>
                  <a:tcPr marL="91148" marR="91148" marT="45574" marB="45574" anchor="ctr"/>
                </a:tc>
                <a:tc>
                  <a:txBody>
                    <a:bodyPr/>
                    <a:lstStyle/>
                    <a:p>
                      <a:r>
                        <a:rPr lang="en-IN" sz="1800"/>
                        <a:t>Goals / What Success Looks Like</a:t>
                      </a:r>
                    </a:p>
                  </a:txBody>
                  <a:tcPr marL="91148" marR="91148" marT="45574" marB="45574" anchor="ctr"/>
                </a:tc>
                <a:extLst>
                  <a:ext uri="{0D108BD9-81ED-4DB2-BD59-A6C34878D82A}">
                    <a16:rowId xmlns:a16="http://schemas.microsoft.com/office/drawing/2014/main" val="1322587481"/>
                  </a:ext>
                </a:extLst>
              </a:tr>
              <a:tr h="947939">
                <a:tc>
                  <a:txBody>
                    <a:bodyPr/>
                    <a:lstStyle/>
                    <a:p>
                      <a:r>
                        <a:rPr lang="en-IN" sz="1800" b="1"/>
                        <a:t>AJ Biomedical Engineer</a:t>
                      </a:r>
                      <a:endParaRPr lang="en-IN" sz="1800"/>
                    </a:p>
                  </a:txBody>
                  <a:tcPr marL="91148" marR="91148" marT="45574" marB="45574" anchor="ctr"/>
                </a:tc>
                <a:tc>
                  <a:txBody>
                    <a:bodyPr/>
                    <a:lstStyle/>
                    <a:p>
                      <a:r>
                        <a:rPr lang="en-IN" sz="1800"/>
                        <a:t>Maintains and tracks all medical devices</a:t>
                      </a:r>
                    </a:p>
                  </a:txBody>
                  <a:tcPr marL="91148" marR="91148" marT="45574" marB="45574" anchor="ctr"/>
                </a:tc>
                <a:tc>
                  <a:txBody>
                    <a:bodyPr/>
                    <a:lstStyle/>
                    <a:p>
                      <a:r>
                        <a:rPr lang="en-IN" sz="1800"/>
                        <a:t>Manual logs, no risk score visibility, audit overload</a:t>
                      </a:r>
                    </a:p>
                  </a:txBody>
                  <a:tcPr marL="91148" marR="91148" marT="45574" marB="45574" anchor="ctr"/>
                </a:tc>
                <a:tc>
                  <a:txBody>
                    <a:bodyPr/>
                    <a:lstStyle/>
                    <a:p>
                      <a:r>
                        <a:rPr lang="en-IN" sz="1800"/>
                        <a:t>Real-time dashboard, automated risk scoring</a:t>
                      </a:r>
                    </a:p>
                  </a:txBody>
                  <a:tcPr marL="91148" marR="91148" marT="45574" marB="45574" anchor="ctr"/>
                </a:tc>
                <a:extLst>
                  <a:ext uri="{0D108BD9-81ED-4DB2-BD59-A6C34878D82A}">
                    <a16:rowId xmlns:a16="http://schemas.microsoft.com/office/drawing/2014/main" val="2881340329"/>
                  </a:ext>
                </a:extLst>
              </a:tr>
              <a:tr h="947939">
                <a:tc>
                  <a:txBody>
                    <a:bodyPr/>
                    <a:lstStyle/>
                    <a:p>
                      <a:r>
                        <a:rPr lang="en-IN" sz="1800" b="1" dirty="0"/>
                        <a:t>Ni Head Nurse</a:t>
                      </a:r>
                      <a:endParaRPr lang="en-IN" sz="1800" dirty="0"/>
                    </a:p>
                  </a:txBody>
                  <a:tcPr marL="91148" marR="91148" marT="45574" marB="45574" anchor="ctr"/>
                </a:tc>
                <a:tc>
                  <a:txBody>
                    <a:bodyPr/>
                    <a:lstStyle/>
                    <a:p>
                      <a:r>
                        <a:rPr lang="en-IN" sz="1800"/>
                        <a:t>Uses devices and reports issues</a:t>
                      </a:r>
                    </a:p>
                  </a:txBody>
                  <a:tcPr marL="91148" marR="91148" marT="45574" marB="45574" anchor="ctr"/>
                </a:tc>
                <a:tc>
                  <a:txBody>
                    <a:bodyPr/>
                    <a:lstStyle/>
                    <a:p>
                      <a:r>
                        <a:rPr lang="en-IN" sz="1800"/>
                        <a:t>Slow incident reporting, poor feedback loop</a:t>
                      </a:r>
                    </a:p>
                  </a:txBody>
                  <a:tcPr marL="91148" marR="91148" marT="45574" marB="45574" anchor="ctr"/>
                </a:tc>
                <a:tc>
                  <a:txBody>
                    <a:bodyPr/>
                    <a:lstStyle/>
                    <a:p>
                      <a:r>
                        <a:rPr lang="en-IN" sz="1800"/>
                        <a:t>One-click reporting, status tracking on incidents</a:t>
                      </a:r>
                    </a:p>
                  </a:txBody>
                  <a:tcPr marL="91148" marR="91148" marT="45574" marB="45574" anchor="ctr"/>
                </a:tc>
                <a:extLst>
                  <a:ext uri="{0D108BD9-81ED-4DB2-BD59-A6C34878D82A}">
                    <a16:rowId xmlns:a16="http://schemas.microsoft.com/office/drawing/2014/main" val="3700936318"/>
                  </a:ext>
                </a:extLst>
              </a:tr>
              <a:tr h="947939">
                <a:tc>
                  <a:txBody>
                    <a:bodyPr/>
                    <a:lstStyle/>
                    <a:p>
                      <a:r>
                        <a:rPr lang="en-IN" sz="1800" b="1"/>
                        <a:t>Hospital Admin Executive (ops &amp; Compliance)</a:t>
                      </a:r>
                      <a:endParaRPr lang="en-IN" sz="1800"/>
                    </a:p>
                  </a:txBody>
                  <a:tcPr marL="91148" marR="91148" marT="45574" marB="45574" anchor="ctr"/>
                </a:tc>
                <a:tc>
                  <a:txBody>
                    <a:bodyPr/>
                    <a:lstStyle/>
                    <a:p>
                      <a:r>
                        <a:rPr lang="en-IN" sz="1800"/>
                        <a:t>Handles compliance, budget, hospital ops</a:t>
                      </a:r>
                    </a:p>
                  </a:txBody>
                  <a:tcPr marL="91148" marR="91148" marT="45574" marB="45574" anchor="ctr"/>
                </a:tc>
                <a:tc>
                  <a:txBody>
                    <a:bodyPr/>
                    <a:lstStyle/>
                    <a:p>
                      <a:r>
                        <a:rPr lang="en-IN" sz="1800"/>
                        <a:t>Lacks risk dashboards, can't track utilization or costs</a:t>
                      </a:r>
                    </a:p>
                  </a:txBody>
                  <a:tcPr marL="91148" marR="91148" marT="45574" marB="45574" anchor="ctr"/>
                </a:tc>
                <a:tc>
                  <a:txBody>
                    <a:bodyPr/>
                    <a:lstStyle/>
                    <a:p>
                      <a:r>
                        <a:rPr lang="en-IN" sz="1800"/>
                        <a:t>KPI dashboards, cost-risk analytics, audit-ready reports</a:t>
                      </a:r>
                    </a:p>
                  </a:txBody>
                  <a:tcPr marL="91148" marR="91148" marT="45574" marB="45574" anchor="ctr"/>
                </a:tc>
                <a:extLst>
                  <a:ext uri="{0D108BD9-81ED-4DB2-BD59-A6C34878D82A}">
                    <a16:rowId xmlns:a16="http://schemas.microsoft.com/office/drawing/2014/main" val="2389327053"/>
                  </a:ext>
                </a:extLst>
              </a:tr>
              <a:tr h="674495">
                <a:tc>
                  <a:txBody>
                    <a:bodyPr/>
                    <a:lstStyle/>
                    <a:p>
                      <a:r>
                        <a:rPr lang="en-IN" sz="1800" b="1"/>
                        <a:t>Rx Chief Pharmacist</a:t>
                      </a:r>
                      <a:endParaRPr lang="en-IN" sz="1800"/>
                    </a:p>
                  </a:txBody>
                  <a:tcPr marL="91148" marR="91148" marT="45574" marB="45574" anchor="ctr"/>
                </a:tc>
                <a:tc>
                  <a:txBody>
                    <a:bodyPr/>
                    <a:lstStyle/>
                    <a:p>
                      <a:r>
                        <a:rPr lang="en-IN" sz="1800"/>
                        <a:t>Manages cold-chain and drug-linked devices</a:t>
                      </a:r>
                    </a:p>
                  </a:txBody>
                  <a:tcPr marL="91148" marR="91148" marT="45574" marB="45574" anchor="ctr"/>
                </a:tc>
                <a:tc>
                  <a:txBody>
                    <a:bodyPr/>
                    <a:lstStyle/>
                    <a:p>
                      <a:r>
                        <a:rPr lang="en-IN" sz="1800"/>
                        <a:t>No alerts for device failure, pharmacy losses</a:t>
                      </a:r>
                    </a:p>
                  </a:txBody>
                  <a:tcPr marL="91148" marR="91148" marT="45574" marB="45574" anchor="ctr"/>
                </a:tc>
                <a:tc>
                  <a:txBody>
                    <a:bodyPr/>
                    <a:lstStyle/>
                    <a:p>
                      <a:r>
                        <a:rPr lang="en-IN" sz="1800" dirty="0"/>
                        <a:t>Cold chain alerts, audit trail for storage devices</a:t>
                      </a:r>
                    </a:p>
                  </a:txBody>
                  <a:tcPr marL="91148" marR="91148" marT="45574" marB="45574" anchor="ctr"/>
                </a:tc>
                <a:extLst>
                  <a:ext uri="{0D108BD9-81ED-4DB2-BD59-A6C34878D82A}">
                    <a16:rowId xmlns:a16="http://schemas.microsoft.com/office/drawing/2014/main" val="3302346453"/>
                  </a:ext>
                </a:extLst>
              </a:tr>
            </a:tbl>
          </a:graphicData>
        </a:graphic>
      </p:graphicFrame>
      <p:pic>
        <p:nvPicPr>
          <p:cNvPr id="5" name="Graphic 4" descr="Target Audience with solid fill">
            <a:extLst>
              <a:ext uri="{FF2B5EF4-FFF2-40B4-BE49-F238E27FC236}">
                <a16:creationId xmlns:a16="http://schemas.microsoft.com/office/drawing/2014/main" id="{273810EB-5F68-120B-5790-51AC82F2BCC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7196" y="293456"/>
            <a:ext cx="914400" cy="914400"/>
          </a:xfrm>
          <a:prstGeom prst="rect">
            <a:avLst/>
          </a:prstGeom>
        </p:spPr>
      </p:pic>
    </p:spTree>
    <p:extLst>
      <p:ext uri="{BB962C8B-B14F-4D97-AF65-F5344CB8AC3E}">
        <p14:creationId xmlns:p14="http://schemas.microsoft.com/office/powerpoint/2010/main" val="1370941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Freeform: Shape 14">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Arc 16">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26B188D-529E-BA2C-298F-02C000FF72CD}"/>
              </a:ext>
            </a:extLst>
          </p:cNvPr>
          <p:cNvSpPr>
            <a:spLocks noGrp="1"/>
          </p:cNvSpPr>
          <p:nvPr>
            <p:ph idx="1"/>
          </p:nvPr>
        </p:nvSpPr>
        <p:spPr>
          <a:xfrm>
            <a:off x="838201" y="1984443"/>
            <a:ext cx="5257800" cy="4192520"/>
          </a:xfrm>
        </p:spPr>
        <p:txBody>
          <a:bodyPr>
            <a:normAutofit/>
          </a:bodyPr>
          <a:lstStyle/>
          <a:p>
            <a:pPr marL="0" indent="0">
              <a:buNone/>
            </a:pPr>
            <a:r>
              <a:rPr lang="en-IN" b="1" dirty="0"/>
              <a:t>Unique Value Proposition </a:t>
            </a:r>
          </a:p>
          <a:p>
            <a:pPr marL="0" indent="0" algn="just">
              <a:buNone/>
            </a:pPr>
            <a:r>
              <a:rPr lang="en-IN" dirty="0"/>
              <a:t>A lightweight, audit-ready platform for large hospitals to track medical device health, automate risk scoring, and streamline compliance—without needing expensive hardware or infrastructure.</a:t>
            </a:r>
          </a:p>
        </p:txBody>
      </p:sp>
      <p:graphicFrame>
        <p:nvGraphicFramePr>
          <p:cNvPr id="5" name="Table 4">
            <a:extLst>
              <a:ext uri="{FF2B5EF4-FFF2-40B4-BE49-F238E27FC236}">
                <a16:creationId xmlns:a16="http://schemas.microsoft.com/office/drawing/2014/main" id="{8706C8C5-B29F-6902-5A44-683E93D51A6E}"/>
              </a:ext>
            </a:extLst>
          </p:cNvPr>
          <p:cNvGraphicFramePr>
            <a:graphicFrameLocks noGrp="1"/>
          </p:cNvGraphicFramePr>
          <p:nvPr>
            <p:extLst>
              <p:ext uri="{D42A27DB-BD31-4B8C-83A1-F6EECF244321}">
                <p14:modId xmlns:p14="http://schemas.microsoft.com/office/powerpoint/2010/main" val="2760182384"/>
              </p:ext>
            </p:extLst>
          </p:nvPr>
        </p:nvGraphicFramePr>
        <p:xfrm>
          <a:off x="6541053" y="684035"/>
          <a:ext cx="4777382" cy="5317224"/>
        </p:xfrm>
        <a:graphic>
          <a:graphicData uri="http://schemas.openxmlformats.org/drawingml/2006/table">
            <a:tbl>
              <a:tblPr firstRow="1" bandRow="1">
                <a:tableStyleId>{69012ECD-51FC-41F1-AA8D-1B2483CD663E}</a:tableStyleId>
              </a:tblPr>
              <a:tblGrid>
                <a:gridCol w="2107208">
                  <a:extLst>
                    <a:ext uri="{9D8B030D-6E8A-4147-A177-3AD203B41FA5}">
                      <a16:colId xmlns:a16="http://schemas.microsoft.com/office/drawing/2014/main" val="1772124010"/>
                    </a:ext>
                  </a:extLst>
                </a:gridCol>
                <a:gridCol w="2670174">
                  <a:extLst>
                    <a:ext uri="{9D8B030D-6E8A-4147-A177-3AD203B41FA5}">
                      <a16:colId xmlns:a16="http://schemas.microsoft.com/office/drawing/2014/main" val="560311334"/>
                    </a:ext>
                  </a:extLst>
                </a:gridCol>
              </a:tblGrid>
              <a:tr h="344142">
                <a:tc>
                  <a:txBody>
                    <a:bodyPr/>
                    <a:lstStyle/>
                    <a:p>
                      <a:r>
                        <a:rPr lang="en-IN" sz="1600"/>
                        <a:t>Feature Name</a:t>
                      </a:r>
                    </a:p>
                  </a:txBody>
                  <a:tcPr marL="72706" marR="72706" marT="36353" marB="36353" anchor="ctr"/>
                </a:tc>
                <a:tc>
                  <a:txBody>
                    <a:bodyPr/>
                    <a:lstStyle/>
                    <a:p>
                      <a:r>
                        <a:rPr lang="en-IN" sz="1600"/>
                        <a:t>Description</a:t>
                      </a:r>
                    </a:p>
                  </a:txBody>
                  <a:tcPr marL="72706" marR="72706" marT="36353" marB="36353" anchor="ctr"/>
                </a:tc>
                <a:extLst>
                  <a:ext uri="{0D108BD9-81ED-4DB2-BD59-A6C34878D82A}">
                    <a16:rowId xmlns:a16="http://schemas.microsoft.com/office/drawing/2014/main" val="1188402344"/>
                  </a:ext>
                </a:extLst>
              </a:tr>
              <a:tr h="828847">
                <a:tc>
                  <a:txBody>
                    <a:bodyPr/>
                    <a:lstStyle/>
                    <a:p>
                      <a:r>
                        <a:rPr lang="en-IN" sz="1600" b="1"/>
                        <a:t>Device Inventory Tracker</a:t>
                      </a:r>
                      <a:endParaRPr lang="en-IN" sz="1600"/>
                    </a:p>
                  </a:txBody>
                  <a:tcPr marL="72706" marR="72706" marT="36353" marB="36353" anchor="ctr"/>
                </a:tc>
                <a:tc>
                  <a:txBody>
                    <a:bodyPr/>
                    <a:lstStyle/>
                    <a:p>
                      <a:r>
                        <a:rPr lang="en-IN" sz="1600"/>
                        <a:t>Register devices with department, model, status, and maintenance dates</a:t>
                      </a:r>
                    </a:p>
                  </a:txBody>
                  <a:tcPr marL="72706" marR="72706" marT="36353" marB="36353" anchor="ctr"/>
                </a:tc>
                <a:extLst>
                  <a:ext uri="{0D108BD9-81ED-4DB2-BD59-A6C34878D82A}">
                    <a16:rowId xmlns:a16="http://schemas.microsoft.com/office/drawing/2014/main" val="2824803758"/>
                  </a:ext>
                </a:extLst>
              </a:tr>
              <a:tr h="828847">
                <a:tc>
                  <a:txBody>
                    <a:bodyPr/>
                    <a:lstStyle/>
                    <a:p>
                      <a:r>
                        <a:rPr lang="en-IN" sz="1600" b="1"/>
                        <a:t>Incident Reporting Module</a:t>
                      </a:r>
                      <a:endParaRPr lang="en-IN" sz="1600"/>
                    </a:p>
                  </a:txBody>
                  <a:tcPr marL="72706" marR="72706" marT="36353" marB="36353" anchor="ctr"/>
                </a:tc>
                <a:tc>
                  <a:txBody>
                    <a:bodyPr/>
                    <a:lstStyle/>
                    <a:p>
                      <a:r>
                        <a:rPr lang="en-IN" sz="1600"/>
                        <a:t>Allow clinical staff to report issues via web or mobile app</a:t>
                      </a:r>
                    </a:p>
                  </a:txBody>
                  <a:tcPr marL="72706" marR="72706" marT="36353" marB="36353" anchor="ctr"/>
                </a:tc>
                <a:extLst>
                  <a:ext uri="{0D108BD9-81ED-4DB2-BD59-A6C34878D82A}">
                    <a16:rowId xmlns:a16="http://schemas.microsoft.com/office/drawing/2014/main" val="1790352653"/>
                  </a:ext>
                </a:extLst>
              </a:tr>
              <a:tr h="828847">
                <a:tc>
                  <a:txBody>
                    <a:bodyPr/>
                    <a:lstStyle/>
                    <a:p>
                      <a:r>
                        <a:rPr lang="en-IN" sz="1600" b="1"/>
                        <a:t>ISO 14971 Risk Scoring Tool</a:t>
                      </a:r>
                      <a:endParaRPr lang="en-IN" sz="1600"/>
                    </a:p>
                  </a:txBody>
                  <a:tcPr marL="72706" marR="72706" marT="36353" marB="36353" anchor="ctr"/>
                </a:tc>
                <a:tc>
                  <a:txBody>
                    <a:bodyPr/>
                    <a:lstStyle/>
                    <a:p>
                      <a:r>
                        <a:rPr lang="en-IN" sz="1600"/>
                        <a:t>Auto-calculate risk score based on severity, likelihood, and detectability</a:t>
                      </a:r>
                    </a:p>
                  </a:txBody>
                  <a:tcPr marL="72706" marR="72706" marT="36353" marB="36353" anchor="ctr"/>
                </a:tc>
                <a:extLst>
                  <a:ext uri="{0D108BD9-81ED-4DB2-BD59-A6C34878D82A}">
                    <a16:rowId xmlns:a16="http://schemas.microsoft.com/office/drawing/2014/main" val="3726894654"/>
                  </a:ext>
                </a:extLst>
              </a:tr>
              <a:tr h="828847">
                <a:tc>
                  <a:txBody>
                    <a:bodyPr/>
                    <a:lstStyle/>
                    <a:p>
                      <a:r>
                        <a:rPr lang="en-IN" sz="1600" b="1"/>
                        <a:t>Maintenance Log &amp; Alerts</a:t>
                      </a:r>
                      <a:endParaRPr lang="en-IN" sz="1600"/>
                    </a:p>
                  </a:txBody>
                  <a:tcPr marL="72706" marR="72706" marT="36353" marB="36353" anchor="ctr"/>
                </a:tc>
                <a:tc>
                  <a:txBody>
                    <a:bodyPr/>
                    <a:lstStyle/>
                    <a:p>
                      <a:r>
                        <a:rPr lang="en-IN" sz="1600"/>
                        <a:t>Trigger maintenance tasks based on risk score or scheduled dates</a:t>
                      </a:r>
                    </a:p>
                  </a:txBody>
                  <a:tcPr marL="72706" marR="72706" marT="36353" marB="36353" anchor="ctr"/>
                </a:tc>
                <a:extLst>
                  <a:ext uri="{0D108BD9-81ED-4DB2-BD59-A6C34878D82A}">
                    <a16:rowId xmlns:a16="http://schemas.microsoft.com/office/drawing/2014/main" val="183250889"/>
                  </a:ext>
                </a:extLst>
              </a:tr>
              <a:tr h="828847">
                <a:tc>
                  <a:txBody>
                    <a:bodyPr/>
                    <a:lstStyle/>
                    <a:p>
                      <a:r>
                        <a:rPr lang="en-IN" sz="1600" b="1"/>
                        <a:t>Admin Dashboard</a:t>
                      </a:r>
                      <a:endParaRPr lang="en-IN" sz="1600"/>
                    </a:p>
                  </a:txBody>
                  <a:tcPr marL="72706" marR="72706" marT="36353" marB="36353" anchor="ctr"/>
                </a:tc>
                <a:tc>
                  <a:txBody>
                    <a:bodyPr/>
                    <a:lstStyle/>
                    <a:p>
                      <a:r>
                        <a:rPr lang="en-IN" sz="1600"/>
                        <a:t>View KPIs: incidents per dept, risk trends, device utilization</a:t>
                      </a:r>
                    </a:p>
                  </a:txBody>
                  <a:tcPr marL="72706" marR="72706" marT="36353" marB="36353" anchor="ctr"/>
                </a:tc>
                <a:extLst>
                  <a:ext uri="{0D108BD9-81ED-4DB2-BD59-A6C34878D82A}">
                    <a16:rowId xmlns:a16="http://schemas.microsoft.com/office/drawing/2014/main" val="2724539334"/>
                  </a:ext>
                </a:extLst>
              </a:tr>
              <a:tr h="828847">
                <a:tc>
                  <a:txBody>
                    <a:bodyPr/>
                    <a:lstStyle/>
                    <a:p>
                      <a:r>
                        <a:rPr lang="en-IN" sz="1600" b="1" dirty="0"/>
                        <a:t>Compliance Report Generator</a:t>
                      </a:r>
                      <a:endParaRPr lang="en-IN" sz="1600" dirty="0"/>
                    </a:p>
                  </a:txBody>
                  <a:tcPr marL="72706" marR="72706" marT="36353" marB="36353" anchor="ctr"/>
                </a:tc>
                <a:tc>
                  <a:txBody>
                    <a:bodyPr/>
                    <a:lstStyle/>
                    <a:p>
                      <a:r>
                        <a:rPr lang="en-IN" sz="1600" dirty="0"/>
                        <a:t>Export PDF/Excel of incidents, risk actions for audit</a:t>
                      </a:r>
                    </a:p>
                  </a:txBody>
                  <a:tcPr marL="72706" marR="72706" marT="36353" marB="36353" anchor="ctr"/>
                </a:tc>
                <a:extLst>
                  <a:ext uri="{0D108BD9-81ED-4DB2-BD59-A6C34878D82A}">
                    <a16:rowId xmlns:a16="http://schemas.microsoft.com/office/drawing/2014/main" val="2969257280"/>
                  </a:ext>
                </a:extLst>
              </a:tr>
            </a:tbl>
          </a:graphicData>
        </a:graphic>
      </p:graphicFrame>
      <p:sp>
        <p:nvSpPr>
          <p:cNvPr id="9" name="TextBox 8">
            <a:extLst>
              <a:ext uri="{FF2B5EF4-FFF2-40B4-BE49-F238E27FC236}">
                <a16:creationId xmlns:a16="http://schemas.microsoft.com/office/drawing/2014/main" id="{27664E35-5232-758E-DC33-3719A2E1F37E}"/>
              </a:ext>
            </a:extLst>
          </p:cNvPr>
          <p:cNvSpPr txBox="1"/>
          <p:nvPr/>
        </p:nvSpPr>
        <p:spPr>
          <a:xfrm>
            <a:off x="6813100" y="141274"/>
            <a:ext cx="6093500" cy="523220"/>
          </a:xfrm>
          <a:prstGeom prst="rect">
            <a:avLst/>
          </a:prstGeom>
          <a:noFill/>
        </p:spPr>
        <p:txBody>
          <a:bodyPr wrap="square">
            <a:spAutoFit/>
          </a:bodyPr>
          <a:lstStyle/>
          <a:p>
            <a:r>
              <a:rPr kumimoji="0" lang="en-IN" sz="2800" b="1" i="0" u="none" strike="noStrike" kern="1200" cap="none" spc="0" normalizeH="0" baseline="0" noProof="0" dirty="0">
                <a:ln>
                  <a:noFill/>
                </a:ln>
                <a:solidFill>
                  <a:prstClr val="black"/>
                </a:solidFill>
                <a:effectLst/>
                <a:uLnTx/>
                <a:uFillTx/>
                <a:latin typeface="Aptos Display" panose="02110004020202020204"/>
                <a:ea typeface="+mj-ea"/>
                <a:cs typeface="+mj-cs"/>
              </a:rPr>
              <a:t>Minimum Viable Product </a:t>
            </a:r>
            <a:endParaRPr lang="en-IN" dirty="0"/>
          </a:p>
        </p:txBody>
      </p:sp>
    </p:spTree>
    <p:extLst>
      <p:ext uri="{BB962C8B-B14F-4D97-AF65-F5344CB8AC3E}">
        <p14:creationId xmlns:p14="http://schemas.microsoft.com/office/powerpoint/2010/main" val="466813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A2CB9-805C-2C93-153E-A2D84A080A4D}"/>
              </a:ext>
            </a:extLst>
          </p:cNvPr>
          <p:cNvSpPr>
            <a:spLocks noGrp="1"/>
          </p:cNvSpPr>
          <p:nvPr>
            <p:ph type="title"/>
          </p:nvPr>
        </p:nvSpPr>
        <p:spPr/>
        <p:txBody>
          <a:bodyPr/>
          <a:lstStyle/>
          <a:p>
            <a:r>
              <a:rPr lang="en-IN" dirty="0"/>
              <a:t>🧩 2. Persona-Feature Mapping Table (MVP Prioritization Tool)</a:t>
            </a:r>
          </a:p>
        </p:txBody>
      </p:sp>
      <p:graphicFrame>
        <p:nvGraphicFramePr>
          <p:cNvPr id="4" name="Content Placeholder 3">
            <a:extLst>
              <a:ext uri="{FF2B5EF4-FFF2-40B4-BE49-F238E27FC236}">
                <a16:creationId xmlns:a16="http://schemas.microsoft.com/office/drawing/2014/main" id="{1B35258D-A85F-2799-9046-E144A9B1BB42}"/>
              </a:ext>
            </a:extLst>
          </p:cNvPr>
          <p:cNvGraphicFramePr>
            <a:graphicFrameLocks noGrp="1"/>
          </p:cNvGraphicFramePr>
          <p:nvPr>
            <p:ph idx="1"/>
            <p:extLst>
              <p:ext uri="{D42A27DB-BD31-4B8C-83A1-F6EECF244321}">
                <p14:modId xmlns:p14="http://schemas.microsoft.com/office/powerpoint/2010/main" val="1096533601"/>
              </p:ext>
            </p:extLst>
          </p:nvPr>
        </p:nvGraphicFramePr>
        <p:xfrm>
          <a:off x="838200" y="1825625"/>
          <a:ext cx="10515600" cy="658368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3785735548"/>
                    </a:ext>
                  </a:extLst>
                </a:gridCol>
                <a:gridCol w="1752600">
                  <a:extLst>
                    <a:ext uri="{9D8B030D-6E8A-4147-A177-3AD203B41FA5}">
                      <a16:colId xmlns:a16="http://schemas.microsoft.com/office/drawing/2014/main" val="1990695890"/>
                    </a:ext>
                  </a:extLst>
                </a:gridCol>
                <a:gridCol w="1752600">
                  <a:extLst>
                    <a:ext uri="{9D8B030D-6E8A-4147-A177-3AD203B41FA5}">
                      <a16:colId xmlns:a16="http://schemas.microsoft.com/office/drawing/2014/main" val="3522416653"/>
                    </a:ext>
                  </a:extLst>
                </a:gridCol>
                <a:gridCol w="1752600">
                  <a:extLst>
                    <a:ext uri="{9D8B030D-6E8A-4147-A177-3AD203B41FA5}">
                      <a16:colId xmlns:a16="http://schemas.microsoft.com/office/drawing/2014/main" val="467279195"/>
                    </a:ext>
                  </a:extLst>
                </a:gridCol>
                <a:gridCol w="1752600">
                  <a:extLst>
                    <a:ext uri="{9D8B030D-6E8A-4147-A177-3AD203B41FA5}">
                      <a16:colId xmlns:a16="http://schemas.microsoft.com/office/drawing/2014/main" val="678444425"/>
                    </a:ext>
                  </a:extLst>
                </a:gridCol>
                <a:gridCol w="1752600">
                  <a:extLst>
                    <a:ext uri="{9D8B030D-6E8A-4147-A177-3AD203B41FA5}">
                      <a16:colId xmlns:a16="http://schemas.microsoft.com/office/drawing/2014/main" val="2224604324"/>
                    </a:ext>
                  </a:extLst>
                </a:gridCol>
              </a:tblGrid>
              <a:tr h="370840">
                <a:tc>
                  <a:txBody>
                    <a:bodyPr/>
                    <a:lstStyle/>
                    <a:p>
                      <a:r>
                        <a:rPr lang="en-IN" dirty="0"/>
                        <a:t>Feature Name</a:t>
                      </a:r>
                    </a:p>
                  </a:txBody>
                  <a:tcPr anchor="ctr"/>
                </a:tc>
                <a:tc>
                  <a:txBody>
                    <a:bodyPr/>
                    <a:lstStyle/>
                    <a:p>
                      <a:r>
                        <a:rPr lang="en-IN"/>
                        <a:t>Arjun (Engineer)</a:t>
                      </a:r>
                    </a:p>
                  </a:txBody>
                  <a:tcPr anchor="ctr"/>
                </a:tc>
                <a:tc>
                  <a:txBody>
                    <a:bodyPr/>
                    <a:lstStyle/>
                    <a:p>
                      <a:r>
                        <a:rPr lang="en-IN"/>
                        <a:t>Nisha (Nurse)</a:t>
                      </a:r>
                    </a:p>
                  </a:txBody>
                  <a:tcPr anchor="ctr"/>
                </a:tc>
                <a:tc>
                  <a:txBody>
                    <a:bodyPr/>
                    <a:lstStyle/>
                    <a:p>
                      <a:r>
                        <a:rPr lang="en-IN"/>
                        <a:t>Ajay (Admin)</a:t>
                      </a:r>
                    </a:p>
                  </a:txBody>
                  <a:tcPr anchor="ctr"/>
                </a:tc>
                <a:tc>
                  <a:txBody>
                    <a:bodyPr/>
                    <a:lstStyle/>
                    <a:p>
                      <a:r>
                        <a:rPr lang="en-IN"/>
                        <a:t>Shruthi (Pharmacist)</a:t>
                      </a:r>
                    </a:p>
                  </a:txBody>
                  <a:tcPr anchor="ctr"/>
                </a:tc>
                <a:tc>
                  <a:txBody>
                    <a:bodyPr/>
                    <a:lstStyle/>
                    <a:p>
                      <a:r>
                        <a:rPr lang="en-IN"/>
                        <a:t>Priority</a:t>
                      </a:r>
                    </a:p>
                  </a:txBody>
                  <a:tcPr anchor="ctr"/>
                </a:tc>
                <a:extLst>
                  <a:ext uri="{0D108BD9-81ED-4DB2-BD59-A6C34878D82A}">
                    <a16:rowId xmlns:a16="http://schemas.microsoft.com/office/drawing/2014/main" val="3896494187"/>
                  </a:ext>
                </a:extLst>
              </a:tr>
              <a:tr h="370840">
                <a:tc>
                  <a:txBody>
                    <a:bodyPr/>
                    <a:lstStyle/>
                    <a:p>
                      <a:r>
                        <a:rPr lang="en-IN"/>
                        <a:t>Device Inventory Management</a:t>
                      </a:r>
                    </a:p>
                  </a:txBody>
                  <a:tcPr anchor="ctr"/>
                </a:tc>
                <a:tc>
                  <a:txBody>
                    <a:bodyPr/>
                    <a:lstStyle/>
                    <a:p>
                      <a:r>
                        <a:rPr lang="en-IN"/>
                        <a:t>✅</a:t>
                      </a:r>
                    </a:p>
                  </a:txBody>
                  <a:tcPr anchor="ctr"/>
                </a:tc>
                <a:tc>
                  <a:txBody>
                    <a:bodyPr/>
                    <a:lstStyle/>
                    <a:p>
                      <a:r>
                        <a:rPr lang="en-IN"/>
                        <a:t>❌</a:t>
                      </a:r>
                    </a:p>
                  </a:txBody>
                  <a:tcPr anchor="ctr"/>
                </a:tc>
                <a:tc>
                  <a:txBody>
                    <a:bodyPr/>
                    <a:lstStyle/>
                    <a:p>
                      <a:r>
                        <a:rPr lang="en-IN"/>
                        <a:t>✅</a:t>
                      </a:r>
                    </a:p>
                  </a:txBody>
                  <a:tcPr anchor="ctr"/>
                </a:tc>
                <a:tc>
                  <a:txBody>
                    <a:bodyPr/>
                    <a:lstStyle/>
                    <a:p>
                      <a:r>
                        <a:rPr lang="en-IN"/>
                        <a:t>✅</a:t>
                      </a:r>
                    </a:p>
                  </a:txBody>
                  <a:tcPr anchor="ctr"/>
                </a:tc>
                <a:tc>
                  <a:txBody>
                    <a:bodyPr/>
                    <a:lstStyle/>
                    <a:p>
                      <a:r>
                        <a:rPr lang="en-IN"/>
                        <a:t>🔵 High</a:t>
                      </a:r>
                    </a:p>
                  </a:txBody>
                  <a:tcPr anchor="ctr"/>
                </a:tc>
                <a:extLst>
                  <a:ext uri="{0D108BD9-81ED-4DB2-BD59-A6C34878D82A}">
                    <a16:rowId xmlns:a16="http://schemas.microsoft.com/office/drawing/2014/main" val="3757185485"/>
                  </a:ext>
                </a:extLst>
              </a:tr>
              <a:tr h="370840">
                <a:tc>
                  <a:txBody>
                    <a:bodyPr/>
                    <a:lstStyle/>
                    <a:p>
                      <a:r>
                        <a:rPr lang="en-IN"/>
                        <a:t>Risk Scoring (ISO 14971)</a:t>
                      </a:r>
                    </a:p>
                  </a:txBody>
                  <a:tcPr anchor="ctr"/>
                </a:tc>
                <a:tc>
                  <a:txBody>
                    <a:bodyPr/>
                    <a:lstStyle/>
                    <a:p>
                      <a:r>
                        <a:rPr lang="en-IN"/>
                        <a:t>✅</a:t>
                      </a:r>
                    </a:p>
                  </a:txBody>
                  <a:tcPr anchor="ctr"/>
                </a:tc>
                <a:tc>
                  <a:txBody>
                    <a:bodyPr/>
                    <a:lstStyle/>
                    <a:p>
                      <a:r>
                        <a:rPr lang="en-IN"/>
                        <a:t>❌</a:t>
                      </a:r>
                    </a:p>
                  </a:txBody>
                  <a:tcPr anchor="ctr"/>
                </a:tc>
                <a:tc>
                  <a:txBody>
                    <a:bodyPr/>
                    <a:lstStyle/>
                    <a:p>
                      <a:r>
                        <a:rPr lang="en-IN"/>
                        <a:t>✅</a:t>
                      </a:r>
                    </a:p>
                  </a:txBody>
                  <a:tcPr anchor="ctr"/>
                </a:tc>
                <a:tc>
                  <a:txBody>
                    <a:bodyPr/>
                    <a:lstStyle/>
                    <a:p>
                      <a:r>
                        <a:rPr lang="en-IN"/>
                        <a:t>✅</a:t>
                      </a:r>
                    </a:p>
                  </a:txBody>
                  <a:tcPr anchor="ctr"/>
                </a:tc>
                <a:tc>
                  <a:txBody>
                    <a:bodyPr/>
                    <a:lstStyle/>
                    <a:p>
                      <a:r>
                        <a:rPr lang="en-IN"/>
                        <a:t>🔵 High</a:t>
                      </a:r>
                    </a:p>
                  </a:txBody>
                  <a:tcPr anchor="ctr"/>
                </a:tc>
                <a:extLst>
                  <a:ext uri="{0D108BD9-81ED-4DB2-BD59-A6C34878D82A}">
                    <a16:rowId xmlns:a16="http://schemas.microsoft.com/office/drawing/2014/main" val="2270241904"/>
                  </a:ext>
                </a:extLst>
              </a:tr>
              <a:tr h="370840">
                <a:tc>
                  <a:txBody>
                    <a:bodyPr/>
                    <a:lstStyle/>
                    <a:p>
                      <a:r>
                        <a:rPr lang="en-IN"/>
                        <a:t>Incident Reporting (Mobile/Web)</a:t>
                      </a:r>
                    </a:p>
                  </a:txBody>
                  <a:tcPr anchor="ctr"/>
                </a:tc>
                <a:tc>
                  <a:txBody>
                    <a:bodyPr/>
                    <a:lstStyle/>
                    <a:p>
                      <a:r>
                        <a:rPr lang="en-IN"/>
                        <a:t>✅</a:t>
                      </a:r>
                    </a:p>
                  </a:txBody>
                  <a:tcPr anchor="ctr"/>
                </a:tc>
                <a:tc>
                  <a:txBody>
                    <a:bodyPr/>
                    <a:lstStyle/>
                    <a:p>
                      <a:r>
                        <a:rPr lang="en-IN"/>
                        <a:t>✅</a:t>
                      </a:r>
                    </a:p>
                  </a:txBody>
                  <a:tcPr anchor="ctr"/>
                </a:tc>
                <a:tc>
                  <a:txBody>
                    <a:bodyPr/>
                    <a:lstStyle/>
                    <a:p>
                      <a:r>
                        <a:rPr lang="en-IN"/>
                        <a:t>❌</a:t>
                      </a:r>
                    </a:p>
                  </a:txBody>
                  <a:tcPr anchor="ctr"/>
                </a:tc>
                <a:tc>
                  <a:txBody>
                    <a:bodyPr/>
                    <a:lstStyle/>
                    <a:p>
                      <a:r>
                        <a:rPr lang="en-IN"/>
                        <a:t>✅</a:t>
                      </a:r>
                    </a:p>
                  </a:txBody>
                  <a:tcPr anchor="ctr"/>
                </a:tc>
                <a:tc>
                  <a:txBody>
                    <a:bodyPr/>
                    <a:lstStyle/>
                    <a:p>
                      <a:r>
                        <a:rPr lang="en-IN"/>
                        <a:t>🔵 High</a:t>
                      </a:r>
                    </a:p>
                  </a:txBody>
                  <a:tcPr anchor="ctr"/>
                </a:tc>
                <a:extLst>
                  <a:ext uri="{0D108BD9-81ED-4DB2-BD59-A6C34878D82A}">
                    <a16:rowId xmlns:a16="http://schemas.microsoft.com/office/drawing/2014/main" val="3554957853"/>
                  </a:ext>
                </a:extLst>
              </a:tr>
              <a:tr h="370840">
                <a:tc>
                  <a:txBody>
                    <a:bodyPr/>
                    <a:lstStyle/>
                    <a:p>
                      <a:r>
                        <a:rPr lang="en-IN"/>
                        <a:t>Maintenance Scheduling</a:t>
                      </a:r>
                    </a:p>
                  </a:txBody>
                  <a:tcPr anchor="ctr"/>
                </a:tc>
                <a:tc>
                  <a:txBody>
                    <a:bodyPr/>
                    <a:lstStyle/>
                    <a:p>
                      <a:r>
                        <a:rPr lang="en-IN"/>
                        <a:t>✅</a:t>
                      </a:r>
                    </a:p>
                  </a:txBody>
                  <a:tcPr anchor="ctr"/>
                </a:tc>
                <a:tc>
                  <a:txBody>
                    <a:bodyPr/>
                    <a:lstStyle/>
                    <a:p>
                      <a:r>
                        <a:rPr lang="en-IN"/>
                        <a:t>❌</a:t>
                      </a:r>
                    </a:p>
                  </a:txBody>
                  <a:tcPr anchor="ctr"/>
                </a:tc>
                <a:tc>
                  <a:txBody>
                    <a:bodyPr/>
                    <a:lstStyle/>
                    <a:p>
                      <a:r>
                        <a:rPr lang="en-IN"/>
                        <a:t>✅</a:t>
                      </a:r>
                    </a:p>
                  </a:txBody>
                  <a:tcPr anchor="ctr"/>
                </a:tc>
                <a:tc>
                  <a:txBody>
                    <a:bodyPr/>
                    <a:lstStyle/>
                    <a:p>
                      <a:r>
                        <a:rPr lang="en-IN"/>
                        <a:t>❌</a:t>
                      </a:r>
                    </a:p>
                  </a:txBody>
                  <a:tcPr anchor="ctr"/>
                </a:tc>
                <a:tc>
                  <a:txBody>
                    <a:bodyPr/>
                    <a:lstStyle/>
                    <a:p>
                      <a:r>
                        <a:rPr lang="en-IN"/>
                        <a:t>🟢 Medium</a:t>
                      </a:r>
                    </a:p>
                  </a:txBody>
                  <a:tcPr anchor="ctr"/>
                </a:tc>
                <a:extLst>
                  <a:ext uri="{0D108BD9-81ED-4DB2-BD59-A6C34878D82A}">
                    <a16:rowId xmlns:a16="http://schemas.microsoft.com/office/drawing/2014/main" val="3645480947"/>
                  </a:ext>
                </a:extLst>
              </a:tr>
              <a:tr h="370840">
                <a:tc>
                  <a:txBody>
                    <a:bodyPr/>
                    <a:lstStyle/>
                    <a:p>
                      <a:r>
                        <a:rPr lang="en-IN"/>
                        <a:t>Dashboard – Real-Time KPIs</a:t>
                      </a:r>
                    </a:p>
                  </a:txBody>
                  <a:tcPr anchor="ctr"/>
                </a:tc>
                <a:tc>
                  <a:txBody>
                    <a:bodyPr/>
                    <a:lstStyle/>
                    <a:p>
                      <a:r>
                        <a:rPr lang="en-IN"/>
                        <a:t>✅</a:t>
                      </a:r>
                    </a:p>
                  </a:txBody>
                  <a:tcPr anchor="ctr"/>
                </a:tc>
                <a:tc>
                  <a:txBody>
                    <a:bodyPr/>
                    <a:lstStyle/>
                    <a:p>
                      <a:r>
                        <a:rPr lang="en-IN"/>
                        <a:t>❌</a:t>
                      </a:r>
                    </a:p>
                  </a:txBody>
                  <a:tcPr anchor="ctr"/>
                </a:tc>
                <a:tc>
                  <a:txBody>
                    <a:bodyPr/>
                    <a:lstStyle/>
                    <a:p>
                      <a:r>
                        <a:rPr lang="en-IN"/>
                        <a:t>✅</a:t>
                      </a:r>
                    </a:p>
                  </a:txBody>
                  <a:tcPr anchor="ctr"/>
                </a:tc>
                <a:tc>
                  <a:txBody>
                    <a:bodyPr/>
                    <a:lstStyle/>
                    <a:p>
                      <a:r>
                        <a:rPr lang="en-IN"/>
                        <a:t>✅</a:t>
                      </a:r>
                    </a:p>
                  </a:txBody>
                  <a:tcPr anchor="ctr"/>
                </a:tc>
                <a:tc>
                  <a:txBody>
                    <a:bodyPr/>
                    <a:lstStyle/>
                    <a:p>
                      <a:r>
                        <a:rPr lang="en-IN"/>
                        <a:t>🔵 High</a:t>
                      </a:r>
                    </a:p>
                  </a:txBody>
                  <a:tcPr anchor="ctr"/>
                </a:tc>
                <a:extLst>
                  <a:ext uri="{0D108BD9-81ED-4DB2-BD59-A6C34878D82A}">
                    <a16:rowId xmlns:a16="http://schemas.microsoft.com/office/drawing/2014/main" val="1115663222"/>
                  </a:ext>
                </a:extLst>
              </a:tr>
              <a:tr h="370840">
                <a:tc>
                  <a:txBody>
                    <a:bodyPr/>
                    <a:lstStyle/>
                    <a:p>
                      <a:r>
                        <a:rPr lang="en-IN"/>
                        <a:t>Compliance Report Generator</a:t>
                      </a:r>
                    </a:p>
                  </a:txBody>
                  <a:tcPr anchor="ctr"/>
                </a:tc>
                <a:tc>
                  <a:txBody>
                    <a:bodyPr/>
                    <a:lstStyle/>
                    <a:p>
                      <a:r>
                        <a:rPr lang="en-IN"/>
                        <a:t>✅</a:t>
                      </a:r>
                    </a:p>
                  </a:txBody>
                  <a:tcPr anchor="ctr"/>
                </a:tc>
                <a:tc>
                  <a:txBody>
                    <a:bodyPr/>
                    <a:lstStyle/>
                    <a:p>
                      <a:r>
                        <a:rPr lang="en-IN"/>
                        <a:t>❌</a:t>
                      </a:r>
                    </a:p>
                  </a:txBody>
                  <a:tcPr anchor="ctr"/>
                </a:tc>
                <a:tc>
                  <a:txBody>
                    <a:bodyPr/>
                    <a:lstStyle/>
                    <a:p>
                      <a:r>
                        <a:rPr lang="en-IN"/>
                        <a:t>✅</a:t>
                      </a:r>
                    </a:p>
                  </a:txBody>
                  <a:tcPr anchor="ctr"/>
                </a:tc>
                <a:tc>
                  <a:txBody>
                    <a:bodyPr/>
                    <a:lstStyle/>
                    <a:p>
                      <a:r>
                        <a:rPr lang="en-IN"/>
                        <a:t>✅</a:t>
                      </a:r>
                    </a:p>
                  </a:txBody>
                  <a:tcPr anchor="ctr"/>
                </a:tc>
                <a:tc>
                  <a:txBody>
                    <a:bodyPr/>
                    <a:lstStyle/>
                    <a:p>
                      <a:r>
                        <a:rPr lang="en-IN"/>
                        <a:t>🔵 High</a:t>
                      </a:r>
                    </a:p>
                  </a:txBody>
                  <a:tcPr anchor="ctr"/>
                </a:tc>
                <a:extLst>
                  <a:ext uri="{0D108BD9-81ED-4DB2-BD59-A6C34878D82A}">
                    <a16:rowId xmlns:a16="http://schemas.microsoft.com/office/drawing/2014/main" val="2568469298"/>
                  </a:ext>
                </a:extLst>
              </a:tr>
              <a:tr h="370840">
                <a:tc>
                  <a:txBody>
                    <a:bodyPr/>
                    <a:lstStyle/>
                    <a:p>
                      <a:r>
                        <a:rPr lang="en-IN"/>
                        <a:t>Cold Storage Alerts</a:t>
                      </a:r>
                    </a:p>
                  </a:txBody>
                  <a:tcPr anchor="ctr"/>
                </a:tc>
                <a:tc>
                  <a:txBody>
                    <a:bodyPr/>
                    <a:lstStyle/>
                    <a:p>
                      <a:r>
                        <a:rPr lang="en-IN"/>
                        <a:t>❌</a:t>
                      </a:r>
                    </a:p>
                  </a:txBody>
                  <a:tcPr anchor="ctr"/>
                </a:tc>
                <a:tc>
                  <a:txBody>
                    <a:bodyPr/>
                    <a:lstStyle/>
                    <a:p>
                      <a:r>
                        <a:rPr lang="en-IN"/>
                        <a:t>❌</a:t>
                      </a:r>
                    </a:p>
                  </a:txBody>
                  <a:tcPr anchor="ctr"/>
                </a:tc>
                <a:tc>
                  <a:txBody>
                    <a:bodyPr/>
                    <a:lstStyle/>
                    <a:p>
                      <a:r>
                        <a:rPr lang="en-IN"/>
                        <a:t>❌</a:t>
                      </a:r>
                    </a:p>
                  </a:txBody>
                  <a:tcPr anchor="ctr"/>
                </a:tc>
                <a:tc>
                  <a:txBody>
                    <a:bodyPr/>
                    <a:lstStyle/>
                    <a:p>
                      <a:r>
                        <a:rPr lang="en-IN"/>
                        <a:t>✅</a:t>
                      </a:r>
                    </a:p>
                  </a:txBody>
                  <a:tcPr anchor="ctr"/>
                </a:tc>
                <a:tc>
                  <a:txBody>
                    <a:bodyPr/>
                    <a:lstStyle/>
                    <a:p>
                      <a:r>
                        <a:rPr lang="en-IN"/>
                        <a:t>🟠 Low (Asset-specific)</a:t>
                      </a:r>
                    </a:p>
                  </a:txBody>
                  <a:tcPr anchor="ctr"/>
                </a:tc>
                <a:extLst>
                  <a:ext uri="{0D108BD9-81ED-4DB2-BD59-A6C34878D82A}">
                    <a16:rowId xmlns:a16="http://schemas.microsoft.com/office/drawing/2014/main" val="1173769111"/>
                  </a:ext>
                </a:extLst>
              </a:tr>
              <a:tr h="370840">
                <a:tc>
                  <a:txBody>
                    <a:bodyPr/>
                    <a:lstStyle/>
                    <a:p>
                      <a:r>
                        <a:rPr lang="en-IN"/>
                        <a:t>Multi-Role Access Control</a:t>
                      </a:r>
                    </a:p>
                  </a:txBody>
                  <a:tcPr anchor="ctr"/>
                </a:tc>
                <a:tc>
                  <a:txBody>
                    <a:bodyPr/>
                    <a:lstStyle/>
                    <a:p>
                      <a:r>
                        <a:rPr lang="en-IN"/>
                        <a:t>✅</a:t>
                      </a:r>
                    </a:p>
                  </a:txBody>
                  <a:tcPr anchor="ctr"/>
                </a:tc>
                <a:tc>
                  <a:txBody>
                    <a:bodyPr/>
                    <a:lstStyle/>
                    <a:p>
                      <a:r>
                        <a:rPr lang="en-IN"/>
                        <a:t>✅</a:t>
                      </a:r>
                    </a:p>
                  </a:txBody>
                  <a:tcPr anchor="ctr"/>
                </a:tc>
                <a:tc>
                  <a:txBody>
                    <a:bodyPr/>
                    <a:lstStyle/>
                    <a:p>
                      <a:r>
                        <a:rPr lang="en-IN"/>
                        <a:t>✅</a:t>
                      </a:r>
                    </a:p>
                  </a:txBody>
                  <a:tcPr anchor="ctr"/>
                </a:tc>
                <a:tc>
                  <a:txBody>
                    <a:bodyPr/>
                    <a:lstStyle/>
                    <a:p>
                      <a:r>
                        <a:rPr lang="en-IN"/>
                        <a:t>✅</a:t>
                      </a:r>
                    </a:p>
                  </a:txBody>
                  <a:tcPr anchor="ctr"/>
                </a:tc>
                <a:tc>
                  <a:txBody>
                    <a:bodyPr/>
                    <a:lstStyle/>
                    <a:p>
                      <a:r>
                        <a:rPr lang="en-IN" dirty="0"/>
                        <a:t>🟢 Medium</a:t>
                      </a:r>
                    </a:p>
                  </a:txBody>
                  <a:tcPr anchor="ctr"/>
                </a:tc>
                <a:extLst>
                  <a:ext uri="{0D108BD9-81ED-4DB2-BD59-A6C34878D82A}">
                    <a16:rowId xmlns:a16="http://schemas.microsoft.com/office/drawing/2014/main" val="964739457"/>
                  </a:ext>
                </a:extLst>
              </a:tr>
            </a:tbl>
          </a:graphicData>
        </a:graphic>
      </p:graphicFrame>
    </p:spTree>
    <p:extLst>
      <p:ext uri="{BB962C8B-B14F-4D97-AF65-F5344CB8AC3E}">
        <p14:creationId xmlns:p14="http://schemas.microsoft.com/office/powerpoint/2010/main" val="2318736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14D1D4-A2AB-8170-7286-6E22C20A99AC}"/>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91F6F30-193C-B885-97E9-7A7ACD12D110}"/>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700" b="1" kern="1200">
                <a:solidFill>
                  <a:srgbClr val="FFFFFF"/>
                </a:solidFill>
                <a:latin typeface="+mj-lt"/>
                <a:ea typeface="+mj-ea"/>
                <a:cs typeface="+mj-cs"/>
              </a:rPr>
              <a:t>🧭 MoSCoW Prioritization Framework</a:t>
            </a:r>
            <a:endParaRPr lang="en-US" sz="3700" kern="1200">
              <a:solidFill>
                <a:srgbClr val="FFFFFF"/>
              </a:solidFill>
              <a:latin typeface="+mj-lt"/>
              <a:ea typeface="+mj-ea"/>
              <a:cs typeface="+mj-cs"/>
            </a:endParaRPr>
          </a:p>
        </p:txBody>
      </p:sp>
      <p:pic>
        <p:nvPicPr>
          <p:cNvPr id="8" name="Content Placeholder 7" descr="A screenshot of a computer screen&#10;&#10;AI-generated content may be incorrect.">
            <a:extLst>
              <a:ext uri="{FF2B5EF4-FFF2-40B4-BE49-F238E27FC236}">
                <a16:creationId xmlns:a16="http://schemas.microsoft.com/office/drawing/2014/main" id="{53248E47-ED82-CE50-E8AC-745A16F2222F}"/>
              </a:ext>
            </a:extLst>
          </p:cNvPr>
          <p:cNvPicPr>
            <a:picLocks noGrp="1" noChangeAspect="1"/>
          </p:cNvPicPr>
          <p:nvPr>
            <p:ph idx="1"/>
          </p:nvPr>
        </p:nvPicPr>
        <p:blipFill>
          <a:blip r:embed="rId2"/>
          <a:stretch>
            <a:fillRect/>
          </a:stretch>
        </p:blipFill>
        <p:spPr>
          <a:xfrm>
            <a:off x="4502428" y="936116"/>
            <a:ext cx="7225748" cy="4985767"/>
          </a:xfrm>
          <a:prstGeom prst="rect">
            <a:avLst/>
          </a:prstGeom>
        </p:spPr>
      </p:pic>
    </p:spTree>
    <p:extLst>
      <p:ext uri="{BB962C8B-B14F-4D97-AF65-F5344CB8AC3E}">
        <p14:creationId xmlns:p14="http://schemas.microsoft.com/office/powerpoint/2010/main" val="673464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phone&#10;&#10;AI-generated content may be incorrect.">
            <a:extLst>
              <a:ext uri="{FF2B5EF4-FFF2-40B4-BE49-F238E27FC236}">
                <a16:creationId xmlns:a16="http://schemas.microsoft.com/office/drawing/2014/main" id="{DA52600B-301D-0C34-F9AB-720BCD73F2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5633" y="1912846"/>
            <a:ext cx="3878581" cy="4654297"/>
          </a:xfrm>
          <a:prstGeom prst="rect">
            <a:avLst/>
          </a:prstGeom>
        </p:spPr>
      </p:pic>
      <p:pic>
        <p:nvPicPr>
          <p:cNvPr id="9" name="Picture 8" descr="A screenshot of a phone&#10;&#10;AI-generated content may be incorrect.">
            <a:extLst>
              <a:ext uri="{FF2B5EF4-FFF2-40B4-BE49-F238E27FC236}">
                <a16:creationId xmlns:a16="http://schemas.microsoft.com/office/drawing/2014/main" id="{792E5270-CFCF-9BEE-15BA-7371CBFBFD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6903" y="1912847"/>
            <a:ext cx="3878580" cy="4654296"/>
          </a:xfrm>
          <a:prstGeom prst="rect">
            <a:avLst/>
          </a:prstGeom>
        </p:spPr>
      </p:pic>
      <p:sp>
        <p:nvSpPr>
          <p:cNvPr id="5" name="TextBox 4">
            <a:extLst>
              <a:ext uri="{FF2B5EF4-FFF2-40B4-BE49-F238E27FC236}">
                <a16:creationId xmlns:a16="http://schemas.microsoft.com/office/drawing/2014/main" id="{98DFC3E6-EC7E-9C44-B3CC-AFC74F234741}"/>
              </a:ext>
            </a:extLst>
          </p:cNvPr>
          <p:cNvSpPr txBox="1"/>
          <p:nvPr/>
        </p:nvSpPr>
        <p:spPr>
          <a:xfrm>
            <a:off x="1704942" y="1237062"/>
            <a:ext cx="3042501" cy="615553"/>
          </a:xfrm>
          <a:prstGeom prst="rect">
            <a:avLst/>
          </a:prstGeom>
          <a:noFill/>
        </p:spPr>
        <p:txBody>
          <a:bodyPr wrap="square">
            <a:spAutoFit/>
          </a:bodyPr>
          <a:lstStyle/>
          <a:p>
            <a:pPr algn="ctr"/>
            <a:r>
              <a:rPr lang="en-IN" b="1" i="1" dirty="0"/>
              <a:t>Head Nurse’s dashboard   </a:t>
            </a:r>
            <a:r>
              <a:rPr lang="en-IN" sz="1600" b="1" i="1" dirty="0"/>
              <a:t>Incident Initiator</a:t>
            </a:r>
            <a:endParaRPr lang="en-IN" b="1" i="1" dirty="0"/>
          </a:p>
        </p:txBody>
      </p:sp>
      <p:sp>
        <p:nvSpPr>
          <p:cNvPr id="8" name="TextBox 7">
            <a:extLst>
              <a:ext uri="{FF2B5EF4-FFF2-40B4-BE49-F238E27FC236}">
                <a16:creationId xmlns:a16="http://schemas.microsoft.com/office/drawing/2014/main" id="{EA14FC8D-821B-51ED-C12C-FC7EB97636B3}"/>
              </a:ext>
            </a:extLst>
          </p:cNvPr>
          <p:cNvSpPr txBox="1"/>
          <p:nvPr/>
        </p:nvSpPr>
        <p:spPr>
          <a:xfrm>
            <a:off x="6783672" y="1274385"/>
            <a:ext cx="3042501" cy="615553"/>
          </a:xfrm>
          <a:prstGeom prst="rect">
            <a:avLst/>
          </a:prstGeom>
          <a:noFill/>
        </p:spPr>
        <p:txBody>
          <a:bodyPr wrap="square">
            <a:spAutoFit/>
          </a:bodyPr>
          <a:lstStyle/>
          <a:p>
            <a:r>
              <a:rPr lang="en-IN" b="1" i="1" dirty="0"/>
              <a:t>Rx Pharmacist’s dashboard</a:t>
            </a:r>
          </a:p>
          <a:p>
            <a:r>
              <a:rPr lang="en-IN" sz="1600" b="1" i="1" dirty="0"/>
              <a:t>     Asset specific stakeholder</a:t>
            </a:r>
          </a:p>
        </p:txBody>
      </p:sp>
      <p:sp>
        <p:nvSpPr>
          <p:cNvPr id="10" name="Title 1">
            <a:extLst>
              <a:ext uri="{FF2B5EF4-FFF2-40B4-BE49-F238E27FC236}">
                <a16:creationId xmlns:a16="http://schemas.microsoft.com/office/drawing/2014/main" id="{546668E0-C333-A45E-34ED-06E7CC1E6BD0}"/>
              </a:ext>
            </a:extLst>
          </p:cNvPr>
          <p:cNvSpPr>
            <a:spLocks noGrp="1"/>
          </p:cNvSpPr>
          <p:nvPr>
            <p:ph type="title"/>
          </p:nvPr>
        </p:nvSpPr>
        <p:spPr>
          <a:xfrm>
            <a:off x="1" y="0"/>
            <a:ext cx="12192000" cy="1176830"/>
          </a:xfrm>
          <a:ln>
            <a:solidFill>
              <a:schemeClr val="accent1"/>
            </a:solidFill>
          </a:ln>
        </p:spPr>
        <p:style>
          <a:lnRef idx="1">
            <a:schemeClr val="accent5"/>
          </a:lnRef>
          <a:fillRef idx="2">
            <a:schemeClr val="accent5"/>
          </a:fillRef>
          <a:effectRef idx="1">
            <a:schemeClr val="accent5"/>
          </a:effectRef>
          <a:fontRef idx="minor">
            <a:schemeClr val="dk1"/>
          </a:fontRef>
        </p:style>
        <p:txBody>
          <a:bodyPr>
            <a:normAutofit/>
          </a:bodyPr>
          <a:lstStyle/>
          <a:p>
            <a:pPr algn="ctr"/>
            <a:r>
              <a:rPr lang="en-IN" sz="4400" b="1" dirty="0">
                <a:solidFill>
                  <a:schemeClr val="bg1"/>
                </a:solidFill>
              </a:rPr>
              <a:t>Wireframes </a:t>
            </a:r>
            <a:endParaRPr lang="en-IN" dirty="0">
              <a:solidFill>
                <a:schemeClr val="bg1"/>
              </a:solidFill>
            </a:endParaRPr>
          </a:p>
        </p:txBody>
      </p:sp>
    </p:spTree>
    <p:extLst>
      <p:ext uri="{BB962C8B-B14F-4D97-AF65-F5344CB8AC3E}">
        <p14:creationId xmlns:p14="http://schemas.microsoft.com/office/powerpoint/2010/main" val="4208459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lose-up of a chart&#10;&#10;AI-generated content may be incorrect.">
            <a:extLst>
              <a:ext uri="{FF2B5EF4-FFF2-40B4-BE49-F238E27FC236}">
                <a16:creationId xmlns:a16="http://schemas.microsoft.com/office/drawing/2014/main" id="{B79AF436-A820-9AF6-67A6-E9CA763D12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4216" y="1990492"/>
            <a:ext cx="5886554" cy="4463694"/>
          </a:xfrm>
          <a:prstGeom prst="rect">
            <a:avLst/>
          </a:prstGeom>
        </p:spPr>
      </p:pic>
      <p:pic>
        <p:nvPicPr>
          <p:cNvPr id="11" name="Picture 10" descr="A screenshot of a computer screen&#10;&#10;AI-generated content may be incorrect.">
            <a:extLst>
              <a:ext uri="{FF2B5EF4-FFF2-40B4-BE49-F238E27FC236}">
                <a16:creationId xmlns:a16="http://schemas.microsoft.com/office/drawing/2014/main" id="{3B9FF225-C03B-D7BE-4750-064244D7FB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30" y="1990492"/>
            <a:ext cx="6122986" cy="4463694"/>
          </a:xfrm>
          <a:prstGeom prst="rect">
            <a:avLst/>
          </a:prstGeom>
        </p:spPr>
      </p:pic>
      <p:sp>
        <p:nvSpPr>
          <p:cNvPr id="3" name="TextBox 2">
            <a:extLst>
              <a:ext uri="{FF2B5EF4-FFF2-40B4-BE49-F238E27FC236}">
                <a16:creationId xmlns:a16="http://schemas.microsoft.com/office/drawing/2014/main" id="{A62FF122-E719-A050-DDF3-6C6BC5E83824}"/>
              </a:ext>
            </a:extLst>
          </p:cNvPr>
          <p:cNvSpPr txBox="1"/>
          <p:nvPr/>
        </p:nvSpPr>
        <p:spPr>
          <a:xfrm>
            <a:off x="697457" y="1411079"/>
            <a:ext cx="4770503" cy="646331"/>
          </a:xfrm>
          <a:prstGeom prst="rect">
            <a:avLst/>
          </a:prstGeom>
          <a:noFill/>
        </p:spPr>
        <p:txBody>
          <a:bodyPr wrap="square">
            <a:spAutoFit/>
          </a:bodyPr>
          <a:lstStyle/>
          <a:p>
            <a:pPr algn="ctr"/>
            <a:r>
              <a:rPr lang="en-IN" b="1" i="1" dirty="0"/>
              <a:t>AJ Biomedical Engineer’s dashboard   </a:t>
            </a:r>
          </a:p>
          <a:p>
            <a:pPr algn="ctr"/>
            <a:r>
              <a:rPr lang="en-IN" b="1" i="1" dirty="0"/>
              <a:t>Daily operator</a:t>
            </a:r>
          </a:p>
        </p:txBody>
      </p:sp>
      <p:sp>
        <p:nvSpPr>
          <p:cNvPr id="4" name="TextBox 3">
            <a:extLst>
              <a:ext uri="{FF2B5EF4-FFF2-40B4-BE49-F238E27FC236}">
                <a16:creationId xmlns:a16="http://schemas.microsoft.com/office/drawing/2014/main" id="{3EEB7A89-D23B-BA0F-31AF-9C9121BAB938}"/>
              </a:ext>
            </a:extLst>
          </p:cNvPr>
          <p:cNvSpPr txBox="1"/>
          <p:nvPr/>
        </p:nvSpPr>
        <p:spPr>
          <a:xfrm>
            <a:off x="6772241" y="1344161"/>
            <a:ext cx="4770503" cy="646331"/>
          </a:xfrm>
          <a:prstGeom prst="rect">
            <a:avLst/>
          </a:prstGeom>
          <a:noFill/>
        </p:spPr>
        <p:txBody>
          <a:bodyPr wrap="square">
            <a:spAutoFit/>
          </a:bodyPr>
          <a:lstStyle/>
          <a:p>
            <a:pPr algn="ctr"/>
            <a:r>
              <a:rPr lang="en-IN" b="1" i="1" dirty="0"/>
              <a:t>Hospital Admin executive dashboard   </a:t>
            </a:r>
          </a:p>
          <a:p>
            <a:pPr algn="ctr"/>
            <a:r>
              <a:rPr lang="en-IN" b="1" i="1" dirty="0"/>
              <a:t>Decision Maker</a:t>
            </a:r>
          </a:p>
        </p:txBody>
      </p:sp>
      <p:sp>
        <p:nvSpPr>
          <p:cNvPr id="8" name="Title 1">
            <a:extLst>
              <a:ext uri="{FF2B5EF4-FFF2-40B4-BE49-F238E27FC236}">
                <a16:creationId xmlns:a16="http://schemas.microsoft.com/office/drawing/2014/main" id="{E5C5ABF3-7198-6198-AD8F-9C431C5D6C98}"/>
              </a:ext>
            </a:extLst>
          </p:cNvPr>
          <p:cNvSpPr>
            <a:spLocks noGrp="1"/>
          </p:cNvSpPr>
          <p:nvPr>
            <p:ph type="title"/>
          </p:nvPr>
        </p:nvSpPr>
        <p:spPr>
          <a:xfrm>
            <a:off x="1" y="0"/>
            <a:ext cx="12192000" cy="1176830"/>
          </a:xfrm>
          <a:ln>
            <a:solidFill>
              <a:schemeClr val="accent1"/>
            </a:solidFill>
          </a:ln>
        </p:spPr>
        <p:style>
          <a:lnRef idx="1">
            <a:schemeClr val="accent5"/>
          </a:lnRef>
          <a:fillRef idx="2">
            <a:schemeClr val="accent5"/>
          </a:fillRef>
          <a:effectRef idx="1">
            <a:schemeClr val="accent5"/>
          </a:effectRef>
          <a:fontRef idx="minor">
            <a:schemeClr val="dk1"/>
          </a:fontRef>
        </p:style>
        <p:txBody>
          <a:bodyPr>
            <a:normAutofit/>
          </a:bodyPr>
          <a:lstStyle/>
          <a:p>
            <a:pPr algn="ctr"/>
            <a:r>
              <a:rPr lang="en-IN" sz="4400" b="1" dirty="0">
                <a:solidFill>
                  <a:schemeClr val="bg1"/>
                </a:solidFill>
              </a:rPr>
              <a:t>Wireframes </a:t>
            </a:r>
            <a:endParaRPr lang="en-IN" dirty="0">
              <a:solidFill>
                <a:schemeClr val="bg1"/>
              </a:solidFill>
            </a:endParaRPr>
          </a:p>
        </p:txBody>
      </p:sp>
    </p:spTree>
    <p:extLst>
      <p:ext uri="{BB962C8B-B14F-4D97-AF65-F5344CB8AC3E}">
        <p14:creationId xmlns:p14="http://schemas.microsoft.com/office/powerpoint/2010/main" val="2506513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5ACCD5F-59AE-45B0-288B-E5D7E76B1EC6}"/>
              </a:ext>
            </a:extLst>
          </p:cNvPr>
          <p:cNvPicPr>
            <a:picLocks noGrp="1" noChangeAspect="1"/>
          </p:cNvPicPr>
          <p:nvPr>
            <p:ph idx="1"/>
          </p:nvPr>
        </p:nvPicPr>
        <p:blipFill>
          <a:blip r:embed="rId2"/>
          <a:stretch>
            <a:fillRect/>
          </a:stretch>
        </p:blipFill>
        <p:spPr>
          <a:xfrm>
            <a:off x="0" y="0"/>
            <a:ext cx="12192000" cy="6865122"/>
          </a:xfrm>
        </p:spPr>
      </p:pic>
    </p:spTree>
    <p:extLst>
      <p:ext uri="{BB962C8B-B14F-4D97-AF65-F5344CB8AC3E}">
        <p14:creationId xmlns:p14="http://schemas.microsoft.com/office/powerpoint/2010/main" val="2289026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11088-6549-0D22-5DD9-EE7D6CD06277}"/>
              </a:ext>
            </a:extLst>
          </p:cNvPr>
          <p:cNvSpPr>
            <a:spLocks noGrp="1"/>
          </p:cNvSpPr>
          <p:nvPr>
            <p:ph type="title"/>
          </p:nvPr>
        </p:nvSpPr>
        <p:spPr>
          <a:xfrm>
            <a:off x="5786203" y="1416043"/>
            <a:ext cx="1934148" cy="662781"/>
          </a:xfrm>
          <a:ln>
            <a:solidFill>
              <a:schemeClr val="accent1"/>
            </a:solidFill>
          </a:ln>
        </p:spPr>
        <p:style>
          <a:lnRef idx="1">
            <a:schemeClr val="accent5"/>
          </a:lnRef>
          <a:fillRef idx="2">
            <a:schemeClr val="accent5"/>
          </a:fillRef>
          <a:effectRef idx="1">
            <a:schemeClr val="accent5"/>
          </a:effectRef>
          <a:fontRef idx="minor">
            <a:schemeClr val="dk1"/>
          </a:fontRef>
        </p:style>
        <p:txBody>
          <a:bodyPr>
            <a:normAutofit fontScale="90000"/>
          </a:bodyPr>
          <a:lstStyle/>
          <a:p>
            <a:r>
              <a:rPr lang="en-IN" dirty="0">
                <a:solidFill>
                  <a:schemeClr val="tx2"/>
                </a:solidFill>
              </a:rPr>
              <a:t>Insights </a:t>
            </a:r>
          </a:p>
        </p:txBody>
      </p:sp>
      <p:graphicFrame>
        <p:nvGraphicFramePr>
          <p:cNvPr id="4" name="Content Placeholder 3">
            <a:extLst>
              <a:ext uri="{FF2B5EF4-FFF2-40B4-BE49-F238E27FC236}">
                <a16:creationId xmlns:a16="http://schemas.microsoft.com/office/drawing/2014/main" id="{BDDF982C-7615-3DFB-1C76-4E4275E8A363}"/>
              </a:ext>
            </a:extLst>
          </p:cNvPr>
          <p:cNvGraphicFramePr>
            <a:graphicFrameLocks noGrp="1"/>
          </p:cNvGraphicFramePr>
          <p:nvPr>
            <p:ph idx="1"/>
            <p:extLst>
              <p:ext uri="{D42A27DB-BD31-4B8C-83A1-F6EECF244321}">
                <p14:modId xmlns:p14="http://schemas.microsoft.com/office/powerpoint/2010/main" val="1317702934"/>
              </p:ext>
            </p:extLst>
          </p:nvPr>
        </p:nvGraphicFramePr>
        <p:xfrm>
          <a:off x="328536" y="1027906"/>
          <a:ext cx="5952342" cy="55388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757D2AA6-DC4B-04D1-E9E2-200A294C2716}"/>
              </a:ext>
            </a:extLst>
          </p:cNvPr>
          <p:cNvGraphicFramePr/>
          <p:nvPr>
            <p:extLst>
              <p:ext uri="{D42A27DB-BD31-4B8C-83A1-F6EECF244321}">
                <p14:modId xmlns:p14="http://schemas.microsoft.com/office/powerpoint/2010/main" val="2177072193"/>
              </p:ext>
            </p:extLst>
          </p:nvPr>
        </p:nvGraphicFramePr>
        <p:xfrm>
          <a:off x="7944370" y="1148104"/>
          <a:ext cx="3409430" cy="541866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893082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06837-0EA7-615D-67C7-BC1F73B96967}"/>
              </a:ext>
            </a:extLst>
          </p:cNvPr>
          <p:cNvSpPr>
            <a:spLocks noGrp="1"/>
          </p:cNvSpPr>
          <p:nvPr>
            <p:ph type="title"/>
          </p:nvPr>
        </p:nvSpPr>
        <p:spPr/>
        <p:txBody>
          <a:bodyPr/>
          <a:lstStyle/>
          <a:p>
            <a:r>
              <a:rPr lang="en-IN" dirty="0"/>
              <a:t>Outcome &amp; Benefits</a:t>
            </a:r>
          </a:p>
        </p:txBody>
      </p:sp>
      <p:sp>
        <p:nvSpPr>
          <p:cNvPr id="3" name="Content Placeholder 2">
            <a:extLst>
              <a:ext uri="{FF2B5EF4-FFF2-40B4-BE49-F238E27FC236}">
                <a16:creationId xmlns:a16="http://schemas.microsoft.com/office/drawing/2014/main" id="{282EA670-C515-F210-B104-6C7F3928641A}"/>
              </a:ext>
            </a:extLst>
          </p:cNvPr>
          <p:cNvSpPr>
            <a:spLocks noGrp="1"/>
          </p:cNvSpPr>
          <p:nvPr>
            <p:ph idx="1"/>
          </p:nvPr>
        </p:nvSpPr>
        <p:spPr>
          <a:xfrm>
            <a:off x="838200" y="1825625"/>
            <a:ext cx="10515600" cy="1757024"/>
          </a:xfrm>
        </p:spPr>
        <p:txBody>
          <a:bodyPr/>
          <a:lstStyle/>
          <a:p>
            <a:r>
              <a:rPr lang="en-IN" dirty="0"/>
              <a:t>Visual system to alert risks before failure</a:t>
            </a:r>
          </a:p>
          <a:p>
            <a:r>
              <a:rPr lang="en-IN" dirty="0"/>
              <a:t>Better tech allocation</a:t>
            </a:r>
          </a:p>
          <a:p>
            <a:r>
              <a:rPr lang="en-IN" dirty="0"/>
              <a:t>Simplified audits for NABH</a:t>
            </a:r>
          </a:p>
          <a:p>
            <a:endParaRPr lang="en-IN" dirty="0"/>
          </a:p>
          <a:p>
            <a:endParaRPr lang="en-IN" dirty="0"/>
          </a:p>
        </p:txBody>
      </p:sp>
      <p:sp>
        <p:nvSpPr>
          <p:cNvPr id="6" name="TextBox 5">
            <a:extLst>
              <a:ext uri="{FF2B5EF4-FFF2-40B4-BE49-F238E27FC236}">
                <a16:creationId xmlns:a16="http://schemas.microsoft.com/office/drawing/2014/main" id="{ACB6237E-4669-9148-695A-6F2FDD946B3A}"/>
              </a:ext>
            </a:extLst>
          </p:cNvPr>
          <p:cNvSpPr txBox="1"/>
          <p:nvPr/>
        </p:nvSpPr>
        <p:spPr>
          <a:xfrm>
            <a:off x="838200" y="4446617"/>
            <a:ext cx="6093500" cy="1384995"/>
          </a:xfrm>
          <a:prstGeom prst="rect">
            <a:avLst/>
          </a:prstGeom>
          <a:noFill/>
        </p:spPr>
        <p:txBody>
          <a:bodyPr wrap="square">
            <a:spAutoFit/>
          </a:bodyPr>
          <a:lstStyle/>
          <a:p>
            <a:pPr>
              <a:buFont typeface="Arial" panose="020B0604020202020204" pitchFamily="34" charset="0"/>
              <a:buChar char="•"/>
            </a:pPr>
            <a:r>
              <a:rPr lang="en-IN" sz="2800" dirty="0"/>
              <a:t>Integrate with IoT / real-time alerts</a:t>
            </a:r>
          </a:p>
          <a:p>
            <a:pPr>
              <a:buFont typeface="Arial" panose="020B0604020202020204" pitchFamily="34" charset="0"/>
              <a:buChar char="•"/>
            </a:pPr>
            <a:r>
              <a:rPr lang="en-IN" sz="2800" dirty="0"/>
              <a:t>Mobile technician interface</a:t>
            </a:r>
          </a:p>
          <a:p>
            <a:pPr>
              <a:buFont typeface="Arial" panose="020B0604020202020204" pitchFamily="34" charset="0"/>
              <a:buChar char="•"/>
            </a:pPr>
            <a:r>
              <a:rPr lang="en-IN" sz="2800" dirty="0"/>
              <a:t>Predictive maintenance with AI</a:t>
            </a:r>
          </a:p>
        </p:txBody>
      </p:sp>
      <p:sp>
        <p:nvSpPr>
          <p:cNvPr id="10" name="TextBox 9">
            <a:extLst>
              <a:ext uri="{FF2B5EF4-FFF2-40B4-BE49-F238E27FC236}">
                <a16:creationId xmlns:a16="http://schemas.microsoft.com/office/drawing/2014/main" id="{F6076CC1-72C3-3D66-7D7C-B173FE4C0E02}"/>
              </a:ext>
            </a:extLst>
          </p:cNvPr>
          <p:cNvSpPr txBox="1"/>
          <p:nvPr/>
        </p:nvSpPr>
        <p:spPr>
          <a:xfrm>
            <a:off x="838200" y="3400177"/>
            <a:ext cx="6093500" cy="1046440"/>
          </a:xfrm>
          <a:prstGeom prst="rect">
            <a:avLst/>
          </a:prstGeom>
          <a:noFill/>
        </p:spPr>
        <p:txBody>
          <a:bodyPr wrap="square">
            <a:spAutoFit/>
          </a:bodyPr>
          <a:lstStyle/>
          <a:p>
            <a:r>
              <a:rPr kumimoji="0" lang="en-IN" sz="4400" b="0" i="0" u="none" strike="noStrike" kern="1200" cap="none" spc="0" normalizeH="0" baseline="0" noProof="0" dirty="0">
                <a:ln>
                  <a:noFill/>
                </a:ln>
                <a:solidFill>
                  <a:prstClr val="black"/>
                </a:solidFill>
                <a:effectLst/>
                <a:uLnTx/>
                <a:uFillTx/>
                <a:latin typeface="Aptos Display" panose="02110004020202020204"/>
                <a:ea typeface="+mj-ea"/>
                <a:cs typeface="+mj-cs"/>
              </a:rPr>
              <a:t>Future Scope:</a:t>
            </a:r>
            <a:br>
              <a:rPr kumimoji="0" lang="en-IN" sz="4400" b="0" i="0" u="none" strike="noStrike" kern="1200" cap="none" spc="0" normalizeH="0" baseline="0" noProof="0" dirty="0">
                <a:ln>
                  <a:noFill/>
                </a:ln>
                <a:solidFill>
                  <a:prstClr val="black"/>
                </a:solidFill>
                <a:effectLst/>
                <a:uLnTx/>
                <a:uFillTx/>
                <a:latin typeface="Aptos Display" panose="02110004020202020204"/>
                <a:ea typeface="+mj-ea"/>
                <a:cs typeface="+mj-cs"/>
              </a:rPr>
            </a:br>
            <a:endParaRPr lang="en-IN" dirty="0"/>
          </a:p>
        </p:txBody>
      </p:sp>
    </p:spTree>
    <p:extLst>
      <p:ext uri="{BB962C8B-B14F-4D97-AF65-F5344CB8AC3E}">
        <p14:creationId xmlns:p14="http://schemas.microsoft.com/office/powerpoint/2010/main" val="3678610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B83B097-ADE0-9C80-2CF8-A8CCBD661FED}"/>
              </a:ext>
            </a:extLst>
          </p:cNvPr>
          <p:cNvSpPr/>
          <p:nvPr/>
        </p:nvSpPr>
        <p:spPr>
          <a:xfrm>
            <a:off x="1439056" y="2878112"/>
            <a:ext cx="9443803" cy="1723868"/>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B037E108-3952-8F00-BACA-49BE30467BC9}"/>
              </a:ext>
            </a:extLst>
          </p:cNvPr>
          <p:cNvSpPr>
            <a:spLocks noGrp="1"/>
          </p:cNvSpPr>
          <p:nvPr>
            <p:ph type="title"/>
          </p:nvPr>
        </p:nvSpPr>
        <p:spPr>
          <a:xfrm>
            <a:off x="4558883" y="2118571"/>
            <a:ext cx="3074233" cy="581416"/>
          </a:xfrm>
        </p:spPr>
        <p:txBody>
          <a:bodyPr>
            <a:normAutofit fontScale="90000"/>
          </a:bodyPr>
          <a:lstStyle/>
          <a:p>
            <a:r>
              <a:rPr lang="en-IN" dirty="0"/>
              <a:t>Rohan Singh </a:t>
            </a:r>
          </a:p>
        </p:txBody>
      </p:sp>
      <p:sp>
        <p:nvSpPr>
          <p:cNvPr id="12" name="Rectangle 11">
            <a:extLst>
              <a:ext uri="{FF2B5EF4-FFF2-40B4-BE49-F238E27FC236}">
                <a16:creationId xmlns:a16="http://schemas.microsoft.com/office/drawing/2014/main" id="{348674AD-4A98-6874-81A7-A6C668A6800F}"/>
              </a:ext>
            </a:extLst>
          </p:cNvPr>
          <p:cNvSpPr/>
          <p:nvPr/>
        </p:nvSpPr>
        <p:spPr>
          <a:xfrm>
            <a:off x="1643922" y="3639526"/>
            <a:ext cx="9044065" cy="59917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B3ED2FC4-CF9F-0882-0B2B-6AE40D8395B0}"/>
              </a:ext>
            </a:extLst>
          </p:cNvPr>
          <p:cNvSpPr>
            <a:spLocks noGrp="1"/>
          </p:cNvSpPr>
          <p:nvPr>
            <p:ph idx="1"/>
          </p:nvPr>
        </p:nvSpPr>
        <p:spPr>
          <a:xfrm>
            <a:off x="1842541" y="3218474"/>
            <a:ext cx="1815059" cy="421052"/>
          </a:xfrm>
        </p:spPr>
        <p:txBody>
          <a:bodyPr>
            <a:normAutofit fontScale="92500" lnSpcReduction="10000"/>
          </a:bodyPr>
          <a:lstStyle/>
          <a:p>
            <a:pPr marL="0" indent="0">
              <a:buNone/>
            </a:pPr>
            <a:r>
              <a:rPr lang="en-IN" dirty="0" err="1">
                <a:solidFill>
                  <a:schemeClr val="bg1"/>
                </a:solidFill>
              </a:rPr>
              <a:t>Linkedin</a:t>
            </a:r>
            <a:r>
              <a:rPr lang="en-IN" dirty="0">
                <a:solidFill>
                  <a:schemeClr val="bg1"/>
                </a:solidFill>
              </a:rPr>
              <a:t> </a:t>
            </a:r>
          </a:p>
        </p:txBody>
      </p:sp>
      <p:sp>
        <p:nvSpPr>
          <p:cNvPr id="4" name="Content Placeholder 2">
            <a:extLst>
              <a:ext uri="{FF2B5EF4-FFF2-40B4-BE49-F238E27FC236}">
                <a16:creationId xmlns:a16="http://schemas.microsoft.com/office/drawing/2014/main" id="{601954F1-0E66-BD75-8696-3DDE69DE3EB2}"/>
              </a:ext>
            </a:extLst>
          </p:cNvPr>
          <p:cNvSpPr txBox="1">
            <a:spLocks/>
          </p:cNvSpPr>
          <p:nvPr/>
        </p:nvSpPr>
        <p:spPr>
          <a:xfrm>
            <a:off x="8278317" y="3218474"/>
            <a:ext cx="1815059" cy="42105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dirty="0">
                <a:solidFill>
                  <a:schemeClr val="bg1"/>
                </a:solidFill>
              </a:rPr>
              <a:t>Email </a:t>
            </a:r>
          </a:p>
        </p:txBody>
      </p:sp>
      <p:sp>
        <p:nvSpPr>
          <p:cNvPr id="5" name="Content Placeholder 2">
            <a:extLst>
              <a:ext uri="{FF2B5EF4-FFF2-40B4-BE49-F238E27FC236}">
                <a16:creationId xmlns:a16="http://schemas.microsoft.com/office/drawing/2014/main" id="{FEC91B1B-7185-9583-C20B-0530B1CA129A}"/>
              </a:ext>
            </a:extLst>
          </p:cNvPr>
          <p:cNvSpPr txBox="1">
            <a:spLocks/>
          </p:cNvSpPr>
          <p:nvPr/>
        </p:nvSpPr>
        <p:spPr>
          <a:xfrm>
            <a:off x="5060428" y="3218474"/>
            <a:ext cx="1235441" cy="42105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dirty="0" err="1">
                <a:solidFill>
                  <a:schemeClr val="bg1"/>
                </a:solidFill>
              </a:rPr>
              <a:t>Github</a:t>
            </a:r>
            <a:r>
              <a:rPr lang="en-IN" dirty="0">
                <a:solidFill>
                  <a:schemeClr val="bg1"/>
                </a:solidFill>
              </a:rPr>
              <a:t> </a:t>
            </a:r>
          </a:p>
        </p:txBody>
      </p:sp>
      <p:sp>
        <p:nvSpPr>
          <p:cNvPr id="6" name="Content Placeholder 2">
            <a:extLst>
              <a:ext uri="{FF2B5EF4-FFF2-40B4-BE49-F238E27FC236}">
                <a16:creationId xmlns:a16="http://schemas.microsoft.com/office/drawing/2014/main" id="{D08097A1-B611-7327-BF82-68316FCDEAA1}"/>
              </a:ext>
            </a:extLst>
          </p:cNvPr>
          <p:cNvSpPr txBox="1">
            <a:spLocks/>
          </p:cNvSpPr>
          <p:nvPr/>
        </p:nvSpPr>
        <p:spPr>
          <a:xfrm>
            <a:off x="7823614" y="3817651"/>
            <a:ext cx="2724464" cy="42105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i="1" u="sng" dirty="0">
                <a:solidFill>
                  <a:schemeClr val="tx2">
                    <a:lumMod val="75000"/>
                    <a:lumOff val="25000"/>
                  </a:schemeClr>
                </a:solidFill>
              </a:rPr>
              <a:t>rohans.dmvt@gmail.com</a:t>
            </a:r>
          </a:p>
        </p:txBody>
      </p:sp>
      <p:sp>
        <p:nvSpPr>
          <p:cNvPr id="7" name="Content Placeholder 2">
            <a:extLst>
              <a:ext uri="{FF2B5EF4-FFF2-40B4-BE49-F238E27FC236}">
                <a16:creationId xmlns:a16="http://schemas.microsoft.com/office/drawing/2014/main" id="{1D577133-F5AD-53C3-1361-2767143CCA75}"/>
              </a:ext>
            </a:extLst>
          </p:cNvPr>
          <p:cNvSpPr txBox="1">
            <a:spLocks/>
          </p:cNvSpPr>
          <p:nvPr/>
        </p:nvSpPr>
        <p:spPr>
          <a:xfrm>
            <a:off x="5130383" y="3817651"/>
            <a:ext cx="1235440" cy="4210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800" dirty="0" err="1">
                <a:hlinkClick r:id="rId2"/>
              </a:rPr>
              <a:t>Rxrohans</a:t>
            </a:r>
            <a:endParaRPr lang="en-IN" sz="1800" dirty="0"/>
          </a:p>
        </p:txBody>
      </p:sp>
      <p:sp>
        <p:nvSpPr>
          <p:cNvPr id="10" name="Content Placeholder 2">
            <a:extLst>
              <a:ext uri="{FF2B5EF4-FFF2-40B4-BE49-F238E27FC236}">
                <a16:creationId xmlns:a16="http://schemas.microsoft.com/office/drawing/2014/main" id="{470AA313-DC4F-EC92-5E77-1F750D064B67}"/>
              </a:ext>
            </a:extLst>
          </p:cNvPr>
          <p:cNvSpPr txBox="1">
            <a:spLocks/>
          </p:cNvSpPr>
          <p:nvPr/>
        </p:nvSpPr>
        <p:spPr>
          <a:xfrm>
            <a:off x="1842540" y="3782830"/>
            <a:ext cx="1815059" cy="421052"/>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dirty="0">
                <a:hlinkClick r:id="rId3"/>
              </a:rPr>
              <a:t>Rohan Singh </a:t>
            </a:r>
            <a:endParaRPr lang="en-IN" dirty="0"/>
          </a:p>
        </p:txBody>
      </p:sp>
    </p:spTree>
    <p:extLst>
      <p:ext uri="{BB962C8B-B14F-4D97-AF65-F5344CB8AC3E}">
        <p14:creationId xmlns:p14="http://schemas.microsoft.com/office/powerpoint/2010/main" val="2701107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9142F-AF93-21E7-78FF-0707421440E7}"/>
              </a:ext>
            </a:extLst>
          </p:cNvPr>
          <p:cNvSpPr>
            <a:spLocks noGrp="1"/>
          </p:cNvSpPr>
          <p:nvPr>
            <p:ph type="title"/>
          </p:nvPr>
        </p:nvSpPr>
        <p:spPr/>
        <p:txBody>
          <a:bodyPr/>
          <a:lstStyle/>
          <a:p>
            <a:r>
              <a:rPr lang="en-IN" b="1" dirty="0"/>
              <a:t>🧭 </a:t>
            </a:r>
            <a:r>
              <a:rPr lang="en-IN" b="1" dirty="0" err="1"/>
              <a:t>MoSCoW</a:t>
            </a:r>
            <a:r>
              <a:rPr lang="en-IN" b="1" dirty="0"/>
              <a:t> Prioritization Framework</a:t>
            </a:r>
            <a:br>
              <a:rPr lang="en-IN" b="1" dirty="0"/>
            </a:br>
            <a:r>
              <a:rPr lang="en-IN" dirty="0"/>
              <a:t>📋 Feature Prioritization Table</a:t>
            </a:r>
          </a:p>
        </p:txBody>
      </p:sp>
      <p:graphicFrame>
        <p:nvGraphicFramePr>
          <p:cNvPr id="4" name="Content Placeholder 3">
            <a:extLst>
              <a:ext uri="{FF2B5EF4-FFF2-40B4-BE49-F238E27FC236}">
                <a16:creationId xmlns:a16="http://schemas.microsoft.com/office/drawing/2014/main" id="{3D9BF810-98FE-44D5-C668-FB79B6D47FC0}"/>
              </a:ext>
            </a:extLst>
          </p:cNvPr>
          <p:cNvGraphicFramePr>
            <a:graphicFrameLocks noGrp="1"/>
          </p:cNvGraphicFramePr>
          <p:nvPr>
            <p:ph idx="1"/>
            <p:extLst>
              <p:ext uri="{D42A27DB-BD31-4B8C-83A1-F6EECF244321}">
                <p14:modId xmlns:p14="http://schemas.microsoft.com/office/powerpoint/2010/main" val="3058196756"/>
              </p:ext>
            </p:extLst>
          </p:nvPr>
        </p:nvGraphicFramePr>
        <p:xfrm>
          <a:off x="304800" y="-395061"/>
          <a:ext cx="12477750" cy="8503920"/>
        </p:xfrm>
        <a:graphic>
          <a:graphicData uri="http://schemas.openxmlformats.org/drawingml/2006/table">
            <a:tbl>
              <a:tblPr firstRow="1" bandRow="1">
                <a:tableStyleId>{BC89EF96-8CEA-46FF-86C4-4CE0E7609802}</a:tableStyleId>
              </a:tblPr>
              <a:tblGrid>
                <a:gridCol w="2715195">
                  <a:extLst>
                    <a:ext uri="{9D8B030D-6E8A-4147-A177-3AD203B41FA5}">
                      <a16:colId xmlns:a16="http://schemas.microsoft.com/office/drawing/2014/main" val="3641880727"/>
                    </a:ext>
                  </a:extLst>
                </a:gridCol>
                <a:gridCol w="1226211">
                  <a:extLst>
                    <a:ext uri="{9D8B030D-6E8A-4147-A177-3AD203B41FA5}">
                      <a16:colId xmlns:a16="http://schemas.microsoft.com/office/drawing/2014/main" val="1581215496"/>
                    </a:ext>
                  </a:extLst>
                </a:gridCol>
                <a:gridCol w="1313801">
                  <a:extLst>
                    <a:ext uri="{9D8B030D-6E8A-4147-A177-3AD203B41FA5}">
                      <a16:colId xmlns:a16="http://schemas.microsoft.com/office/drawing/2014/main" val="567915292"/>
                    </a:ext>
                  </a:extLst>
                </a:gridCol>
                <a:gridCol w="1589617">
                  <a:extLst>
                    <a:ext uri="{9D8B030D-6E8A-4147-A177-3AD203B41FA5}">
                      <a16:colId xmlns:a16="http://schemas.microsoft.com/office/drawing/2014/main" val="1027034125"/>
                    </a:ext>
                  </a:extLst>
                </a:gridCol>
                <a:gridCol w="949138">
                  <a:extLst>
                    <a:ext uri="{9D8B030D-6E8A-4147-A177-3AD203B41FA5}">
                      <a16:colId xmlns:a16="http://schemas.microsoft.com/office/drawing/2014/main" val="1526488021"/>
                    </a:ext>
                  </a:extLst>
                </a:gridCol>
                <a:gridCol w="1361806">
                  <a:extLst>
                    <a:ext uri="{9D8B030D-6E8A-4147-A177-3AD203B41FA5}">
                      <a16:colId xmlns:a16="http://schemas.microsoft.com/office/drawing/2014/main" val="2520621890"/>
                    </a:ext>
                  </a:extLst>
                </a:gridCol>
                <a:gridCol w="3321982">
                  <a:extLst>
                    <a:ext uri="{9D8B030D-6E8A-4147-A177-3AD203B41FA5}">
                      <a16:colId xmlns:a16="http://schemas.microsoft.com/office/drawing/2014/main" val="2467493773"/>
                    </a:ext>
                  </a:extLst>
                </a:gridCol>
              </a:tblGrid>
              <a:tr h="636774">
                <a:tc>
                  <a:txBody>
                    <a:bodyPr/>
                    <a:lstStyle/>
                    <a:p>
                      <a:r>
                        <a:rPr lang="en-IN" sz="1800" dirty="0"/>
                        <a:t>Feature Name</a:t>
                      </a:r>
                    </a:p>
                  </a:txBody>
                  <a:tcPr anchor="ctr"/>
                </a:tc>
                <a:tc>
                  <a:txBody>
                    <a:bodyPr/>
                    <a:lstStyle/>
                    <a:p>
                      <a:r>
                        <a:rPr lang="en-IN" sz="1800" dirty="0"/>
                        <a:t>BM </a:t>
                      </a:r>
                      <a:r>
                        <a:rPr lang="en-IN" sz="1800" dirty="0" err="1"/>
                        <a:t>Engg</a:t>
                      </a:r>
                      <a:r>
                        <a:rPr lang="en-IN" sz="1800" dirty="0"/>
                        <a:t>.</a:t>
                      </a:r>
                    </a:p>
                  </a:txBody>
                  <a:tcPr anchor="ctr"/>
                </a:tc>
                <a:tc>
                  <a:txBody>
                    <a:bodyPr/>
                    <a:lstStyle/>
                    <a:p>
                      <a:r>
                        <a:rPr lang="en-IN" sz="1800" dirty="0"/>
                        <a:t>Nurse</a:t>
                      </a:r>
                    </a:p>
                  </a:txBody>
                  <a:tcPr anchor="ctr"/>
                </a:tc>
                <a:tc>
                  <a:txBody>
                    <a:bodyPr/>
                    <a:lstStyle/>
                    <a:p>
                      <a:r>
                        <a:rPr lang="en-IN" sz="1800" dirty="0"/>
                        <a:t>Rx Pharmacist</a:t>
                      </a:r>
                    </a:p>
                  </a:txBody>
                  <a:tcPr anchor="ctr"/>
                </a:tc>
                <a:tc>
                  <a:txBody>
                    <a:bodyPr/>
                    <a:lstStyle/>
                    <a:p>
                      <a:r>
                        <a:rPr lang="en-IN" sz="1800" dirty="0"/>
                        <a:t>Admin</a:t>
                      </a:r>
                    </a:p>
                  </a:txBody>
                  <a:tcPr anchor="ctr"/>
                </a:tc>
                <a:tc>
                  <a:txBody>
                    <a:bodyPr/>
                    <a:lstStyle/>
                    <a:p>
                      <a:r>
                        <a:rPr lang="en-IN" sz="1800" dirty="0" err="1"/>
                        <a:t>MoSCoW</a:t>
                      </a:r>
                      <a:r>
                        <a:rPr lang="en-IN" sz="1800" dirty="0"/>
                        <a:t> Category</a:t>
                      </a:r>
                    </a:p>
                  </a:txBody>
                  <a:tcPr anchor="ctr"/>
                </a:tc>
                <a:tc>
                  <a:txBody>
                    <a:bodyPr/>
                    <a:lstStyle/>
                    <a:p>
                      <a:r>
                        <a:rPr lang="en-IN" sz="1800"/>
                        <a:t>Justification</a:t>
                      </a:r>
                    </a:p>
                  </a:txBody>
                  <a:tcPr anchor="ctr"/>
                </a:tc>
                <a:extLst>
                  <a:ext uri="{0D108BD9-81ED-4DB2-BD59-A6C34878D82A}">
                    <a16:rowId xmlns:a16="http://schemas.microsoft.com/office/drawing/2014/main" val="39576472"/>
                  </a:ext>
                </a:extLst>
              </a:tr>
              <a:tr h="636774">
                <a:tc>
                  <a:txBody>
                    <a:bodyPr/>
                    <a:lstStyle/>
                    <a:p>
                      <a:r>
                        <a:rPr lang="en-IN" sz="1800" b="1"/>
                        <a:t>Device Inventory Management</a:t>
                      </a:r>
                      <a:endParaRPr lang="en-IN" sz="1800"/>
                    </a:p>
                  </a:txBody>
                  <a:tcPr anchor="ctr"/>
                </a:tc>
                <a:tc>
                  <a:txBody>
                    <a:bodyPr/>
                    <a:lstStyle/>
                    <a:p>
                      <a:r>
                        <a:rPr lang="en-IN" sz="1800" dirty="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Must Have</a:t>
                      </a:r>
                    </a:p>
                  </a:txBody>
                  <a:tcPr anchor="ctr"/>
                </a:tc>
                <a:tc>
                  <a:txBody>
                    <a:bodyPr/>
                    <a:lstStyle/>
                    <a:p>
                      <a:r>
                        <a:rPr lang="en-IN" sz="1800"/>
                        <a:t>Central to tracking and managing all medical devices.</a:t>
                      </a:r>
                    </a:p>
                  </a:txBody>
                  <a:tcPr anchor="ctr"/>
                </a:tc>
                <a:extLst>
                  <a:ext uri="{0D108BD9-81ED-4DB2-BD59-A6C34878D82A}">
                    <a16:rowId xmlns:a16="http://schemas.microsoft.com/office/drawing/2014/main" val="3317095311"/>
                  </a:ext>
                </a:extLst>
              </a:tr>
              <a:tr h="636774">
                <a:tc>
                  <a:txBody>
                    <a:bodyPr/>
                    <a:lstStyle/>
                    <a:p>
                      <a:r>
                        <a:rPr lang="en-IN" sz="1800" b="1"/>
                        <a:t>Risk Scoring (ISO 14971)</a:t>
                      </a:r>
                      <a:endParaRPr lang="en-IN" sz="1800"/>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dirty="0"/>
                        <a:t>✅</a:t>
                      </a:r>
                    </a:p>
                  </a:txBody>
                  <a:tcPr anchor="ctr"/>
                </a:tc>
                <a:tc>
                  <a:txBody>
                    <a:bodyPr/>
                    <a:lstStyle/>
                    <a:p>
                      <a:r>
                        <a:rPr lang="en-IN" sz="1800"/>
                        <a:t>Must Have</a:t>
                      </a:r>
                    </a:p>
                  </a:txBody>
                  <a:tcPr anchor="ctr"/>
                </a:tc>
                <a:tc>
                  <a:txBody>
                    <a:bodyPr/>
                    <a:lstStyle/>
                    <a:p>
                      <a:r>
                        <a:rPr lang="en-IN" sz="1800" dirty="0"/>
                        <a:t>Essential for compliance and prioritizing maintenance.</a:t>
                      </a:r>
                    </a:p>
                  </a:txBody>
                  <a:tcPr anchor="ctr"/>
                </a:tc>
                <a:extLst>
                  <a:ext uri="{0D108BD9-81ED-4DB2-BD59-A6C34878D82A}">
                    <a16:rowId xmlns:a16="http://schemas.microsoft.com/office/drawing/2014/main" val="3223892209"/>
                  </a:ext>
                </a:extLst>
              </a:tr>
              <a:tr h="636774">
                <a:tc>
                  <a:txBody>
                    <a:bodyPr/>
                    <a:lstStyle/>
                    <a:p>
                      <a:r>
                        <a:rPr lang="en-IN" sz="1800" b="1"/>
                        <a:t>Incident Reporting (Mobile/Web)</a:t>
                      </a:r>
                      <a:endParaRPr lang="en-IN" sz="1800"/>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Must Have</a:t>
                      </a:r>
                    </a:p>
                  </a:txBody>
                  <a:tcPr anchor="ctr"/>
                </a:tc>
                <a:tc>
                  <a:txBody>
                    <a:bodyPr/>
                    <a:lstStyle/>
                    <a:p>
                      <a:r>
                        <a:rPr lang="en-IN" sz="1800"/>
                        <a:t>Enables timely reporting and resolution of device issues.</a:t>
                      </a:r>
                    </a:p>
                  </a:txBody>
                  <a:tcPr anchor="ctr"/>
                </a:tc>
                <a:extLst>
                  <a:ext uri="{0D108BD9-81ED-4DB2-BD59-A6C34878D82A}">
                    <a16:rowId xmlns:a16="http://schemas.microsoft.com/office/drawing/2014/main" val="936053935"/>
                  </a:ext>
                </a:extLst>
              </a:tr>
              <a:tr h="636774">
                <a:tc>
                  <a:txBody>
                    <a:bodyPr/>
                    <a:lstStyle/>
                    <a:p>
                      <a:r>
                        <a:rPr lang="en-IN" sz="1800" b="1"/>
                        <a:t>Maintenance Scheduling</a:t>
                      </a:r>
                      <a:endParaRPr lang="en-IN" sz="1800"/>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Should Have</a:t>
                      </a:r>
                    </a:p>
                  </a:txBody>
                  <a:tcPr anchor="ctr"/>
                </a:tc>
                <a:tc>
                  <a:txBody>
                    <a:bodyPr/>
                    <a:lstStyle/>
                    <a:p>
                      <a:r>
                        <a:rPr lang="en-IN" sz="1800"/>
                        <a:t>Important for planning and reducing device downtime.</a:t>
                      </a:r>
                    </a:p>
                  </a:txBody>
                  <a:tcPr anchor="ctr"/>
                </a:tc>
                <a:extLst>
                  <a:ext uri="{0D108BD9-81ED-4DB2-BD59-A6C34878D82A}">
                    <a16:rowId xmlns:a16="http://schemas.microsoft.com/office/drawing/2014/main" val="1715381590"/>
                  </a:ext>
                </a:extLst>
              </a:tr>
              <a:tr h="909677">
                <a:tc>
                  <a:txBody>
                    <a:bodyPr/>
                    <a:lstStyle/>
                    <a:p>
                      <a:r>
                        <a:rPr lang="en-IN" sz="1800" b="1"/>
                        <a:t>Dashboard – Real-Time KPIs</a:t>
                      </a:r>
                      <a:endParaRPr lang="en-IN" sz="1800"/>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Must Have</a:t>
                      </a:r>
                    </a:p>
                  </a:txBody>
                  <a:tcPr anchor="ctr"/>
                </a:tc>
                <a:tc>
                  <a:txBody>
                    <a:bodyPr/>
                    <a:lstStyle/>
                    <a:p>
                      <a:r>
                        <a:rPr lang="en-IN" sz="1800" dirty="0"/>
                        <a:t>Provides stakeholders with immediate insights into system status.</a:t>
                      </a:r>
                    </a:p>
                  </a:txBody>
                  <a:tcPr anchor="ctr"/>
                </a:tc>
                <a:extLst>
                  <a:ext uri="{0D108BD9-81ED-4DB2-BD59-A6C34878D82A}">
                    <a16:rowId xmlns:a16="http://schemas.microsoft.com/office/drawing/2014/main" val="2351538078"/>
                  </a:ext>
                </a:extLst>
              </a:tr>
              <a:tr h="636774">
                <a:tc>
                  <a:txBody>
                    <a:bodyPr/>
                    <a:lstStyle/>
                    <a:p>
                      <a:r>
                        <a:rPr lang="en-IN" sz="1800" b="1"/>
                        <a:t>Compliance Report Generator</a:t>
                      </a:r>
                      <a:endParaRPr lang="en-IN" sz="1800"/>
                    </a:p>
                  </a:txBody>
                  <a:tcPr anchor="ctr"/>
                </a:tc>
                <a:tc>
                  <a:txBody>
                    <a:bodyPr/>
                    <a:lstStyle/>
                    <a:p>
                      <a:r>
                        <a:rPr lang="en-IN" sz="1800" dirty="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Must Have</a:t>
                      </a:r>
                    </a:p>
                  </a:txBody>
                  <a:tcPr anchor="ctr"/>
                </a:tc>
                <a:tc>
                  <a:txBody>
                    <a:bodyPr/>
                    <a:lstStyle/>
                    <a:p>
                      <a:r>
                        <a:rPr lang="en-IN" sz="1800"/>
                        <a:t>Necessary for audits and regulatory compliance.</a:t>
                      </a:r>
                    </a:p>
                  </a:txBody>
                  <a:tcPr anchor="ctr"/>
                </a:tc>
                <a:extLst>
                  <a:ext uri="{0D108BD9-81ED-4DB2-BD59-A6C34878D82A}">
                    <a16:rowId xmlns:a16="http://schemas.microsoft.com/office/drawing/2014/main" val="2744389192"/>
                  </a:ext>
                </a:extLst>
              </a:tr>
              <a:tr h="636774">
                <a:tc>
                  <a:txBody>
                    <a:bodyPr/>
                    <a:lstStyle/>
                    <a:p>
                      <a:r>
                        <a:rPr lang="en-IN" sz="1800" b="1"/>
                        <a:t>Cold Storage Alerts</a:t>
                      </a:r>
                      <a:endParaRPr lang="en-IN" sz="1800"/>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Should Have</a:t>
                      </a:r>
                    </a:p>
                  </a:txBody>
                  <a:tcPr anchor="ctr"/>
                </a:tc>
                <a:tc>
                  <a:txBody>
                    <a:bodyPr/>
                    <a:lstStyle/>
                    <a:p>
                      <a:r>
                        <a:rPr lang="en-IN" sz="1800"/>
                        <a:t>Critical for pharmacists to ensure medication safety.</a:t>
                      </a:r>
                    </a:p>
                  </a:txBody>
                  <a:tcPr anchor="ctr"/>
                </a:tc>
                <a:extLst>
                  <a:ext uri="{0D108BD9-81ED-4DB2-BD59-A6C34878D82A}">
                    <a16:rowId xmlns:a16="http://schemas.microsoft.com/office/drawing/2014/main" val="2864908350"/>
                  </a:ext>
                </a:extLst>
              </a:tr>
              <a:tr h="909677">
                <a:tc>
                  <a:txBody>
                    <a:bodyPr/>
                    <a:lstStyle/>
                    <a:p>
                      <a:r>
                        <a:rPr lang="en-IN" sz="1800" b="1"/>
                        <a:t>Multi-Role Access Control</a:t>
                      </a:r>
                      <a:endParaRPr lang="en-IN" sz="1800"/>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Should Have</a:t>
                      </a:r>
                    </a:p>
                  </a:txBody>
                  <a:tcPr anchor="ctr"/>
                </a:tc>
                <a:tc>
                  <a:txBody>
                    <a:bodyPr/>
                    <a:lstStyle/>
                    <a:p>
                      <a:r>
                        <a:rPr lang="en-IN" sz="1800"/>
                        <a:t>Ensures appropriate access levels across different user roles.</a:t>
                      </a:r>
                    </a:p>
                  </a:txBody>
                  <a:tcPr anchor="ctr"/>
                </a:tc>
                <a:extLst>
                  <a:ext uri="{0D108BD9-81ED-4DB2-BD59-A6C34878D82A}">
                    <a16:rowId xmlns:a16="http://schemas.microsoft.com/office/drawing/2014/main" val="4103281031"/>
                  </a:ext>
                </a:extLst>
              </a:tr>
              <a:tr h="636774">
                <a:tc>
                  <a:txBody>
                    <a:bodyPr/>
                    <a:lstStyle/>
                    <a:p>
                      <a:r>
                        <a:rPr lang="en-IN" sz="1800" b="1"/>
                        <a:t>Device Utilization Analytics</a:t>
                      </a:r>
                      <a:endParaRPr lang="en-IN" sz="1800"/>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Could Have</a:t>
                      </a:r>
                    </a:p>
                  </a:txBody>
                  <a:tcPr anchor="ctr"/>
                </a:tc>
                <a:tc>
                  <a:txBody>
                    <a:bodyPr/>
                    <a:lstStyle/>
                    <a:p>
                      <a:r>
                        <a:rPr lang="en-IN" sz="1800"/>
                        <a:t>Helps in optimizing device usage and budgeting.</a:t>
                      </a:r>
                    </a:p>
                  </a:txBody>
                  <a:tcPr anchor="ctr"/>
                </a:tc>
                <a:extLst>
                  <a:ext uri="{0D108BD9-81ED-4DB2-BD59-A6C34878D82A}">
                    <a16:rowId xmlns:a16="http://schemas.microsoft.com/office/drawing/2014/main" val="327397657"/>
                  </a:ext>
                </a:extLst>
              </a:tr>
              <a:tr h="636774">
                <a:tc>
                  <a:txBody>
                    <a:bodyPr/>
                    <a:lstStyle/>
                    <a:p>
                      <a:r>
                        <a:rPr lang="en-IN" sz="1800" b="1"/>
                        <a:t>Mobile App for Nurses</a:t>
                      </a:r>
                      <a:endParaRPr lang="en-IN" sz="1800"/>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Could Have</a:t>
                      </a:r>
                    </a:p>
                  </a:txBody>
                  <a:tcPr anchor="ctr"/>
                </a:tc>
                <a:tc>
                  <a:txBody>
                    <a:bodyPr/>
                    <a:lstStyle/>
                    <a:p>
                      <a:r>
                        <a:rPr lang="en-IN" sz="1800"/>
                        <a:t>Enhances mobility and ease of use for nursing staff.</a:t>
                      </a:r>
                    </a:p>
                  </a:txBody>
                  <a:tcPr anchor="ctr"/>
                </a:tc>
                <a:extLst>
                  <a:ext uri="{0D108BD9-81ED-4DB2-BD59-A6C34878D82A}">
                    <a16:rowId xmlns:a16="http://schemas.microsoft.com/office/drawing/2014/main" val="2868102667"/>
                  </a:ext>
                </a:extLst>
              </a:tr>
              <a:tr h="909677">
                <a:tc>
                  <a:txBody>
                    <a:bodyPr/>
                    <a:lstStyle/>
                    <a:p>
                      <a:r>
                        <a:rPr lang="en-IN" sz="1800" b="1"/>
                        <a:t>AI-Powered Predictive Maintenance</a:t>
                      </a:r>
                      <a:endParaRPr lang="en-IN" sz="1800"/>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a:t>
                      </a:r>
                    </a:p>
                  </a:txBody>
                  <a:tcPr anchor="ctr"/>
                </a:tc>
                <a:tc>
                  <a:txBody>
                    <a:bodyPr/>
                    <a:lstStyle/>
                    <a:p>
                      <a:r>
                        <a:rPr lang="en-IN" sz="1800"/>
                        <a:t>Won’t Have</a:t>
                      </a:r>
                    </a:p>
                  </a:txBody>
                  <a:tcPr anchor="ctr"/>
                </a:tc>
                <a:tc>
                  <a:txBody>
                    <a:bodyPr/>
                    <a:lstStyle/>
                    <a:p>
                      <a:r>
                        <a:rPr lang="en-IN" sz="1800" dirty="0"/>
                        <a:t>Advanced feature for future consideration to predict device failures.</a:t>
                      </a:r>
                    </a:p>
                  </a:txBody>
                  <a:tcPr anchor="ctr"/>
                </a:tc>
                <a:extLst>
                  <a:ext uri="{0D108BD9-81ED-4DB2-BD59-A6C34878D82A}">
                    <a16:rowId xmlns:a16="http://schemas.microsoft.com/office/drawing/2014/main" val="862105811"/>
                  </a:ext>
                </a:extLst>
              </a:tr>
            </a:tbl>
          </a:graphicData>
        </a:graphic>
      </p:graphicFrame>
    </p:spTree>
    <p:extLst>
      <p:ext uri="{BB962C8B-B14F-4D97-AF65-F5344CB8AC3E}">
        <p14:creationId xmlns:p14="http://schemas.microsoft.com/office/powerpoint/2010/main" val="30394944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304</TotalTime>
  <Words>1608</Words>
  <Application>Microsoft Office PowerPoint</Application>
  <PresentationFormat>Widescreen</PresentationFormat>
  <Paragraphs>398</Paragraphs>
  <Slides>18</Slides>
  <Notes>0</Notes>
  <HiddenSlides>5</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Display</vt:lpstr>
      <vt:lpstr>Arial</vt:lpstr>
      <vt:lpstr>Calibri</vt:lpstr>
      <vt:lpstr>Segoe UI Emoji</vt:lpstr>
      <vt:lpstr>Symbol</vt:lpstr>
      <vt:lpstr>Office Theme</vt:lpstr>
      <vt:lpstr>Digital Medical Device Lifecycle &amp; Risk Management Platform</vt:lpstr>
      <vt:lpstr>PowerPoint Presentation</vt:lpstr>
      <vt:lpstr>Project Plan &amp; Methodology</vt:lpstr>
      <vt:lpstr>🧾 Stakeholder Needs &amp; Challenges </vt:lpstr>
      <vt:lpstr>Stakeholder Mapping</vt:lpstr>
      <vt:lpstr>Competitor Analysis</vt:lpstr>
      <vt:lpstr>PowerPoint Presentation</vt:lpstr>
      <vt:lpstr>User Personas</vt:lpstr>
      <vt:lpstr>PowerPoint Presentation</vt:lpstr>
      <vt:lpstr>🧩 2. Persona-Feature Mapping Table (MVP Prioritization Tool)</vt:lpstr>
      <vt:lpstr>🧭 MoSCoW Prioritization Framework</vt:lpstr>
      <vt:lpstr>Wireframes </vt:lpstr>
      <vt:lpstr>Wireframes </vt:lpstr>
      <vt:lpstr>PowerPoint Presentation</vt:lpstr>
      <vt:lpstr>Insights </vt:lpstr>
      <vt:lpstr>Outcome &amp; Benefits</vt:lpstr>
      <vt:lpstr>Rohan Singh </vt:lpstr>
      <vt:lpstr>🧭 MoSCoW Prioritization Framework 📋 Feature Prioritization Table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Rohan Singh</dc:creator>
  <cp:lastModifiedBy>Rohan Singh</cp:lastModifiedBy>
  <cp:revision>2</cp:revision>
  <dcterms:created xsi:type="dcterms:W3CDTF">2025-04-13T19:19:05Z</dcterms:created>
  <dcterms:modified xsi:type="dcterms:W3CDTF">2025-04-18T19:41:09Z</dcterms:modified>
</cp:coreProperties>
</file>